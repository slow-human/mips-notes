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33" y="115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A15A8A-07B3-4223-9EED-6FAA8E48E280}" type="datetimeFigureOut">
              <a:rPr lang="zh-CN" altLang="en-US" smtClean="0"/>
              <a:t>2025/3/13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568934-DF68-4F11-80C0-94A3034447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835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568934-DF68-4F11-80C0-94A30344479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0250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2025/3/13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2025/3/13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2025/3/13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2025/3/13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2025/3/13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2025/3/13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2025/3/13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R</a:t>
            </a:r>
            <a:r>
              <a:rPr lang="zh-CN" altLang="en-US" b="1" dirty="0"/>
              <a:t>格式指令举例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4325" y="1647825"/>
            <a:ext cx="8515350" cy="399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28600" y="2754868"/>
            <a:ext cx="762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PC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371600" y="2602468"/>
            <a:ext cx="7620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指令缓存</a:t>
            </a:r>
          </a:p>
        </p:txBody>
      </p:sp>
      <p:sp>
        <p:nvSpPr>
          <p:cNvPr id="24" name="任意多边形 23"/>
          <p:cNvSpPr/>
          <p:nvPr/>
        </p:nvSpPr>
        <p:spPr>
          <a:xfrm>
            <a:off x="1371600" y="773668"/>
            <a:ext cx="509587" cy="1614487"/>
          </a:xfrm>
          <a:custGeom>
            <a:avLst/>
            <a:gdLst>
              <a:gd name="connsiteX0" fmla="*/ 0 w 509587"/>
              <a:gd name="connsiteY0" fmla="*/ 0 h 1614487"/>
              <a:gd name="connsiteX1" fmla="*/ 504825 w 509587"/>
              <a:gd name="connsiteY1" fmla="*/ 347662 h 1614487"/>
              <a:gd name="connsiteX2" fmla="*/ 509587 w 509587"/>
              <a:gd name="connsiteY2" fmla="*/ 1304925 h 1614487"/>
              <a:gd name="connsiteX3" fmla="*/ 0 w 509587"/>
              <a:gd name="connsiteY3" fmla="*/ 1614487 h 1614487"/>
              <a:gd name="connsiteX4" fmla="*/ 0 w 509587"/>
              <a:gd name="connsiteY4" fmla="*/ 1138237 h 1614487"/>
              <a:gd name="connsiteX5" fmla="*/ 100012 w 509587"/>
              <a:gd name="connsiteY5" fmla="*/ 1071562 h 1614487"/>
              <a:gd name="connsiteX6" fmla="*/ 100012 w 509587"/>
              <a:gd name="connsiteY6" fmla="*/ 642937 h 1614487"/>
              <a:gd name="connsiteX7" fmla="*/ 0 w 509587"/>
              <a:gd name="connsiteY7" fmla="*/ 557212 h 1614487"/>
              <a:gd name="connsiteX8" fmla="*/ 0 w 509587"/>
              <a:gd name="connsiteY8" fmla="*/ 0 h 1614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9587" h="1614487">
                <a:moveTo>
                  <a:pt x="0" y="0"/>
                </a:moveTo>
                <a:lnTo>
                  <a:pt x="504825" y="347662"/>
                </a:lnTo>
                <a:cubicBezTo>
                  <a:pt x="506412" y="666750"/>
                  <a:pt x="508000" y="985837"/>
                  <a:pt x="509587" y="1304925"/>
                </a:cubicBezTo>
                <a:lnTo>
                  <a:pt x="0" y="1614487"/>
                </a:lnTo>
                <a:lnTo>
                  <a:pt x="0" y="1138237"/>
                </a:lnTo>
                <a:lnTo>
                  <a:pt x="100012" y="1071562"/>
                </a:lnTo>
                <a:lnTo>
                  <a:pt x="100012" y="642937"/>
                </a:lnTo>
                <a:lnTo>
                  <a:pt x="0" y="55721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加法器</a:t>
            </a:r>
          </a:p>
        </p:txBody>
      </p:sp>
      <p:sp>
        <p:nvSpPr>
          <p:cNvPr id="48" name="直角上箭头 47"/>
          <p:cNvSpPr/>
          <p:nvPr/>
        </p:nvSpPr>
        <p:spPr>
          <a:xfrm rot="16200000" flipV="1">
            <a:off x="800100" y="2411968"/>
            <a:ext cx="914400" cy="228600"/>
          </a:xfrm>
          <a:prstGeom prst="bentUpArrow">
            <a:avLst>
              <a:gd name="adj1" fmla="val 0"/>
              <a:gd name="adj2" fmla="val 25000"/>
              <a:gd name="adj3" fmla="val 25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1" name="直接箭头连接符 50"/>
          <p:cNvCxnSpPr>
            <a:stCxn id="5" idx="3"/>
          </p:cNvCxnSpPr>
          <p:nvPr/>
        </p:nvCxnSpPr>
        <p:spPr>
          <a:xfrm>
            <a:off x="990600" y="2983468"/>
            <a:ext cx="381000" cy="1588"/>
          </a:xfrm>
          <a:prstGeom prst="straightConnector1">
            <a:avLst/>
          </a:prstGeom>
          <a:ln w="254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>
            <a:off x="1066800" y="1078468"/>
            <a:ext cx="304800" cy="1588"/>
          </a:xfrm>
          <a:prstGeom prst="straightConnector1">
            <a:avLst/>
          </a:prstGeom>
          <a:ln w="254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62000" y="849868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7" name="矩形 56"/>
          <p:cNvSpPr/>
          <p:nvPr/>
        </p:nvSpPr>
        <p:spPr>
          <a:xfrm>
            <a:off x="152400" y="5574267"/>
            <a:ext cx="3581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指令寄存器</a:t>
            </a:r>
          </a:p>
        </p:txBody>
      </p:sp>
      <p:cxnSp>
        <p:nvCxnSpPr>
          <p:cNvPr id="65" name="直接箭头连接符 64"/>
          <p:cNvCxnSpPr/>
          <p:nvPr/>
        </p:nvCxnSpPr>
        <p:spPr>
          <a:xfrm rot="5400000">
            <a:off x="1181497" y="5002371"/>
            <a:ext cx="1143000" cy="7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/>
          <p:cNvSpPr/>
          <p:nvPr/>
        </p:nvSpPr>
        <p:spPr>
          <a:xfrm>
            <a:off x="2743200" y="1840468"/>
            <a:ext cx="1524000" cy="3200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寄存器堆</a:t>
            </a:r>
          </a:p>
        </p:txBody>
      </p:sp>
      <p:cxnSp>
        <p:nvCxnSpPr>
          <p:cNvPr id="71" name="直接连接符 70"/>
          <p:cNvCxnSpPr/>
          <p:nvPr/>
        </p:nvCxnSpPr>
        <p:spPr>
          <a:xfrm rot="5400000" flipH="1" flipV="1">
            <a:off x="800100" y="4088368"/>
            <a:ext cx="2971800" cy="1588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>
            <a:off x="2286000" y="2602468"/>
            <a:ext cx="457200" cy="158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>
            <a:off x="2286000" y="3276600"/>
            <a:ext cx="457200" cy="158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等腰三角形 77"/>
          <p:cNvSpPr/>
          <p:nvPr/>
        </p:nvSpPr>
        <p:spPr>
          <a:xfrm rot="5400000">
            <a:off x="4802124" y="21437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等腰三角形 78"/>
          <p:cNvSpPr/>
          <p:nvPr/>
        </p:nvSpPr>
        <p:spPr>
          <a:xfrm rot="5400000">
            <a:off x="4802124" y="42011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1" name="肘形连接符 80"/>
          <p:cNvCxnSpPr/>
          <p:nvPr/>
        </p:nvCxnSpPr>
        <p:spPr>
          <a:xfrm>
            <a:off x="1905000" y="1535668"/>
            <a:ext cx="3200400" cy="609600"/>
          </a:xfrm>
          <a:prstGeom prst="bentConnector3">
            <a:avLst>
              <a:gd name="adj1" fmla="val 83894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/>
          <p:cNvCxnSpPr/>
          <p:nvPr/>
        </p:nvCxnSpPr>
        <p:spPr>
          <a:xfrm>
            <a:off x="4267200" y="2526268"/>
            <a:ext cx="8382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/>
          <p:cNvCxnSpPr/>
          <p:nvPr/>
        </p:nvCxnSpPr>
        <p:spPr>
          <a:xfrm>
            <a:off x="4267200" y="4278868"/>
            <a:ext cx="8382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肘形连接符 93"/>
          <p:cNvCxnSpPr/>
          <p:nvPr/>
        </p:nvCxnSpPr>
        <p:spPr>
          <a:xfrm flipV="1">
            <a:off x="3733800" y="4659868"/>
            <a:ext cx="1371600" cy="1104900"/>
          </a:xfrm>
          <a:prstGeom prst="bentConnector3">
            <a:avLst>
              <a:gd name="adj1" fmla="val 68954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任意多边形 99"/>
          <p:cNvSpPr/>
          <p:nvPr/>
        </p:nvSpPr>
        <p:spPr>
          <a:xfrm>
            <a:off x="5867400" y="1992868"/>
            <a:ext cx="609600" cy="2895600"/>
          </a:xfrm>
          <a:custGeom>
            <a:avLst/>
            <a:gdLst>
              <a:gd name="connsiteX0" fmla="*/ 0 w 509587"/>
              <a:gd name="connsiteY0" fmla="*/ 0 h 1614487"/>
              <a:gd name="connsiteX1" fmla="*/ 504825 w 509587"/>
              <a:gd name="connsiteY1" fmla="*/ 347662 h 1614487"/>
              <a:gd name="connsiteX2" fmla="*/ 509587 w 509587"/>
              <a:gd name="connsiteY2" fmla="*/ 1304925 h 1614487"/>
              <a:gd name="connsiteX3" fmla="*/ 0 w 509587"/>
              <a:gd name="connsiteY3" fmla="*/ 1614487 h 1614487"/>
              <a:gd name="connsiteX4" fmla="*/ 0 w 509587"/>
              <a:gd name="connsiteY4" fmla="*/ 1138237 h 1614487"/>
              <a:gd name="connsiteX5" fmla="*/ 100012 w 509587"/>
              <a:gd name="connsiteY5" fmla="*/ 1071562 h 1614487"/>
              <a:gd name="connsiteX6" fmla="*/ 100012 w 509587"/>
              <a:gd name="connsiteY6" fmla="*/ 642937 h 1614487"/>
              <a:gd name="connsiteX7" fmla="*/ 0 w 509587"/>
              <a:gd name="connsiteY7" fmla="*/ 557212 h 1614487"/>
              <a:gd name="connsiteX8" fmla="*/ 0 w 509587"/>
              <a:gd name="connsiteY8" fmla="*/ 0 h 1614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9587" h="1614487">
                <a:moveTo>
                  <a:pt x="0" y="0"/>
                </a:moveTo>
                <a:lnTo>
                  <a:pt x="504825" y="347662"/>
                </a:lnTo>
                <a:cubicBezTo>
                  <a:pt x="506412" y="666750"/>
                  <a:pt x="508000" y="985837"/>
                  <a:pt x="509587" y="1304925"/>
                </a:cubicBezTo>
                <a:lnTo>
                  <a:pt x="0" y="1614487"/>
                </a:lnTo>
                <a:lnTo>
                  <a:pt x="0" y="1138237"/>
                </a:lnTo>
                <a:lnTo>
                  <a:pt x="100012" y="1071562"/>
                </a:lnTo>
                <a:lnTo>
                  <a:pt x="100012" y="642937"/>
                </a:lnTo>
                <a:lnTo>
                  <a:pt x="0" y="55721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运算器</a:t>
            </a:r>
          </a:p>
        </p:txBody>
      </p:sp>
      <p:cxnSp>
        <p:nvCxnSpPr>
          <p:cNvPr id="102" name="直接箭头连接符 101"/>
          <p:cNvCxnSpPr>
            <a:stCxn id="78" idx="0"/>
          </p:cNvCxnSpPr>
          <p:nvPr/>
        </p:nvCxnSpPr>
        <p:spPr>
          <a:xfrm>
            <a:off x="5559552" y="2370820"/>
            <a:ext cx="307848" cy="304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/>
          <p:cNvCxnSpPr/>
          <p:nvPr/>
        </p:nvCxnSpPr>
        <p:spPr>
          <a:xfrm>
            <a:off x="5562600" y="4431268"/>
            <a:ext cx="307848" cy="304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矩形 104"/>
          <p:cNvSpPr/>
          <p:nvPr/>
        </p:nvSpPr>
        <p:spPr>
          <a:xfrm>
            <a:off x="7010400" y="2602468"/>
            <a:ext cx="7620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数据缓存</a:t>
            </a:r>
          </a:p>
        </p:txBody>
      </p:sp>
      <p:cxnSp>
        <p:nvCxnSpPr>
          <p:cNvPr id="107" name="直接箭头连接符 106"/>
          <p:cNvCxnSpPr>
            <a:endCxn id="105" idx="1"/>
          </p:cNvCxnSpPr>
          <p:nvPr/>
        </p:nvCxnSpPr>
        <p:spPr>
          <a:xfrm>
            <a:off x="6477000" y="3516868"/>
            <a:ext cx="5334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等腰三角形 109"/>
          <p:cNvSpPr/>
          <p:nvPr/>
        </p:nvSpPr>
        <p:spPr>
          <a:xfrm rot="5400000">
            <a:off x="6783324" y="14579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2" name="直接箭头连接符 111"/>
          <p:cNvCxnSpPr/>
          <p:nvPr/>
        </p:nvCxnSpPr>
        <p:spPr>
          <a:xfrm>
            <a:off x="4572000" y="1535668"/>
            <a:ext cx="25146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/>
          <p:cNvCxnSpPr/>
          <p:nvPr/>
        </p:nvCxnSpPr>
        <p:spPr>
          <a:xfrm rot="5400000" flipH="1" flipV="1">
            <a:off x="5906294" y="2716768"/>
            <a:ext cx="1599406" cy="79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117"/>
          <p:cNvCxnSpPr/>
          <p:nvPr/>
        </p:nvCxnSpPr>
        <p:spPr>
          <a:xfrm>
            <a:off x="6705600" y="1916668"/>
            <a:ext cx="3810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连接符 135"/>
          <p:cNvCxnSpPr>
            <a:stCxn id="110" idx="0"/>
          </p:cNvCxnSpPr>
          <p:nvPr/>
        </p:nvCxnSpPr>
        <p:spPr>
          <a:xfrm>
            <a:off x="7540752" y="1685020"/>
            <a:ext cx="307848" cy="304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连接符 140"/>
          <p:cNvCxnSpPr/>
          <p:nvPr/>
        </p:nvCxnSpPr>
        <p:spPr>
          <a:xfrm rot="5400000" flipH="1" flipV="1">
            <a:off x="7346672" y="1186934"/>
            <a:ext cx="1003062" cy="79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连接符 143"/>
          <p:cNvCxnSpPr/>
          <p:nvPr/>
        </p:nvCxnSpPr>
        <p:spPr>
          <a:xfrm rot="10800000">
            <a:off x="609600" y="684211"/>
            <a:ext cx="72390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箭头连接符 145"/>
          <p:cNvCxnSpPr>
            <a:endCxn id="5" idx="0"/>
          </p:cNvCxnSpPr>
          <p:nvPr/>
        </p:nvCxnSpPr>
        <p:spPr>
          <a:xfrm rot="5400000">
            <a:off x="-424934" y="1720334"/>
            <a:ext cx="2069068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连接符 152"/>
          <p:cNvCxnSpPr/>
          <p:nvPr/>
        </p:nvCxnSpPr>
        <p:spPr>
          <a:xfrm rot="10800000">
            <a:off x="3505200" y="5345668"/>
            <a:ext cx="51816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箭头连接符 155"/>
          <p:cNvCxnSpPr>
            <a:endCxn id="68" idx="2"/>
          </p:cNvCxnSpPr>
          <p:nvPr/>
        </p:nvCxnSpPr>
        <p:spPr>
          <a:xfrm rot="5400000" flipH="1" flipV="1">
            <a:off x="3352006" y="5193268"/>
            <a:ext cx="305594" cy="7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/>
          <p:cNvCxnSpPr/>
          <p:nvPr/>
        </p:nvCxnSpPr>
        <p:spPr>
          <a:xfrm rot="5400000">
            <a:off x="4001294" y="4697968"/>
            <a:ext cx="837406" cy="79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接连接符 175"/>
          <p:cNvCxnSpPr/>
          <p:nvPr/>
        </p:nvCxnSpPr>
        <p:spPr>
          <a:xfrm>
            <a:off x="4419600" y="5117068"/>
            <a:ext cx="29718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箭头连接符 178"/>
          <p:cNvCxnSpPr>
            <a:endCxn id="105" idx="2"/>
          </p:cNvCxnSpPr>
          <p:nvPr/>
        </p:nvCxnSpPr>
        <p:spPr>
          <a:xfrm rot="5400000" flipH="1" flipV="1">
            <a:off x="7047706" y="4774168"/>
            <a:ext cx="686594" cy="7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等腰三角形 179"/>
          <p:cNvSpPr/>
          <p:nvPr/>
        </p:nvSpPr>
        <p:spPr>
          <a:xfrm rot="5400000">
            <a:off x="7773924" y="22199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2" name="直接箭头连接符 181"/>
          <p:cNvCxnSpPr/>
          <p:nvPr/>
        </p:nvCxnSpPr>
        <p:spPr>
          <a:xfrm>
            <a:off x="7772400" y="2831068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接箭头连接符 185"/>
          <p:cNvCxnSpPr>
            <a:endCxn id="180" idx="3"/>
          </p:cNvCxnSpPr>
          <p:nvPr/>
        </p:nvCxnSpPr>
        <p:spPr>
          <a:xfrm flipV="1">
            <a:off x="6705600" y="2447020"/>
            <a:ext cx="1371600" cy="304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接连接符 192"/>
          <p:cNvCxnSpPr/>
          <p:nvPr/>
        </p:nvCxnSpPr>
        <p:spPr>
          <a:xfrm rot="5400000">
            <a:off x="7658100" y="1878568"/>
            <a:ext cx="3810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接箭头连接符 194"/>
          <p:cNvCxnSpPr/>
          <p:nvPr/>
        </p:nvCxnSpPr>
        <p:spPr>
          <a:xfrm>
            <a:off x="7848600" y="2069068"/>
            <a:ext cx="2286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连接符 196"/>
          <p:cNvCxnSpPr>
            <a:stCxn id="180" idx="0"/>
          </p:cNvCxnSpPr>
          <p:nvPr/>
        </p:nvCxnSpPr>
        <p:spPr>
          <a:xfrm>
            <a:off x="8531352" y="2447020"/>
            <a:ext cx="155448" cy="304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连接符 198"/>
          <p:cNvCxnSpPr/>
          <p:nvPr/>
        </p:nvCxnSpPr>
        <p:spPr>
          <a:xfrm rot="5400000">
            <a:off x="7239000" y="3897868"/>
            <a:ext cx="28956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/>
          <p:cNvSpPr txBox="1"/>
          <p:nvPr/>
        </p:nvSpPr>
        <p:spPr>
          <a:xfrm>
            <a:off x="4419600" y="252626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Rs</a:t>
            </a:r>
            <a:endParaRPr lang="zh-CN" altLang="en-US" dirty="0"/>
          </a:p>
        </p:txBody>
      </p:sp>
      <p:sp>
        <p:nvSpPr>
          <p:cNvPr id="204" name="TextBox 203"/>
          <p:cNvSpPr txBox="1"/>
          <p:nvPr/>
        </p:nvSpPr>
        <p:spPr>
          <a:xfrm>
            <a:off x="4419600" y="38978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Rt</a:t>
            </a:r>
            <a:endParaRPr lang="zh-CN" altLang="en-US" dirty="0"/>
          </a:p>
        </p:txBody>
      </p:sp>
      <p:sp>
        <p:nvSpPr>
          <p:cNvPr id="205" name="TextBox 204"/>
          <p:cNvSpPr txBox="1"/>
          <p:nvPr/>
        </p:nvSpPr>
        <p:spPr>
          <a:xfrm>
            <a:off x="2971800" y="5040868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Rd</a:t>
            </a:r>
            <a:endParaRPr lang="zh-CN" altLang="en-US" dirty="0"/>
          </a:p>
        </p:txBody>
      </p:sp>
      <p:sp>
        <p:nvSpPr>
          <p:cNvPr id="206" name="TextBox 205"/>
          <p:cNvSpPr txBox="1"/>
          <p:nvPr/>
        </p:nvSpPr>
        <p:spPr>
          <a:xfrm>
            <a:off x="3733800" y="5791200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Imm</a:t>
            </a:r>
            <a:endParaRPr lang="zh-CN" altLang="en-US" dirty="0"/>
          </a:p>
        </p:txBody>
      </p:sp>
      <p:cxnSp>
        <p:nvCxnSpPr>
          <p:cNvPr id="223" name="直接箭头连接符 222"/>
          <p:cNvCxnSpPr/>
          <p:nvPr/>
        </p:nvCxnSpPr>
        <p:spPr>
          <a:xfrm>
            <a:off x="2286000" y="3960812"/>
            <a:ext cx="457200" cy="158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rot="16200000" flipH="1">
            <a:off x="-952499" y="3162299"/>
            <a:ext cx="6324600" cy="2"/>
          </a:xfrm>
          <a:prstGeom prst="line">
            <a:avLst/>
          </a:prstGeom>
          <a:ln w="12700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 rot="16200000" flipH="1">
            <a:off x="1714501" y="3162300"/>
            <a:ext cx="6324600" cy="2"/>
          </a:xfrm>
          <a:prstGeom prst="line">
            <a:avLst/>
          </a:prstGeom>
          <a:ln w="12700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 rot="16200000" flipH="1">
            <a:off x="3390898" y="3162299"/>
            <a:ext cx="6324600" cy="2"/>
          </a:xfrm>
          <a:prstGeom prst="line">
            <a:avLst/>
          </a:prstGeom>
          <a:ln w="12700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rot="16200000" flipH="1">
            <a:off x="4838698" y="3162299"/>
            <a:ext cx="6324600" cy="2"/>
          </a:xfrm>
          <a:prstGeom prst="line">
            <a:avLst/>
          </a:prstGeom>
          <a:ln w="12700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2971800" y="6324600"/>
            <a:ext cx="381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MIPS</a:t>
            </a:r>
            <a:r>
              <a:rPr lang="zh-CN" altLang="en-US" sz="2400" dirty="0"/>
              <a:t>指令执行的各个阶段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0804" y="39469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读取指令</a:t>
            </a:r>
            <a:endParaRPr lang="en-US" altLang="zh-CN" dirty="0"/>
          </a:p>
          <a:p>
            <a:r>
              <a:rPr lang="en-US" altLang="zh-CN" dirty="0"/>
              <a:t>      IF</a:t>
            </a:r>
            <a:endParaRPr lang="zh-CN" altLang="en-US" dirty="0"/>
          </a:p>
        </p:txBody>
      </p:sp>
      <p:sp>
        <p:nvSpPr>
          <p:cNvPr id="73" name="TextBox 72"/>
          <p:cNvSpPr txBox="1"/>
          <p:nvPr/>
        </p:nvSpPr>
        <p:spPr>
          <a:xfrm>
            <a:off x="2743200" y="0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从寄存器堆读</a:t>
            </a:r>
            <a:endParaRPr lang="en-US" altLang="zh-CN" dirty="0"/>
          </a:p>
          <a:p>
            <a:r>
              <a:rPr lang="en-US" altLang="zh-CN" dirty="0"/>
              <a:t>         RD</a:t>
            </a:r>
            <a:endParaRPr lang="zh-CN" altLang="en-US" dirty="0"/>
          </a:p>
        </p:txBody>
      </p:sp>
      <p:sp>
        <p:nvSpPr>
          <p:cNvPr id="75" name="TextBox 74"/>
          <p:cNvSpPr txBox="1"/>
          <p:nvPr/>
        </p:nvSpPr>
        <p:spPr>
          <a:xfrm>
            <a:off x="5181600" y="0"/>
            <a:ext cx="106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运算</a:t>
            </a:r>
            <a:endParaRPr lang="en-US" altLang="zh-CN" dirty="0"/>
          </a:p>
          <a:p>
            <a:r>
              <a:rPr lang="en-US" altLang="zh-CN" dirty="0"/>
              <a:t>   ALU</a:t>
            </a:r>
            <a:endParaRPr lang="zh-CN" altLang="en-US" dirty="0"/>
          </a:p>
        </p:txBody>
      </p:sp>
      <p:sp>
        <p:nvSpPr>
          <p:cNvPr id="77" name="TextBox 76"/>
          <p:cNvSpPr txBox="1"/>
          <p:nvPr/>
        </p:nvSpPr>
        <p:spPr>
          <a:xfrm>
            <a:off x="6477000" y="0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访问数据缓存           </a:t>
            </a:r>
            <a:endParaRPr lang="en-US" altLang="zh-CN" dirty="0"/>
          </a:p>
          <a:p>
            <a:r>
              <a:rPr lang="en-US" altLang="zh-CN" dirty="0"/>
              <a:t>       MEM</a:t>
            </a:r>
            <a:endParaRPr lang="zh-CN" altLang="en-US" dirty="0"/>
          </a:p>
        </p:txBody>
      </p:sp>
      <p:sp>
        <p:nvSpPr>
          <p:cNvPr id="80" name="TextBox 79"/>
          <p:cNvSpPr txBox="1"/>
          <p:nvPr/>
        </p:nvSpPr>
        <p:spPr>
          <a:xfrm>
            <a:off x="8153400" y="0"/>
            <a:ext cx="68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回写</a:t>
            </a:r>
            <a:r>
              <a:rPr lang="en-US" altLang="zh-CN" dirty="0"/>
              <a:t>   </a:t>
            </a:r>
          </a:p>
          <a:p>
            <a:r>
              <a:rPr lang="en-US" altLang="zh-CN" dirty="0"/>
              <a:t>WB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76200" y="2754868"/>
            <a:ext cx="9144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371600" y="2602468"/>
            <a:ext cx="7620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指令缓存</a:t>
            </a:r>
          </a:p>
        </p:txBody>
      </p:sp>
      <p:sp>
        <p:nvSpPr>
          <p:cNvPr id="24" name="任意多边形 23"/>
          <p:cNvSpPr/>
          <p:nvPr/>
        </p:nvSpPr>
        <p:spPr>
          <a:xfrm>
            <a:off x="1371600" y="773668"/>
            <a:ext cx="509587" cy="1614487"/>
          </a:xfrm>
          <a:custGeom>
            <a:avLst/>
            <a:gdLst>
              <a:gd name="connsiteX0" fmla="*/ 0 w 509587"/>
              <a:gd name="connsiteY0" fmla="*/ 0 h 1614487"/>
              <a:gd name="connsiteX1" fmla="*/ 504825 w 509587"/>
              <a:gd name="connsiteY1" fmla="*/ 347662 h 1614487"/>
              <a:gd name="connsiteX2" fmla="*/ 509587 w 509587"/>
              <a:gd name="connsiteY2" fmla="*/ 1304925 h 1614487"/>
              <a:gd name="connsiteX3" fmla="*/ 0 w 509587"/>
              <a:gd name="connsiteY3" fmla="*/ 1614487 h 1614487"/>
              <a:gd name="connsiteX4" fmla="*/ 0 w 509587"/>
              <a:gd name="connsiteY4" fmla="*/ 1138237 h 1614487"/>
              <a:gd name="connsiteX5" fmla="*/ 100012 w 509587"/>
              <a:gd name="connsiteY5" fmla="*/ 1071562 h 1614487"/>
              <a:gd name="connsiteX6" fmla="*/ 100012 w 509587"/>
              <a:gd name="connsiteY6" fmla="*/ 642937 h 1614487"/>
              <a:gd name="connsiteX7" fmla="*/ 0 w 509587"/>
              <a:gd name="connsiteY7" fmla="*/ 557212 h 1614487"/>
              <a:gd name="connsiteX8" fmla="*/ 0 w 509587"/>
              <a:gd name="connsiteY8" fmla="*/ 0 h 1614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9587" h="1614487">
                <a:moveTo>
                  <a:pt x="0" y="0"/>
                </a:moveTo>
                <a:lnTo>
                  <a:pt x="504825" y="347662"/>
                </a:lnTo>
                <a:cubicBezTo>
                  <a:pt x="506412" y="666750"/>
                  <a:pt x="508000" y="985837"/>
                  <a:pt x="509587" y="1304925"/>
                </a:cubicBezTo>
                <a:lnTo>
                  <a:pt x="0" y="1614487"/>
                </a:lnTo>
                <a:lnTo>
                  <a:pt x="0" y="1138237"/>
                </a:lnTo>
                <a:lnTo>
                  <a:pt x="100012" y="1071562"/>
                </a:lnTo>
                <a:lnTo>
                  <a:pt x="100012" y="642937"/>
                </a:lnTo>
                <a:lnTo>
                  <a:pt x="0" y="55721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加法器</a:t>
            </a:r>
          </a:p>
        </p:txBody>
      </p:sp>
      <p:sp>
        <p:nvSpPr>
          <p:cNvPr id="48" name="直角上箭头 47"/>
          <p:cNvSpPr/>
          <p:nvPr/>
        </p:nvSpPr>
        <p:spPr>
          <a:xfrm rot="16200000" flipV="1">
            <a:off x="800100" y="2411968"/>
            <a:ext cx="914400" cy="228600"/>
          </a:xfrm>
          <a:prstGeom prst="bentUpArrow">
            <a:avLst>
              <a:gd name="adj1" fmla="val 0"/>
              <a:gd name="adj2" fmla="val 25000"/>
              <a:gd name="adj3" fmla="val 25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1" name="直接箭头连接符 50"/>
          <p:cNvCxnSpPr>
            <a:stCxn id="5" idx="3"/>
          </p:cNvCxnSpPr>
          <p:nvPr/>
        </p:nvCxnSpPr>
        <p:spPr>
          <a:xfrm>
            <a:off x="990600" y="2983468"/>
            <a:ext cx="381000" cy="1588"/>
          </a:xfrm>
          <a:prstGeom prst="straightConnector1">
            <a:avLst/>
          </a:prstGeom>
          <a:ln w="254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>
            <a:off x="1066800" y="1078468"/>
            <a:ext cx="304800" cy="1588"/>
          </a:xfrm>
          <a:prstGeom prst="straightConnector1">
            <a:avLst/>
          </a:prstGeom>
          <a:ln w="254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62000" y="849868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7" name="矩形 56"/>
          <p:cNvSpPr/>
          <p:nvPr/>
        </p:nvSpPr>
        <p:spPr>
          <a:xfrm>
            <a:off x="152400" y="5574267"/>
            <a:ext cx="3733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5" name="直接箭头连接符 64"/>
          <p:cNvCxnSpPr/>
          <p:nvPr/>
        </p:nvCxnSpPr>
        <p:spPr>
          <a:xfrm rot="5400000">
            <a:off x="1181497" y="5002371"/>
            <a:ext cx="1143000" cy="7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/>
          <p:cNvSpPr/>
          <p:nvPr/>
        </p:nvSpPr>
        <p:spPr>
          <a:xfrm>
            <a:off x="2743200" y="1840468"/>
            <a:ext cx="1524000" cy="3200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寄存器堆</a:t>
            </a:r>
          </a:p>
        </p:txBody>
      </p:sp>
      <p:cxnSp>
        <p:nvCxnSpPr>
          <p:cNvPr id="71" name="直接连接符 70"/>
          <p:cNvCxnSpPr/>
          <p:nvPr/>
        </p:nvCxnSpPr>
        <p:spPr>
          <a:xfrm rot="5400000" flipH="1" flipV="1">
            <a:off x="800100" y="4088368"/>
            <a:ext cx="2971800" cy="1588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>
            <a:off x="2286000" y="2602468"/>
            <a:ext cx="457200" cy="158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>
            <a:off x="2286000" y="3276600"/>
            <a:ext cx="457200" cy="158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等腰三角形 77"/>
          <p:cNvSpPr/>
          <p:nvPr/>
        </p:nvSpPr>
        <p:spPr>
          <a:xfrm rot="5400000">
            <a:off x="4802124" y="21437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等腰三角形 78"/>
          <p:cNvSpPr/>
          <p:nvPr/>
        </p:nvSpPr>
        <p:spPr>
          <a:xfrm rot="5400000">
            <a:off x="4802124" y="42011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1" name="肘形连接符 80"/>
          <p:cNvCxnSpPr/>
          <p:nvPr/>
        </p:nvCxnSpPr>
        <p:spPr>
          <a:xfrm>
            <a:off x="1905000" y="1535668"/>
            <a:ext cx="3200400" cy="609600"/>
          </a:xfrm>
          <a:prstGeom prst="bentConnector3">
            <a:avLst>
              <a:gd name="adj1" fmla="val 83894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/>
          <p:cNvCxnSpPr/>
          <p:nvPr/>
        </p:nvCxnSpPr>
        <p:spPr>
          <a:xfrm>
            <a:off x="4267200" y="2526268"/>
            <a:ext cx="8382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/>
          <p:cNvCxnSpPr/>
          <p:nvPr/>
        </p:nvCxnSpPr>
        <p:spPr>
          <a:xfrm>
            <a:off x="4267200" y="4278868"/>
            <a:ext cx="8382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肘形连接符 93"/>
          <p:cNvCxnSpPr>
            <a:stCxn id="57" idx="3"/>
          </p:cNvCxnSpPr>
          <p:nvPr/>
        </p:nvCxnSpPr>
        <p:spPr>
          <a:xfrm flipV="1">
            <a:off x="3886200" y="4659869"/>
            <a:ext cx="1295400" cy="1104898"/>
          </a:xfrm>
          <a:prstGeom prst="bentConnector3">
            <a:avLst>
              <a:gd name="adj1" fmla="val 59821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任意多边形 99"/>
          <p:cNvSpPr/>
          <p:nvPr/>
        </p:nvSpPr>
        <p:spPr>
          <a:xfrm>
            <a:off x="5867400" y="1992868"/>
            <a:ext cx="609600" cy="2895600"/>
          </a:xfrm>
          <a:custGeom>
            <a:avLst/>
            <a:gdLst>
              <a:gd name="connsiteX0" fmla="*/ 0 w 509587"/>
              <a:gd name="connsiteY0" fmla="*/ 0 h 1614487"/>
              <a:gd name="connsiteX1" fmla="*/ 504825 w 509587"/>
              <a:gd name="connsiteY1" fmla="*/ 347662 h 1614487"/>
              <a:gd name="connsiteX2" fmla="*/ 509587 w 509587"/>
              <a:gd name="connsiteY2" fmla="*/ 1304925 h 1614487"/>
              <a:gd name="connsiteX3" fmla="*/ 0 w 509587"/>
              <a:gd name="connsiteY3" fmla="*/ 1614487 h 1614487"/>
              <a:gd name="connsiteX4" fmla="*/ 0 w 509587"/>
              <a:gd name="connsiteY4" fmla="*/ 1138237 h 1614487"/>
              <a:gd name="connsiteX5" fmla="*/ 100012 w 509587"/>
              <a:gd name="connsiteY5" fmla="*/ 1071562 h 1614487"/>
              <a:gd name="connsiteX6" fmla="*/ 100012 w 509587"/>
              <a:gd name="connsiteY6" fmla="*/ 642937 h 1614487"/>
              <a:gd name="connsiteX7" fmla="*/ 0 w 509587"/>
              <a:gd name="connsiteY7" fmla="*/ 557212 h 1614487"/>
              <a:gd name="connsiteX8" fmla="*/ 0 w 509587"/>
              <a:gd name="connsiteY8" fmla="*/ 0 h 1614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9587" h="1614487">
                <a:moveTo>
                  <a:pt x="0" y="0"/>
                </a:moveTo>
                <a:lnTo>
                  <a:pt x="504825" y="347662"/>
                </a:lnTo>
                <a:cubicBezTo>
                  <a:pt x="506412" y="666750"/>
                  <a:pt x="508000" y="985837"/>
                  <a:pt x="509587" y="1304925"/>
                </a:cubicBezTo>
                <a:lnTo>
                  <a:pt x="0" y="1614487"/>
                </a:lnTo>
                <a:lnTo>
                  <a:pt x="0" y="1138237"/>
                </a:lnTo>
                <a:lnTo>
                  <a:pt x="100012" y="1071562"/>
                </a:lnTo>
                <a:lnTo>
                  <a:pt x="100012" y="642937"/>
                </a:lnTo>
                <a:lnTo>
                  <a:pt x="0" y="55721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运算器</a:t>
            </a:r>
          </a:p>
        </p:txBody>
      </p:sp>
      <p:cxnSp>
        <p:nvCxnSpPr>
          <p:cNvPr id="102" name="直接箭头连接符 101"/>
          <p:cNvCxnSpPr>
            <a:stCxn id="78" idx="0"/>
          </p:cNvCxnSpPr>
          <p:nvPr/>
        </p:nvCxnSpPr>
        <p:spPr>
          <a:xfrm>
            <a:off x="5559552" y="2370820"/>
            <a:ext cx="307848" cy="304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/>
          <p:cNvCxnSpPr/>
          <p:nvPr/>
        </p:nvCxnSpPr>
        <p:spPr>
          <a:xfrm>
            <a:off x="5562600" y="4431268"/>
            <a:ext cx="307848" cy="304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矩形 104"/>
          <p:cNvSpPr/>
          <p:nvPr/>
        </p:nvSpPr>
        <p:spPr>
          <a:xfrm>
            <a:off x="7010400" y="2602468"/>
            <a:ext cx="7620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数据缓存</a:t>
            </a:r>
          </a:p>
        </p:txBody>
      </p:sp>
      <p:cxnSp>
        <p:nvCxnSpPr>
          <p:cNvPr id="107" name="直接箭头连接符 106"/>
          <p:cNvCxnSpPr>
            <a:endCxn id="105" idx="1"/>
          </p:cNvCxnSpPr>
          <p:nvPr/>
        </p:nvCxnSpPr>
        <p:spPr>
          <a:xfrm>
            <a:off x="6477000" y="3516868"/>
            <a:ext cx="5334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等腰三角形 109"/>
          <p:cNvSpPr/>
          <p:nvPr/>
        </p:nvSpPr>
        <p:spPr>
          <a:xfrm rot="5400000">
            <a:off x="6783324" y="14579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2" name="直接箭头连接符 111"/>
          <p:cNvCxnSpPr/>
          <p:nvPr/>
        </p:nvCxnSpPr>
        <p:spPr>
          <a:xfrm>
            <a:off x="4572000" y="1535668"/>
            <a:ext cx="25146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/>
          <p:cNvCxnSpPr/>
          <p:nvPr/>
        </p:nvCxnSpPr>
        <p:spPr>
          <a:xfrm rot="5400000" flipH="1" flipV="1">
            <a:off x="5906294" y="2716768"/>
            <a:ext cx="1599406" cy="79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117"/>
          <p:cNvCxnSpPr/>
          <p:nvPr/>
        </p:nvCxnSpPr>
        <p:spPr>
          <a:xfrm>
            <a:off x="6705600" y="1916668"/>
            <a:ext cx="3810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连接符 135"/>
          <p:cNvCxnSpPr>
            <a:stCxn id="110" idx="0"/>
          </p:cNvCxnSpPr>
          <p:nvPr/>
        </p:nvCxnSpPr>
        <p:spPr>
          <a:xfrm>
            <a:off x="7540752" y="1685020"/>
            <a:ext cx="307848" cy="304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连接符 140"/>
          <p:cNvCxnSpPr/>
          <p:nvPr/>
        </p:nvCxnSpPr>
        <p:spPr>
          <a:xfrm rot="5400000" flipH="1" flipV="1">
            <a:off x="7277100" y="1116568"/>
            <a:ext cx="11430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连接符 143"/>
          <p:cNvCxnSpPr/>
          <p:nvPr/>
        </p:nvCxnSpPr>
        <p:spPr>
          <a:xfrm rot="10800000">
            <a:off x="533400" y="533400"/>
            <a:ext cx="7315200" cy="1325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箭头连接符 145"/>
          <p:cNvCxnSpPr>
            <a:endCxn id="5" idx="0"/>
          </p:cNvCxnSpPr>
          <p:nvPr/>
        </p:nvCxnSpPr>
        <p:spPr>
          <a:xfrm rot="5400000">
            <a:off x="-576540" y="1644134"/>
            <a:ext cx="2220674" cy="7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连接符 152"/>
          <p:cNvCxnSpPr/>
          <p:nvPr/>
        </p:nvCxnSpPr>
        <p:spPr>
          <a:xfrm rot="10800000">
            <a:off x="3505200" y="5345668"/>
            <a:ext cx="51816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箭头连接符 155"/>
          <p:cNvCxnSpPr>
            <a:endCxn id="68" idx="2"/>
          </p:cNvCxnSpPr>
          <p:nvPr/>
        </p:nvCxnSpPr>
        <p:spPr>
          <a:xfrm rot="5400000" flipH="1" flipV="1">
            <a:off x="3352006" y="5193268"/>
            <a:ext cx="305594" cy="7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/>
          <p:cNvCxnSpPr/>
          <p:nvPr/>
        </p:nvCxnSpPr>
        <p:spPr>
          <a:xfrm rot="5400000">
            <a:off x="4001294" y="4697968"/>
            <a:ext cx="837406" cy="79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接连接符 175"/>
          <p:cNvCxnSpPr/>
          <p:nvPr/>
        </p:nvCxnSpPr>
        <p:spPr>
          <a:xfrm>
            <a:off x="4419600" y="5117068"/>
            <a:ext cx="29718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箭头连接符 178"/>
          <p:cNvCxnSpPr>
            <a:endCxn id="105" idx="2"/>
          </p:cNvCxnSpPr>
          <p:nvPr/>
        </p:nvCxnSpPr>
        <p:spPr>
          <a:xfrm rot="5400000" flipH="1" flipV="1">
            <a:off x="7047706" y="4774168"/>
            <a:ext cx="686594" cy="7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等腰三角形 179"/>
          <p:cNvSpPr/>
          <p:nvPr/>
        </p:nvSpPr>
        <p:spPr>
          <a:xfrm rot="5400000">
            <a:off x="7773924" y="22199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2" name="直接箭头连接符 181"/>
          <p:cNvCxnSpPr/>
          <p:nvPr/>
        </p:nvCxnSpPr>
        <p:spPr>
          <a:xfrm>
            <a:off x="7772400" y="2831068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接箭头连接符 185"/>
          <p:cNvCxnSpPr>
            <a:endCxn id="180" idx="3"/>
          </p:cNvCxnSpPr>
          <p:nvPr/>
        </p:nvCxnSpPr>
        <p:spPr>
          <a:xfrm flipV="1">
            <a:off x="6705600" y="2447020"/>
            <a:ext cx="1371600" cy="304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接连接符 192"/>
          <p:cNvCxnSpPr/>
          <p:nvPr/>
        </p:nvCxnSpPr>
        <p:spPr>
          <a:xfrm rot="5400000">
            <a:off x="7658100" y="1878568"/>
            <a:ext cx="3810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接箭头连接符 194"/>
          <p:cNvCxnSpPr/>
          <p:nvPr/>
        </p:nvCxnSpPr>
        <p:spPr>
          <a:xfrm>
            <a:off x="7848600" y="2069068"/>
            <a:ext cx="2286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连接符 196"/>
          <p:cNvCxnSpPr>
            <a:stCxn id="180" idx="0"/>
          </p:cNvCxnSpPr>
          <p:nvPr/>
        </p:nvCxnSpPr>
        <p:spPr>
          <a:xfrm>
            <a:off x="8531352" y="2447020"/>
            <a:ext cx="155448" cy="304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连接符 198"/>
          <p:cNvCxnSpPr/>
          <p:nvPr/>
        </p:nvCxnSpPr>
        <p:spPr>
          <a:xfrm rot="5400000">
            <a:off x="7239000" y="3897868"/>
            <a:ext cx="28956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/>
          <p:cNvSpPr txBox="1"/>
          <p:nvPr/>
        </p:nvSpPr>
        <p:spPr>
          <a:xfrm>
            <a:off x="4419600" y="252626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Rs</a:t>
            </a:r>
            <a:endParaRPr lang="zh-CN" altLang="en-US" dirty="0"/>
          </a:p>
        </p:txBody>
      </p:sp>
      <p:sp>
        <p:nvSpPr>
          <p:cNvPr id="204" name="TextBox 203"/>
          <p:cNvSpPr txBox="1"/>
          <p:nvPr/>
        </p:nvSpPr>
        <p:spPr>
          <a:xfrm>
            <a:off x="4419600" y="38978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Rt</a:t>
            </a:r>
            <a:endParaRPr lang="zh-CN" altLang="en-US" dirty="0"/>
          </a:p>
        </p:txBody>
      </p:sp>
      <p:sp>
        <p:nvSpPr>
          <p:cNvPr id="205" name="TextBox 204"/>
          <p:cNvSpPr txBox="1"/>
          <p:nvPr/>
        </p:nvSpPr>
        <p:spPr>
          <a:xfrm>
            <a:off x="2971800" y="5040868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Rd</a:t>
            </a:r>
            <a:endParaRPr lang="zh-CN" altLang="en-US" dirty="0"/>
          </a:p>
        </p:txBody>
      </p:sp>
      <p:sp>
        <p:nvSpPr>
          <p:cNvPr id="206" name="TextBox 205"/>
          <p:cNvSpPr txBox="1"/>
          <p:nvPr/>
        </p:nvSpPr>
        <p:spPr>
          <a:xfrm>
            <a:off x="4038600" y="5715000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Imm</a:t>
            </a:r>
            <a:endParaRPr lang="zh-CN" altLang="en-US" dirty="0"/>
          </a:p>
        </p:txBody>
      </p:sp>
      <p:cxnSp>
        <p:nvCxnSpPr>
          <p:cNvPr id="223" name="直接箭头连接符 222"/>
          <p:cNvCxnSpPr/>
          <p:nvPr/>
        </p:nvCxnSpPr>
        <p:spPr>
          <a:xfrm>
            <a:off x="2286000" y="3960812"/>
            <a:ext cx="457200" cy="158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7045" y="2819400"/>
            <a:ext cx="9797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00400000</a:t>
            </a:r>
            <a:endParaRPr lang="zh-CN" altLang="en-US" sz="1400" dirty="0"/>
          </a:p>
        </p:txBody>
      </p:sp>
      <p:sp>
        <p:nvSpPr>
          <p:cNvPr id="53" name="TextBox 52"/>
          <p:cNvSpPr txBox="1"/>
          <p:nvPr/>
        </p:nvSpPr>
        <p:spPr>
          <a:xfrm>
            <a:off x="1295400" y="2590800"/>
            <a:ext cx="9797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02328020</a:t>
            </a:r>
            <a:endParaRPr lang="zh-CN" altLang="en-US" sz="1400" dirty="0"/>
          </a:p>
        </p:txBody>
      </p:sp>
      <p:sp>
        <p:nvSpPr>
          <p:cNvPr id="56" name="TextBox 55"/>
          <p:cNvSpPr txBox="1"/>
          <p:nvPr/>
        </p:nvSpPr>
        <p:spPr>
          <a:xfrm>
            <a:off x="152400" y="5574268"/>
            <a:ext cx="381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00000010001100101000000000100000</a:t>
            </a:r>
            <a:endParaRPr lang="zh-CN" altLang="en-US" sz="1600" dirty="0"/>
          </a:p>
        </p:txBody>
      </p:sp>
      <p:sp>
        <p:nvSpPr>
          <p:cNvPr id="58" name="TextBox 57"/>
          <p:cNvSpPr txBox="1"/>
          <p:nvPr/>
        </p:nvSpPr>
        <p:spPr>
          <a:xfrm>
            <a:off x="1600200" y="1295401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00400004</a:t>
            </a:r>
            <a:endParaRPr lang="zh-CN" altLang="en-US" sz="1400" dirty="0"/>
          </a:p>
        </p:txBody>
      </p:sp>
      <p:sp>
        <p:nvSpPr>
          <p:cNvPr id="59" name="TextBox 58"/>
          <p:cNvSpPr txBox="1"/>
          <p:nvPr/>
        </p:nvSpPr>
        <p:spPr>
          <a:xfrm>
            <a:off x="2362200" y="6248400"/>
            <a:ext cx="4775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执行指令</a:t>
            </a:r>
            <a:r>
              <a:rPr lang="en-US" altLang="zh-CN" dirty="0"/>
              <a:t>add  $s0, $s1, $s2</a:t>
            </a:r>
            <a:r>
              <a:rPr lang="zh-CN" altLang="en-US" dirty="0"/>
              <a:t>   读取指令（</a:t>
            </a:r>
            <a:r>
              <a:rPr lang="en-US" altLang="zh-CN" dirty="0"/>
              <a:t>IF</a:t>
            </a:r>
            <a:r>
              <a:rPr lang="zh-CN" altLang="en-US" dirty="0"/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3.93708E-6 L 0.06198 -0.0002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7" presetClass="emph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9" dur="1000" autoRev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0" dur="1000" autoRev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" dur="1000" autoRev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autoRev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000"/>
                            </p:stCondLst>
                            <p:childTnLst>
                              <p:par>
                                <p:cTn id="14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486 -0.00023 L 0.05486 -0.12884 L 0.10712 -0.12769 " pathEditMode="relative" rAng="0" ptsTypes="AAA">
                                      <p:cBhvr>
                                        <p:cTn id="15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-64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-0.00347 -0.00023 L -0.00347 0.44391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6000"/>
                            </p:stCondLst>
                            <p:childTnLst>
                              <p:par>
                                <p:cTn id="19" presetID="3" presetClass="exit" presetSubtype="1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blinds(horizontal)">
                                      <p:cBhvr>
                                        <p:cTn id="20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0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8000"/>
                            </p:stCondLst>
                            <p:childTnLst>
                              <p:par>
                                <p:cTn id="27" presetID="27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1000" autoRev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" dur="1000" autoRev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" dur="1000" autoRev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1000" autoRev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0"/>
                            </p:stCondLst>
                            <p:childTnLst>
                              <p:par>
                                <p:cTn id="33" presetID="3" presetClass="exit" presetSubtype="1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4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1000"/>
                            </p:stCondLst>
                            <p:childTnLst>
                              <p:par>
                                <p:cTn id="3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000"/>
                            </p:stCondLst>
                            <p:childTnLst>
                              <p:par>
                                <p:cTn id="41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747 0.00116 L 0.55174 0.00231 L 0.61337 0.02544 L 0.61337 -0.14735 L -0.16528 -0.14758 L -0.16615 0.22207 " pathEditMode="relative" rAng="0" ptsTypes="AAAAAA">
                                      <p:cBhvr>
                                        <p:cTn id="42" dur="5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1" y="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52" grpId="0"/>
      <p:bldP spid="52" grpId="1"/>
      <p:bldP spid="52" grpId="2"/>
      <p:bldP spid="53" grpId="0"/>
      <p:bldP spid="53" grpId="1"/>
      <p:bldP spid="53" grpId="2"/>
      <p:bldP spid="56" grpId="0"/>
      <p:bldP spid="58" grpId="0"/>
      <p:bldP spid="58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28600" y="2754868"/>
            <a:ext cx="762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PC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371600" y="2602468"/>
            <a:ext cx="7620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指令缓存</a:t>
            </a:r>
          </a:p>
        </p:txBody>
      </p:sp>
      <p:sp>
        <p:nvSpPr>
          <p:cNvPr id="24" name="任意多边形 23"/>
          <p:cNvSpPr/>
          <p:nvPr/>
        </p:nvSpPr>
        <p:spPr>
          <a:xfrm>
            <a:off x="1371600" y="773668"/>
            <a:ext cx="509587" cy="1614487"/>
          </a:xfrm>
          <a:custGeom>
            <a:avLst/>
            <a:gdLst>
              <a:gd name="connsiteX0" fmla="*/ 0 w 509587"/>
              <a:gd name="connsiteY0" fmla="*/ 0 h 1614487"/>
              <a:gd name="connsiteX1" fmla="*/ 504825 w 509587"/>
              <a:gd name="connsiteY1" fmla="*/ 347662 h 1614487"/>
              <a:gd name="connsiteX2" fmla="*/ 509587 w 509587"/>
              <a:gd name="connsiteY2" fmla="*/ 1304925 h 1614487"/>
              <a:gd name="connsiteX3" fmla="*/ 0 w 509587"/>
              <a:gd name="connsiteY3" fmla="*/ 1614487 h 1614487"/>
              <a:gd name="connsiteX4" fmla="*/ 0 w 509587"/>
              <a:gd name="connsiteY4" fmla="*/ 1138237 h 1614487"/>
              <a:gd name="connsiteX5" fmla="*/ 100012 w 509587"/>
              <a:gd name="connsiteY5" fmla="*/ 1071562 h 1614487"/>
              <a:gd name="connsiteX6" fmla="*/ 100012 w 509587"/>
              <a:gd name="connsiteY6" fmla="*/ 642937 h 1614487"/>
              <a:gd name="connsiteX7" fmla="*/ 0 w 509587"/>
              <a:gd name="connsiteY7" fmla="*/ 557212 h 1614487"/>
              <a:gd name="connsiteX8" fmla="*/ 0 w 509587"/>
              <a:gd name="connsiteY8" fmla="*/ 0 h 1614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9587" h="1614487">
                <a:moveTo>
                  <a:pt x="0" y="0"/>
                </a:moveTo>
                <a:lnTo>
                  <a:pt x="504825" y="347662"/>
                </a:lnTo>
                <a:cubicBezTo>
                  <a:pt x="506412" y="666750"/>
                  <a:pt x="508000" y="985837"/>
                  <a:pt x="509587" y="1304925"/>
                </a:cubicBezTo>
                <a:lnTo>
                  <a:pt x="0" y="1614487"/>
                </a:lnTo>
                <a:lnTo>
                  <a:pt x="0" y="1138237"/>
                </a:lnTo>
                <a:lnTo>
                  <a:pt x="100012" y="1071562"/>
                </a:lnTo>
                <a:lnTo>
                  <a:pt x="100012" y="642937"/>
                </a:lnTo>
                <a:lnTo>
                  <a:pt x="0" y="55721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加法器</a:t>
            </a:r>
          </a:p>
        </p:txBody>
      </p:sp>
      <p:sp>
        <p:nvSpPr>
          <p:cNvPr id="48" name="直角上箭头 47"/>
          <p:cNvSpPr/>
          <p:nvPr/>
        </p:nvSpPr>
        <p:spPr>
          <a:xfrm rot="16200000" flipV="1">
            <a:off x="800100" y="2411968"/>
            <a:ext cx="914400" cy="228600"/>
          </a:xfrm>
          <a:prstGeom prst="bentUpArrow">
            <a:avLst>
              <a:gd name="adj1" fmla="val 0"/>
              <a:gd name="adj2" fmla="val 25000"/>
              <a:gd name="adj3" fmla="val 25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1" name="直接箭头连接符 50"/>
          <p:cNvCxnSpPr>
            <a:stCxn id="5" idx="3"/>
          </p:cNvCxnSpPr>
          <p:nvPr/>
        </p:nvCxnSpPr>
        <p:spPr>
          <a:xfrm>
            <a:off x="990600" y="2983468"/>
            <a:ext cx="381000" cy="1588"/>
          </a:xfrm>
          <a:prstGeom prst="straightConnector1">
            <a:avLst/>
          </a:prstGeom>
          <a:ln w="254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>
            <a:off x="1066800" y="1078468"/>
            <a:ext cx="304800" cy="1588"/>
          </a:xfrm>
          <a:prstGeom prst="straightConnector1">
            <a:avLst/>
          </a:prstGeom>
          <a:ln w="254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62000" y="849868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7" name="矩形 56"/>
          <p:cNvSpPr/>
          <p:nvPr/>
        </p:nvSpPr>
        <p:spPr>
          <a:xfrm>
            <a:off x="152400" y="5574267"/>
            <a:ext cx="3886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5" name="直接箭头连接符 64"/>
          <p:cNvCxnSpPr/>
          <p:nvPr/>
        </p:nvCxnSpPr>
        <p:spPr>
          <a:xfrm rot="5400000">
            <a:off x="1181497" y="5002371"/>
            <a:ext cx="1143000" cy="7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/>
          <p:cNvSpPr/>
          <p:nvPr/>
        </p:nvSpPr>
        <p:spPr>
          <a:xfrm>
            <a:off x="2743200" y="1676400"/>
            <a:ext cx="1524000" cy="33644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1" name="直接连接符 70"/>
          <p:cNvCxnSpPr/>
          <p:nvPr/>
        </p:nvCxnSpPr>
        <p:spPr>
          <a:xfrm rot="5400000" flipH="1" flipV="1">
            <a:off x="800100" y="4088368"/>
            <a:ext cx="2971800" cy="1588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>
            <a:off x="2286000" y="2602468"/>
            <a:ext cx="457200" cy="158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>
            <a:off x="2286000" y="3276600"/>
            <a:ext cx="457200" cy="158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等腰三角形 77"/>
          <p:cNvSpPr/>
          <p:nvPr/>
        </p:nvSpPr>
        <p:spPr>
          <a:xfrm rot="5400000">
            <a:off x="4802124" y="21437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等腰三角形 78"/>
          <p:cNvSpPr/>
          <p:nvPr/>
        </p:nvSpPr>
        <p:spPr>
          <a:xfrm rot="5400000">
            <a:off x="4802124" y="42011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1" name="肘形连接符 80"/>
          <p:cNvCxnSpPr/>
          <p:nvPr/>
        </p:nvCxnSpPr>
        <p:spPr>
          <a:xfrm>
            <a:off x="1905000" y="1535668"/>
            <a:ext cx="3200400" cy="609600"/>
          </a:xfrm>
          <a:prstGeom prst="bentConnector3">
            <a:avLst>
              <a:gd name="adj1" fmla="val 83894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/>
          <p:cNvCxnSpPr/>
          <p:nvPr/>
        </p:nvCxnSpPr>
        <p:spPr>
          <a:xfrm>
            <a:off x="4267200" y="2526268"/>
            <a:ext cx="8382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/>
          <p:cNvCxnSpPr/>
          <p:nvPr/>
        </p:nvCxnSpPr>
        <p:spPr>
          <a:xfrm>
            <a:off x="4267200" y="4278868"/>
            <a:ext cx="8382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任意多边形 99"/>
          <p:cNvSpPr/>
          <p:nvPr/>
        </p:nvSpPr>
        <p:spPr>
          <a:xfrm>
            <a:off x="5867400" y="1992868"/>
            <a:ext cx="609600" cy="2895600"/>
          </a:xfrm>
          <a:custGeom>
            <a:avLst/>
            <a:gdLst>
              <a:gd name="connsiteX0" fmla="*/ 0 w 509587"/>
              <a:gd name="connsiteY0" fmla="*/ 0 h 1614487"/>
              <a:gd name="connsiteX1" fmla="*/ 504825 w 509587"/>
              <a:gd name="connsiteY1" fmla="*/ 347662 h 1614487"/>
              <a:gd name="connsiteX2" fmla="*/ 509587 w 509587"/>
              <a:gd name="connsiteY2" fmla="*/ 1304925 h 1614487"/>
              <a:gd name="connsiteX3" fmla="*/ 0 w 509587"/>
              <a:gd name="connsiteY3" fmla="*/ 1614487 h 1614487"/>
              <a:gd name="connsiteX4" fmla="*/ 0 w 509587"/>
              <a:gd name="connsiteY4" fmla="*/ 1138237 h 1614487"/>
              <a:gd name="connsiteX5" fmla="*/ 100012 w 509587"/>
              <a:gd name="connsiteY5" fmla="*/ 1071562 h 1614487"/>
              <a:gd name="connsiteX6" fmla="*/ 100012 w 509587"/>
              <a:gd name="connsiteY6" fmla="*/ 642937 h 1614487"/>
              <a:gd name="connsiteX7" fmla="*/ 0 w 509587"/>
              <a:gd name="connsiteY7" fmla="*/ 557212 h 1614487"/>
              <a:gd name="connsiteX8" fmla="*/ 0 w 509587"/>
              <a:gd name="connsiteY8" fmla="*/ 0 h 1614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9587" h="1614487">
                <a:moveTo>
                  <a:pt x="0" y="0"/>
                </a:moveTo>
                <a:lnTo>
                  <a:pt x="504825" y="347662"/>
                </a:lnTo>
                <a:cubicBezTo>
                  <a:pt x="506412" y="666750"/>
                  <a:pt x="508000" y="985837"/>
                  <a:pt x="509587" y="1304925"/>
                </a:cubicBezTo>
                <a:lnTo>
                  <a:pt x="0" y="1614487"/>
                </a:lnTo>
                <a:lnTo>
                  <a:pt x="0" y="1138237"/>
                </a:lnTo>
                <a:lnTo>
                  <a:pt x="100012" y="1071562"/>
                </a:lnTo>
                <a:lnTo>
                  <a:pt x="100012" y="642937"/>
                </a:lnTo>
                <a:lnTo>
                  <a:pt x="0" y="55721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运算器</a:t>
            </a:r>
          </a:p>
        </p:txBody>
      </p:sp>
      <p:cxnSp>
        <p:nvCxnSpPr>
          <p:cNvPr id="102" name="直接箭头连接符 101"/>
          <p:cNvCxnSpPr>
            <a:stCxn id="78" idx="0"/>
          </p:cNvCxnSpPr>
          <p:nvPr/>
        </p:nvCxnSpPr>
        <p:spPr>
          <a:xfrm>
            <a:off x="5559552" y="2370820"/>
            <a:ext cx="307848" cy="304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/>
          <p:cNvCxnSpPr/>
          <p:nvPr/>
        </p:nvCxnSpPr>
        <p:spPr>
          <a:xfrm>
            <a:off x="5562600" y="4431268"/>
            <a:ext cx="307848" cy="304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矩形 104"/>
          <p:cNvSpPr/>
          <p:nvPr/>
        </p:nvSpPr>
        <p:spPr>
          <a:xfrm>
            <a:off x="7010400" y="2602468"/>
            <a:ext cx="7620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数据缓存</a:t>
            </a:r>
          </a:p>
        </p:txBody>
      </p:sp>
      <p:cxnSp>
        <p:nvCxnSpPr>
          <p:cNvPr id="107" name="直接箭头连接符 106"/>
          <p:cNvCxnSpPr>
            <a:endCxn id="105" idx="1"/>
          </p:cNvCxnSpPr>
          <p:nvPr/>
        </p:nvCxnSpPr>
        <p:spPr>
          <a:xfrm>
            <a:off x="6477000" y="3516868"/>
            <a:ext cx="5334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等腰三角形 109"/>
          <p:cNvSpPr/>
          <p:nvPr/>
        </p:nvSpPr>
        <p:spPr>
          <a:xfrm rot="5400000">
            <a:off x="6783324" y="14579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2" name="直接箭头连接符 111"/>
          <p:cNvCxnSpPr/>
          <p:nvPr/>
        </p:nvCxnSpPr>
        <p:spPr>
          <a:xfrm>
            <a:off x="4572000" y="1535668"/>
            <a:ext cx="25146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/>
          <p:cNvCxnSpPr/>
          <p:nvPr/>
        </p:nvCxnSpPr>
        <p:spPr>
          <a:xfrm rot="5400000" flipH="1" flipV="1">
            <a:off x="5906294" y="2716768"/>
            <a:ext cx="1599406" cy="79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117"/>
          <p:cNvCxnSpPr/>
          <p:nvPr/>
        </p:nvCxnSpPr>
        <p:spPr>
          <a:xfrm>
            <a:off x="6705600" y="1916668"/>
            <a:ext cx="3810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连接符 135"/>
          <p:cNvCxnSpPr>
            <a:stCxn id="110" idx="0"/>
          </p:cNvCxnSpPr>
          <p:nvPr/>
        </p:nvCxnSpPr>
        <p:spPr>
          <a:xfrm>
            <a:off x="7540752" y="1685020"/>
            <a:ext cx="307848" cy="304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连接符 140"/>
          <p:cNvCxnSpPr/>
          <p:nvPr/>
        </p:nvCxnSpPr>
        <p:spPr>
          <a:xfrm rot="5400000" flipH="1" flipV="1">
            <a:off x="7277100" y="1116568"/>
            <a:ext cx="11430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连接符 143"/>
          <p:cNvCxnSpPr/>
          <p:nvPr/>
        </p:nvCxnSpPr>
        <p:spPr>
          <a:xfrm rot="10800000">
            <a:off x="609600" y="545068"/>
            <a:ext cx="72390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箭头连接符 145"/>
          <p:cNvCxnSpPr>
            <a:endCxn id="5" idx="0"/>
          </p:cNvCxnSpPr>
          <p:nvPr/>
        </p:nvCxnSpPr>
        <p:spPr>
          <a:xfrm rot="5400000">
            <a:off x="-495300" y="1649968"/>
            <a:ext cx="2209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连接符 152"/>
          <p:cNvCxnSpPr/>
          <p:nvPr/>
        </p:nvCxnSpPr>
        <p:spPr>
          <a:xfrm rot="10800000">
            <a:off x="3505200" y="5345668"/>
            <a:ext cx="51816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箭头连接符 155"/>
          <p:cNvCxnSpPr>
            <a:endCxn id="68" idx="2"/>
          </p:cNvCxnSpPr>
          <p:nvPr/>
        </p:nvCxnSpPr>
        <p:spPr>
          <a:xfrm rot="5400000" flipH="1" flipV="1">
            <a:off x="3352006" y="5193268"/>
            <a:ext cx="305594" cy="7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/>
          <p:cNvCxnSpPr/>
          <p:nvPr/>
        </p:nvCxnSpPr>
        <p:spPr>
          <a:xfrm rot="5400000">
            <a:off x="4001294" y="4697968"/>
            <a:ext cx="837406" cy="79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接连接符 175"/>
          <p:cNvCxnSpPr/>
          <p:nvPr/>
        </p:nvCxnSpPr>
        <p:spPr>
          <a:xfrm>
            <a:off x="4419600" y="5117068"/>
            <a:ext cx="29718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箭头连接符 178"/>
          <p:cNvCxnSpPr>
            <a:endCxn id="105" idx="2"/>
          </p:cNvCxnSpPr>
          <p:nvPr/>
        </p:nvCxnSpPr>
        <p:spPr>
          <a:xfrm rot="5400000" flipH="1" flipV="1">
            <a:off x="7047706" y="4774168"/>
            <a:ext cx="686594" cy="7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等腰三角形 179"/>
          <p:cNvSpPr/>
          <p:nvPr/>
        </p:nvSpPr>
        <p:spPr>
          <a:xfrm rot="5400000">
            <a:off x="7773924" y="22199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2" name="直接箭头连接符 181"/>
          <p:cNvCxnSpPr/>
          <p:nvPr/>
        </p:nvCxnSpPr>
        <p:spPr>
          <a:xfrm>
            <a:off x="7772400" y="2831068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接箭头连接符 185"/>
          <p:cNvCxnSpPr>
            <a:endCxn id="180" idx="3"/>
          </p:cNvCxnSpPr>
          <p:nvPr/>
        </p:nvCxnSpPr>
        <p:spPr>
          <a:xfrm flipV="1">
            <a:off x="6705600" y="2447020"/>
            <a:ext cx="1371600" cy="304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接连接符 192"/>
          <p:cNvCxnSpPr/>
          <p:nvPr/>
        </p:nvCxnSpPr>
        <p:spPr>
          <a:xfrm rot="5400000">
            <a:off x="7658100" y="1878568"/>
            <a:ext cx="3810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接箭头连接符 194"/>
          <p:cNvCxnSpPr/>
          <p:nvPr/>
        </p:nvCxnSpPr>
        <p:spPr>
          <a:xfrm>
            <a:off x="7848600" y="2069068"/>
            <a:ext cx="2286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连接符 196"/>
          <p:cNvCxnSpPr>
            <a:stCxn id="180" idx="0"/>
          </p:cNvCxnSpPr>
          <p:nvPr/>
        </p:nvCxnSpPr>
        <p:spPr>
          <a:xfrm>
            <a:off x="8531352" y="2447020"/>
            <a:ext cx="155448" cy="304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连接符 198"/>
          <p:cNvCxnSpPr/>
          <p:nvPr/>
        </p:nvCxnSpPr>
        <p:spPr>
          <a:xfrm rot="5400000">
            <a:off x="7239000" y="3897868"/>
            <a:ext cx="28956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/>
          <p:cNvSpPr txBox="1"/>
          <p:nvPr/>
        </p:nvSpPr>
        <p:spPr>
          <a:xfrm>
            <a:off x="4419600" y="252626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Rs</a:t>
            </a:r>
            <a:endParaRPr lang="zh-CN" altLang="en-US" dirty="0"/>
          </a:p>
        </p:txBody>
      </p:sp>
      <p:sp>
        <p:nvSpPr>
          <p:cNvPr id="204" name="TextBox 203"/>
          <p:cNvSpPr txBox="1"/>
          <p:nvPr/>
        </p:nvSpPr>
        <p:spPr>
          <a:xfrm>
            <a:off x="4419600" y="38978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Rt</a:t>
            </a:r>
            <a:endParaRPr lang="zh-CN" altLang="en-US" dirty="0"/>
          </a:p>
        </p:txBody>
      </p:sp>
      <p:sp>
        <p:nvSpPr>
          <p:cNvPr id="205" name="TextBox 204"/>
          <p:cNvSpPr txBox="1"/>
          <p:nvPr/>
        </p:nvSpPr>
        <p:spPr>
          <a:xfrm>
            <a:off x="2971800" y="5040868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Rd</a:t>
            </a:r>
            <a:endParaRPr lang="zh-CN" altLang="en-US" dirty="0"/>
          </a:p>
        </p:txBody>
      </p:sp>
      <p:sp>
        <p:nvSpPr>
          <p:cNvPr id="206" name="TextBox 205"/>
          <p:cNvSpPr txBox="1"/>
          <p:nvPr/>
        </p:nvSpPr>
        <p:spPr>
          <a:xfrm>
            <a:off x="4038600" y="5802868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Imm</a:t>
            </a:r>
            <a:endParaRPr lang="zh-CN" altLang="en-US" dirty="0"/>
          </a:p>
        </p:txBody>
      </p:sp>
      <p:cxnSp>
        <p:nvCxnSpPr>
          <p:cNvPr id="223" name="直接箭头连接符 222"/>
          <p:cNvCxnSpPr/>
          <p:nvPr/>
        </p:nvCxnSpPr>
        <p:spPr>
          <a:xfrm>
            <a:off x="2286000" y="3960812"/>
            <a:ext cx="457200" cy="158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066800" y="6248400"/>
            <a:ext cx="6968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执行指令</a:t>
            </a:r>
            <a:r>
              <a:rPr lang="en-US" altLang="zh-CN" dirty="0"/>
              <a:t>add  $s0, $s1, $s2</a:t>
            </a:r>
            <a:r>
              <a:rPr lang="zh-CN" altLang="en-US" dirty="0"/>
              <a:t>   从寄存器堆读（</a:t>
            </a:r>
            <a:r>
              <a:rPr lang="en-US" altLang="zh-CN" dirty="0"/>
              <a:t>RD</a:t>
            </a:r>
            <a:r>
              <a:rPr lang="zh-CN" altLang="en-US" dirty="0"/>
              <a:t>）、运算（</a:t>
            </a:r>
            <a:r>
              <a:rPr lang="en-US" altLang="zh-CN" dirty="0"/>
              <a:t>ALU</a:t>
            </a:r>
            <a:r>
              <a:rPr lang="zh-CN" altLang="en-US" dirty="0"/>
              <a:t>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200" y="5562600"/>
            <a:ext cx="91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000000</a:t>
            </a:r>
            <a:endParaRPr lang="zh-CN" altLang="en-US" sz="1600" dirty="0"/>
          </a:p>
        </p:txBody>
      </p:sp>
      <p:sp>
        <p:nvSpPr>
          <p:cNvPr id="56" name="TextBox 55"/>
          <p:cNvSpPr txBox="1"/>
          <p:nvPr/>
        </p:nvSpPr>
        <p:spPr>
          <a:xfrm>
            <a:off x="798445" y="5562600"/>
            <a:ext cx="8017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10001</a:t>
            </a:r>
            <a:endParaRPr lang="zh-CN" altLang="en-US" sz="1600" dirty="0"/>
          </a:p>
        </p:txBody>
      </p:sp>
      <p:sp>
        <p:nvSpPr>
          <p:cNvPr id="58" name="TextBox 57"/>
          <p:cNvSpPr txBox="1"/>
          <p:nvPr/>
        </p:nvSpPr>
        <p:spPr>
          <a:xfrm>
            <a:off x="1371600" y="5562600"/>
            <a:ext cx="838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10010</a:t>
            </a:r>
            <a:endParaRPr lang="zh-CN" altLang="en-US" sz="1600" dirty="0"/>
          </a:p>
        </p:txBody>
      </p:sp>
      <p:sp>
        <p:nvSpPr>
          <p:cNvPr id="59" name="TextBox 58"/>
          <p:cNvSpPr txBox="1"/>
          <p:nvPr/>
        </p:nvSpPr>
        <p:spPr>
          <a:xfrm>
            <a:off x="1981200" y="5562600"/>
            <a:ext cx="838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10000</a:t>
            </a:r>
            <a:endParaRPr lang="zh-CN" altLang="en-US" sz="1600" dirty="0"/>
          </a:p>
        </p:txBody>
      </p:sp>
      <p:sp>
        <p:nvSpPr>
          <p:cNvPr id="60" name="TextBox 59"/>
          <p:cNvSpPr txBox="1"/>
          <p:nvPr/>
        </p:nvSpPr>
        <p:spPr>
          <a:xfrm>
            <a:off x="2590800" y="5562600"/>
            <a:ext cx="76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00000</a:t>
            </a:r>
            <a:endParaRPr lang="zh-CN" altLang="en-US" sz="1600" dirty="0"/>
          </a:p>
        </p:txBody>
      </p:sp>
      <p:sp>
        <p:nvSpPr>
          <p:cNvPr id="61" name="TextBox 60"/>
          <p:cNvSpPr txBox="1"/>
          <p:nvPr/>
        </p:nvSpPr>
        <p:spPr>
          <a:xfrm>
            <a:off x="3200400" y="5562600"/>
            <a:ext cx="91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100000</a:t>
            </a:r>
            <a:endParaRPr lang="zh-CN" altLang="en-US" sz="1600" dirty="0"/>
          </a:p>
        </p:txBody>
      </p:sp>
      <p:cxnSp>
        <p:nvCxnSpPr>
          <p:cNvPr id="77" name="肘形连接符 76"/>
          <p:cNvCxnSpPr/>
          <p:nvPr/>
        </p:nvCxnSpPr>
        <p:spPr>
          <a:xfrm flipV="1">
            <a:off x="3962400" y="4659868"/>
            <a:ext cx="1143000" cy="1131332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7" name="表格 86"/>
          <p:cNvGraphicFramePr>
            <a:graphicFrameLocks noGrp="1"/>
          </p:cNvGraphicFramePr>
          <p:nvPr/>
        </p:nvGraphicFramePr>
        <p:xfrm>
          <a:off x="2743200" y="1676400"/>
          <a:ext cx="1524000" cy="333248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$0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$16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$3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$19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$4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$20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$5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$21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$6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$22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$7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$23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$8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$24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$9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$25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$10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$26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$11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$27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$12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$28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$13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$29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$14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$30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$15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$31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89" name="TextBox 88"/>
          <p:cNvSpPr txBox="1"/>
          <p:nvPr/>
        </p:nvSpPr>
        <p:spPr>
          <a:xfrm>
            <a:off x="3429000" y="1828800"/>
            <a:ext cx="9797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00000001</a:t>
            </a:r>
            <a:endParaRPr lang="zh-CN" altLang="en-US" sz="1400" dirty="0"/>
          </a:p>
        </p:txBody>
      </p:sp>
      <p:sp>
        <p:nvSpPr>
          <p:cNvPr id="91" name="TextBox 90"/>
          <p:cNvSpPr txBox="1"/>
          <p:nvPr/>
        </p:nvSpPr>
        <p:spPr>
          <a:xfrm>
            <a:off x="3429000" y="2057400"/>
            <a:ext cx="9797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00000002</a:t>
            </a:r>
            <a:endParaRPr lang="zh-CN" altLang="en-US" sz="1400" dirty="0"/>
          </a:p>
        </p:txBody>
      </p:sp>
      <p:sp>
        <p:nvSpPr>
          <p:cNvPr id="95" name="TextBox 94"/>
          <p:cNvSpPr txBox="1"/>
          <p:nvPr/>
        </p:nvSpPr>
        <p:spPr>
          <a:xfrm>
            <a:off x="5943600" y="3276600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00000003</a:t>
            </a:r>
            <a:endParaRPr lang="zh-CN" altLang="en-US" sz="1400" dirty="0"/>
          </a:p>
        </p:txBody>
      </p:sp>
      <p:sp>
        <p:nvSpPr>
          <p:cNvPr id="96" name="TextBox 95"/>
          <p:cNvSpPr txBox="1"/>
          <p:nvPr/>
        </p:nvSpPr>
        <p:spPr>
          <a:xfrm>
            <a:off x="798445" y="5562600"/>
            <a:ext cx="8017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10001</a:t>
            </a:r>
            <a:endParaRPr lang="zh-CN" altLang="en-US" sz="1600" dirty="0"/>
          </a:p>
        </p:txBody>
      </p:sp>
      <p:sp>
        <p:nvSpPr>
          <p:cNvPr id="97" name="TextBox 96"/>
          <p:cNvSpPr txBox="1"/>
          <p:nvPr/>
        </p:nvSpPr>
        <p:spPr>
          <a:xfrm>
            <a:off x="1371600" y="5562600"/>
            <a:ext cx="838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10010</a:t>
            </a:r>
            <a:endParaRPr lang="zh-CN" altLang="en-US" sz="1600" dirty="0"/>
          </a:p>
        </p:txBody>
      </p:sp>
      <p:sp>
        <p:nvSpPr>
          <p:cNvPr id="98" name="TextBox 97"/>
          <p:cNvSpPr txBox="1"/>
          <p:nvPr/>
        </p:nvSpPr>
        <p:spPr>
          <a:xfrm>
            <a:off x="3657600" y="1828800"/>
            <a:ext cx="685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Consolas" pitchFamily="49" charset="0"/>
              </a:rPr>
              <a:t>$17</a:t>
            </a:r>
            <a:endParaRPr lang="zh-CN" altLang="en-US" sz="1400" dirty="0">
              <a:latin typeface="Consolas" pitchFamily="49" charset="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3657600" y="2057400"/>
            <a:ext cx="685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Consolas" pitchFamily="49" charset="0"/>
              </a:rPr>
              <a:t>$18</a:t>
            </a:r>
            <a:endParaRPr lang="zh-CN" altLang="en-US" sz="1400" dirty="0">
              <a:latin typeface="Consolas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6" dur="1000" tmFilter="0, 0; .2, .5; .8, .5; 1, 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500" autoRev="1" fill="hold"/>
                                        <p:tgtEl>
                                          <p:spTgt spid="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1.76035E-6 L 0.11493 -0.12862 L 0.11597 -0.47976 L 0.13559 -0.47976 " pathEditMode="relative" rAng="0" ptsTypes="AAAA">
                                      <p:cBhvr>
                                        <p:cTn id="10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800" y="-24000"/>
                                    </p:animMotion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76035E-6 L 0.05452 -0.05991 L 0.05295 -0.37983 L 0.07084 -0.37983 " pathEditMode="relative" rAng="0" ptsTypes="AAAA">
                                      <p:cBhvr>
                                        <p:cTn id="12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00" y="-19000"/>
                                    </p:animMotion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C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" dur="2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CC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0"/>
                            </p:stCondLst>
                            <p:childTnLst>
                              <p:par>
                                <p:cTn id="19" presetID="3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0"/>
                            </p:stCondLst>
                            <p:childTnLst>
                              <p:par>
                                <p:cTn id="26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1.58917E-6 L 0.04844 0.05575 L 0.08681 0.05575 " pathEditMode="relative" rAng="0" ptsTypes="AAA">
                                      <p:cBhvr>
                                        <p:cTn id="27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00" y="2800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6.7083E-8 L 0.05156 0.28614 L 0.08889 0.2873 " pathEditMode="relative" rAng="0" ptsTypes="AAA">
                                      <p:cBhvr>
                                        <p:cTn id="29" dur="2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00" y="14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68 0.05575 L 0.13819 0.05459 L 0.17986 0.03817 L 0.22951 0.03817 " pathEditMode="relative" rAng="0" ptsTypes="AAAA">
                                      <p:cBhvr>
                                        <p:cTn id="33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100" y="-900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889 0.2873 L 0.13246 0.2873 L 0.18281 0.30928 L 0.22812 0.30928 " pathEditMode="relative" rAng="0" ptsTypes="AAAA">
                                      <p:cBhvr>
                                        <p:cTn id="35" dur="2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000" y="1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 tmFilter="0, 0; .2, .5; .8, .5; 1, 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500" autoRev="1" fill="hold"/>
                                        <p:tgtEl>
                                          <p:spTgt spid="6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27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1000" autoRev="1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3" dur="1000" autoRev="1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" dur="1000" autoRev="1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" dur="1000" autoRev="1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0"/>
                            </p:stCondLst>
                            <p:childTnLst>
                              <p:par>
                                <p:cTn id="47" presetID="3" presetClass="exit" presetSubtype="1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8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3" presetClass="exit" presetSubtype="1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1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000"/>
                            </p:stCondLst>
                            <p:childTnLst>
                              <p:par>
                                <p:cTn id="5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nimBg="1"/>
      <p:bldP spid="53" grpId="0"/>
      <p:bldP spid="56" grpId="0"/>
      <p:bldP spid="58" grpId="0"/>
      <p:bldP spid="61" grpId="0"/>
      <p:bldP spid="89" grpId="0"/>
      <p:bldP spid="89" grpId="1"/>
      <p:bldP spid="89" grpId="2"/>
      <p:bldP spid="89" grpId="3"/>
      <p:bldP spid="91" grpId="0"/>
      <p:bldP spid="91" grpId="1"/>
      <p:bldP spid="91" grpId="2"/>
      <p:bldP spid="91" grpId="3"/>
      <p:bldP spid="95" grpId="0"/>
      <p:bldP spid="98" grpId="0"/>
      <p:bldP spid="9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28600" y="2754868"/>
            <a:ext cx="762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PC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371600" y="2602468"/>
            <a:ext cx="7620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指令缓存</a:t>
            </a:r>
          </a:p>
        </p:txBody>
      </p:sp>
      <p:sp>
        <p:nvSpPr>
          <p:cNvPr id="24" name="任意多边形 23"/>
          <p:cNvSpPr/>
          <p:nvPr/>
        </p:nvSpPr>
        <p:spPr>
          <a:xfrm>
            <a:off x="1371600" y="773668"/>
            <a:ext cx="509587" cy="1614487"/>
          </a:xfrm>
          <a:custGeom>
            <a:avLst/>
            <a:gdLst>
              <a:gd name="connsiteX0" fmla="*/ 0 w 509587"/>
              <a:gd name="connsiteY0" fmla="*/ 0 h 1614487"/>
              <a:gd name="connsiteX1" fmla="*/ 504825 w 509587"/>
              <a:gd name="connsiteY1" fmla="*/ 347662 h 1614487"/>
              <a:gd name="connsiteX2" fmla="*/ 509587 w 509587"/>
              <a:gd name="connsiteY2" fmla="*/ 1304925 h 1614487"/>
              <a:gd name="connsiteX3" fmla="*/ 0 w 509587"/>
              <a:gd name="connsiteY3" fmla="*/ 1614487 h 1614487"/>
              <a:gd name="connsiteX4" fmla="*/ 0 w 509587"/>
              <a:gd name="connsiteY4" fmla="*/ 1138237 h 1614487"/>
              <a:gd name="connsiteX5" fmla="*/ 100012 w 509587"/>
              <a:gd name="connsiteY5" fmla="*/ 1071562 h 1614487"/>
              <a:gd name="connsiteX6" fmla="*/ 100012 w 509587"/>
              <a:gd name="connsiteY6" fmla="*/ 642937 h 1614487"/>
              <a:gd name="connsiteX7" fmla="*/ 0 w 509587"/>
              <a:gd name="connsiteY7" fmla="*/ 557212 h 1614487"/>
              <a:gd name="connsiteX8" fmla="*/ 0 w 509587"/>
              <a:gd name="connsiteY8" fmla="*/ 0 h 1614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9587" h="1614487">
                <a:moveTo>
                  <a:pt x="0" y="0"/>
                </a:moveTo>
                <a:lnTo>
                  <a:pt x="504825" y="347662"/>
                </a:lnTo>
                <a:cubicBezTo>
                  <a:pt x="506412" y="666750"/>
                  <a:pt x="508000" y="985837"/>
                  <a:pt x="509587" y="1304925"/>
                </a:cubicBezTo>
                <a:lnTo>
                  <a:pt x="0" y="1614487"/>
                </a:lnTo>
                <a:lnTo>
                  <a:pt x="0" y="1138237"/>
                </a:lnTo>
                <a:lnTo>
                  <a:pt x="100012" y="1071562"/>
                </a:lnTo>
                <a:lnTo>
                  <a:pt x="100012" y="642937"/>
                </a:lnTo>
                <a:lnTo>
                  <a:pt x="0" y="55721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加法器</a:t>
            </a:r>
          </a:p>
        </p:txBody>
      </p:sp>
      <p:sp>
        <p:nvSpPr>
          <p:cNvPr id="48" name="直角上箭头 47"/>
          <p:cNvSpPr/>
          <p:nvPr/>
        </p:nvSpPr>
        <p:spPr>
          <a:xfrm rot="16200000" flipV="1">
            <a:off x="800100" y="2411968"/>
            <a:ext cx="914400" cy="228600"/>
          </a:xfrm>
          <a:prstGeom prst="bentUpArrow">
            <a:avLst>
              <a:gd name="adj1" fmla="val 0"/>
              <a:gd name="adj2" fmla="val 25000"/>
              <a:gd name="adj3" fmla="val 25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1" name="直接箭头连接符 50"/>
          <p:cNvCxnSpPr>
            <a:stCxn id="5" idx="3"/>
          </p:cNvCxnSpPr>
          <p:nvPr/>
        </p:nvCxnSpPr>
        <p:spPr>
          <a:xfrm>
            <a:off x="990600" y="2983468"/>
            <a:ext cx="381000" cy="1588"/>
          </a:xfrm>
          <a:prstGeom prst="straightConnector1">
            <a:avLst/>
          </a:prstGeom>
          <a:ln w="254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>
            <a:off x="1066800" y="1078468"/>
            <a:ext cx="304800" cy="1588"/>
          </a:xfrm>
          <a:prstGeom prst="straightConnector1">
            <a:avLst/>
          </a:prstGeom>
          <a:ln w="254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62000" y="849868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7" name="矩形 56"/>
          <p:cNvSpPr/>
          <p:nvPr/>
        </p:nvSpPr>
        <p:spPr>
          <a:xfrm>
            <a:off x="152400" y="5574267"/>
            <a:ext cx="3886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5" name="直接箭头连接符 64"/>
          <p:cNvCxnSpPr/>
          <p:nvPr/>
        </p:nvCxnSpPr>
        <p:spPr>
          <a:xfrm rot="5400000">
            <a:off x="1181497" y="5002371"/>
            <a:ext cx="1143000" cy="7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/>
          <p:cNvSpPr/>
          <p:nvPr/>
        </p:nvSpPr>
        <p:spPr>
          <a:xfrm>
            <a:off x="2743200" y="1676400"/>
            <a:ext cx="1524000" cy="33644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1" name="直接连接符 70"/>
          <p:cNvCxnSpPr/>
          <p:nvPr/>
        </p:nvCxnSpPr>
        <p:spPr>
          <a:xfrm rot="5400000" flipH="1" flipV="1">
            <a:off x="800100" y="4088368"/>
            <a:ext cx="2971800" cy="1588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>
            <a:off x="2286000" y="2602468"/>
            <a:ext cx="457200" cy="158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>
            <a:off x="2286000" y="3276600"/>
            <a:ext cx="457200" cy="158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等腰三角形 77"/>
          <p:cNvSpPr/>
          <p:nvPr/>
        </p:nvSpPr>
        <p:spPr>
          <a:xfrm rot="5400000">
            <a:off x="4802124" y="21437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等腰三角形 78"/>
          <p:cNvSpPr/>
          <p:nvPr/>
        </p:nvSpPr>
        <p:spPr>
          <a:xfrm rot="5400000">
            <a:off x="4802124" y="42011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1" name="肘形连接符 80"/>
          <p:cNvCxnSpPr/>
          <p:nvPr/>
        </p:nvCxnSpPr>
        <p:spPr>
          <a:xfrm>
            <a:off x="1905000" y="1535668"/>
            <a:ext cx="3200400" cy="609600"/>
          </a:xfrm>
          <a:prstGeom prst="bentConnector3">
            <a:avLst>
              <a:gd name="adj1" fmla="val 83894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/>
          <p:cNvCxnSpPr/>
          <p:nvPr/>
        </p:nvCxnSpPr>
        <p:spPr>
          <a:xfrm>
            <a:off x="4267200" y="2526268"/>
            <a:ext cx="8382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/>
          <p:cNvCxnSpPr/>
          <p:nvPr/>
        </p:nvCxnSpPr>
        <p:spPr>
          <a:xfrm>
            <a:off x="4267200" y="4278868"/>
            <a:ext cx="8382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任意多边形 99"/>
          <p:cNvSpPr/>
          <p:nvPr/>
        </p:nvSpPr>
        <p:spPr>
          <a:xfrm>
            <a:off x="5867400" y="1992868"/>
            <a:ext cx="609600" cy="2895600"/>
          </a:xfrm>
          <a:custGeom>
            <a:avLst/>
            <a:gdLst>
              <a:gd name="connsiteX0" fmla="*/ 0 w 509587"/>
              <a:gd name="connsiteY0" fmla="*/ 0 h 1614487"/>
              <a:gd name="connsiteX1" fmla="*/ 504825 w 509587"/>
              <a:gd name="connsiteY1" fmla="*/ 347662 h 1614487"/>
              <a:gd name="connsiteX2" fmla="*/ 509587 w 509587"/>
              <a:gd name="connsiteY2" fmla="*/ 1304925 h 1614487"/>
              <a:gd name="connsiteX3" fmla="*/ 0 w 509587"/>
              <a:gd name="connsiteY3" fmla="*/ 1614487 h 1614487"/>
              <a:gd name="connsiteX4" fmla="*/ 0 w 509587"/>
              <a:gd name="connsiteY4" fmla="*/ 1138237 h 1614487"/>
              <a:gd name="connsiteX5" fmla="*/ 100012 w 509587"/>
              <a:gd name="connsiteY5" fmla="*/ 1071562 h 1614487"/>
              <a:gd name="connsiteX6" fmla="*/ 100012 w 509587"/>
              <a:gd name="connsiteY6" fmla="*/ 642937 h 1614487"/>
              <a:gd name="connsiteX7" fmla="*/ 0 w 509587"/>
              <a:gd name="connsiteY7" fmla="*/ 557212 h 1614487"/>
              <a:gd name="connsiteX8" fmla="*/ 0 w 509587"/>
              <a:gd name="connsiteY8" fmla="*/ 0 h 1614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9587" h="1614487">
                <a:moveTo>
                  <a:pt x="0" y="0"/>
                </a:moveTo>
                <a:lnTo>
                  <a:pt x="504825" y="347662"/>
                </a:lnTo>
                <a:cubicBezTo>
                  <a:pt x="506412" y="666750"/>
                  <a:pt x="508000" y="985837"/>
                  <a:pt x="509587" y="1304925"/>
                </a:cubicBezTo>
                <a:lnTo>
                  <a:pt x="0" y="1614487"/>
                </a:lnTo>
                <a:lnTo>
                  <a:pt x="0" y="1138237"/>
                </a:lnTo>
                <a:lnTo>
                  <a:pt x="100012" y="1071562"/>
                </a:lnTo>
                <a:lnTo>
                  <a:pt x="100012" y="642937"/>
                </a:lnTo>
                <a:lnTo>
                  <a:pt x="0" y="55721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运算器</a:t>
            </a:r>
          </a:p>
        </p:txBody>
      </p:sp>
      <p:cxnSp>
        <p:nvCxnSpPr>
          <p:cNvPr id="102" name="直接箭头连接符 101"/>
          <p:cNvCxnSpPr>
            <a:stCxn id="78" idx="0"/>
          </p:cNvCxnSpPr>
          <p:nvPr/>
        </p:nvCxnSpPr>
        <p:spPr>
          <a:xfrm>
            <a:off x="5559552" y="2370820"/>
            <a:ext cx="307848" cy="304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/>
          <p:cNvCxnSpPr/>
          <p:nvPr/>
        </p:nvCxnSpPr>
        <p:spPr>
          <a:xfrm>
            <a:off x="5562600" y="4431268"/>
            <a:ext cx="307848" cy="304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矩形 104"/>
          <p:cNvSpPr/>
          <p:nvPr/>
        </p:nvSpPr>
        <p:spPr>
          <a:xfrm>
            <a:off x="7010400" y="2602468"/>
            <a:ext cx="7620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数据缓存</a:t>
            </a:r>
          </a:p>
        </p:txBody>
      </p:sp>
      <p:cxnSp>
        <p:nvCxnSpPr>
          <p:cNvPr id="107" name="直接箭头连接符 106"/>
          <p:cNvCxnSpPr>
            <a:endCxn id="105" idx="1"/>
          </p:cNvCxnSpPr>
          <p:nvPr/>
        </p:nvCxnSpPr>
        <p:spPr>
          <a:xfrm>
            <a:off x="6477000" y="3516868"/>
            <a:ext cx="5334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等腰三角形 109"/>
          <p:cNvSpPr/>
          <p:nvPr/>
        </p:nvSpPr>
        <p:spPr>
          <a:xfrm rot="5400000">
            <a:off x="6783324" y="14579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2" name="直接箭头连接符 111"/>
          <p:cNvCxnSpPr/>
          <p:nvPr/>
        </p:nvCxnSpPr>
        <p:spPr>
          <a:xfrm>
            <a:off x="4572000" y="1535668"/>
            <a:ext cx="25146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/>
          <p:cNvCxnSpPr/>
          <p:nvPr/>
        </p:nvCxnSpPr>
        <p:spPr>
          <a:xfrm rot="5400000" flipH="1" flipV="1">
            <a:off x="5906294" y="2716768"/>
            <a:ext cx="1599406" cy="79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117"/>
          <p:cNvCxnSpPr/>
          <p:nvPr/>
        </p:nvCxnSpPr>
        <p:spPr>
          <a:xfrm>
            <a:off x="6705600" y="1916668"/>
            <a:ext cx="3810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连接符 135"/>
          <p:cNvCxnSpPr>
            <a:stCxn id="110" idx="0"/>
          </p:cNvCxnSpPr>
          <p:nvPr/>
        </p:nvCxnSpPr>
        <p:spPr>
          <a:xfrm>
            <a:off x="7540752" y="1685020"/>
            <a:ext cx="307848" cy="304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连接符 140"/>
          <p:cNvCxnSpPr/>
          <p:nvPr/>
        </p:nvCxnSpPr>
        <p:spPr>
          <a:xfrm rot="5400000" flipH="1" flipV="1">
            <a:off x="7277100" y="1116568"/>
            <a:ext cx="11430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连接符 143"/>
          <p:cNvCxnSpPr/>
          <p:nvPr/>
        </p:nvCxnSpPr>
        <p:spPr>
          <a:xfrm rot="10800000">
            <a:off x="609600" y="545068"/>
            <a:ext cx="72390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箭头连接符 145"/>
          <p:cNvCxnSpPr>
            <a:endCxn id="5" idx="0"/>
          </p:cNvCxnSpPr>
          <p:nvPr/>
        </p:nvCxnSpPr>
        <p:spPr>
          <a:xfrm rot="5400000">
            <a:off x="-495300" y="1649968"/>
            <a:ext cx="2209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连接符 152"/>
          <p:cNvCxnSpPr/>
          <p:nvPr/>
        </p:nvCxnSpPr>
        <p:spPr>
          <a:xfrm rot="10800000">
            <a:off x="3505200" y="5345668"/>
            <a:ext cx="51816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箭头连接符 155"/>
          <p:cNvCxnSpPr>
            <a:endCxn id="68" idx="2"/>
          </p:cNvCxnSpPr>
          <p:nvPr/>
        </p:nvCxnSpPr>
        <p:spPr>
          <a:xfrm rot="5400000" flipH="1" flipV="1">
            <a:off x="3352006" y="5193268"/>
            <a:ext cx="305594" cy="7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/>
          <p:cNvCxnSpPr/>
          <p:nvPr/>
        </p:nvCxnSpPr>
        <p:spPr>
          <a:xfrm rot="5400000">
            <a:off x="4001294" y="4697968"/>
            <a:ext cx="837406" cy="79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接连接符 175"/>
          <p:cNvCxnSpPr/>
          <p:nvPr/>
        </p:nvCxnSpPr>
        <p:spPr>
          <a:xfrm>
            <a:off x="4419600" y="5117068"/>
            <a:ext cx="29718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箭头连接符 178"/>
          <p:cNvCxnSpPr>
            <a:endCxn id="105" idx="2"/>
          </p:cNvCxnSpPr>
          <p:nvPr/>
        </p:nvCxnSpPr>
        <p:spPr>
          <a:xfrm rot="5400000" flipH="1" flipV="1">
            <a:off x="7047706" y="4774168"/>
            <a:ext cx="686594" cy="7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等腰三角形 179"/>
          <p:cNvSpPr/>
          <p:nvPr/>
        </p:nvSpPr>
        <p:spPr>
          <a:xfrm rot="5400000">
            <a:off x="7773924" y="22199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2" name="直接箭头连接符 181"/>
          <p:cNvCxnSpPr/>
          <p:nvPr/>
        </p:nvCxnSpPr>
        <p:spPr>
          <a:xfrm>
            <a:off x="7772400" y="2831068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接箭头连接符 185"/>
          <p:cNvCxnSpPr>
            <a:endCxn id="180" idx="3"/>
          </p:cNvCxnSpPr>
          <p:nvPr/>
        </p:nvCxnSpPr>
        <p:spPr>
          <a:xfrm flipV="1">
            <a:off x="6705600" y="2447020"/>
            <a:ext cx="1371600" cy="304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接连接符 192"/>
          <p:cNvCxnSpPr/>
          <p:nvPr/>
        </p:nvCxnSpPr>
        <p:spPr>
          <a:xfrm rot="5400000">
            <a:off x="7658100" y="1878568"/>
            <a:ext cx="3810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接箭头连接符 194"/>
          <p:cNvCxnSpPr/>
          <p:nvPr/>
        </p:nvCxnSpPr>
        <p:spPr>
          <a:xfrm>
            <a:off x="7848600" y="2069068"/>
            <a:ext cx="2286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连接符 196"/>
          <p:cNvCxnSpPr>
            <a:stCxn id="180" idx="0"/>
          </p:cNvCxnSpPr>
          <p:nvPr/>
        </p:nvCxnSpPr>
        <p:spPr>
          <a:xfrm>
            <a:off x="8531352" y="2447020"/>
            <a:ext cx="155448" cy="304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连接符 198"/>
          <p:cNvCxnSpPr/>
          <p:nvPr/>
        </p:nvCxnSpPr>
        <p:spPr>
          <a:xfrm rot="5400000">
            <a:off x="7239000" y="3897868"/>
            <a:ext cx="28956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/>
          <p:cNvSpPr txBox="1"/>
          <p:nvPr/>
        </p:nvSpPr>
        <p:spPr>
          <a:xfrm>
            <a:off x="4419600" y="252626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Rs</a:t>
            </a:r>
            <a:endParaRPr lang="zh-CN" altLang="en-US" dirty="0"/>
          </a:p>
        </p:txBody>
      </p:sp>
      <p:sp>
        <p:nvSpPr>
          <p:cNvPr id="204" name="TextBox 203"/>
          <p:cNvSpPr txBox="1"/>
          <p:nvPr/>
        </p:nvSpPr>
        <p:spPr>
          <a:xfrm>
            <a:off x="4419600" y="38978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Rt</a:t>
            </a:r>
            <a:endParaRPr lang="zh-CN" altLang="en-US" dirty="0"/>
          </a:p>
        </p:txBody>
      </p:sp>
      <p:sp>
        <p:nvSpPr>
          <p:cNvPr id="205" name="TextBox 204"/>
          <p:cNvSpPr txBox="1"/>
          <p:nvPr/>
        </p:nvSpPr>
        <p:spPr>
          <a:xfrm>
            <a:off x="2971800" y="5040868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Rd</a:t>
            </a:r>
            <a:endParaRPr lang="zh-CN" altLang="en-US" dirty="0"/>
          </a:p>
        </p:txBody>
      </p:sp>
      <p:sp>
        <p:nvSpPr>
          <p:cNvPr id="206" name="TextBox 205"/>
          <p:cNvSpPr txBox="1"/>
          <p:nvPr/>
        </p:nvSpPr>
        <p:spPr>
          <a:xfrm>
            <a:off x="4038600" y="5802868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Imm</a:t>
            </a:r>
            <a:endParaRPr lang="zh-CN" altLang="en-US" dirty="0"/>
          </a:p>
        </p:txBody>
      </p:sp>
      <p:cxnSp>
        <p:nvCxnSpPr>
          <p:cNvPr id="223" name="直接箭头连接符 222"/>
          <p:cNvCxnSpPr/>
          <p:nvPr/>
        </p:nvCxnSpPr>
        <p:spPr>
          <a:xfrm>
            <a:off x="2286000" y="3960812"/>
            <a:ext cx="457200" cy="158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066800" y="6248400"/>
            <a:ext cx="7096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执行指令</a:t>
            </a:r>
            <a:r>
              <a:rPr lang="en-US" altLang="zh-CN" dirty="0"/>
              <a:t>add  $s0, $s1, $s2</a:t>
            </a:r>
            <a:r>
              <a:rPr lang="zh-CN" altLang="en-US" dirty="0"/>
              <a:t>   访问数据缓存（</a:t>
            </a:r>
            <a:r>
              <a:rPr lang="en-US" altLang="zh-CN" dirty="0"/>
              <a:t>MEM</a:t>
            </a:r>
            <a:r>
              <a:rPr lang="zh-CN" altLang="en-US" dirty="0"/>
              <a:t>）、回写（</a:t>
            </a:r>
            <a:r>
              <a:rPr lang="en-US" altLang="zh-CN" dirty="0"/>
              <a:t>WB</a:t>
            </a:r>
            <a:r>
              <a:rPr lang="zh-CN" altLang="en-US" dirty="0"/>
              <a:t>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200" y="5562600"/>
            <a:ext cx="91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000000</a:t>
            </a:r>
            <a:endParaRPr lang="zh-CN" altLang="en-US" sz="1600" dirty="0"/>
          </a:p>
        </p:txBody>
      </p:sp>
      <p:sp>
        <p:nvSpPr>
          <p:cNvPr id="56" name="TextBox 55"/>
          <p:cNvSpPr txBox="1"/>
          <p:nvPr/>
        </p:nvSpPr>
        <p:spPr>
          <a:xfrm>
            <a:off x="798445" y="5562600"/>
            <a:ext cx="8017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10001</a:t>
            </a:r>
            <a:endParaRPr lang="zh-CN" altLang="en-US" sz="1600" dirty="0"/>
          </a:p>
        </p:txBody>
      </p:sp>
      <p:sp>
        <p:nvSpPr>
          <p:cNvPr id="58" name="TextBox 57"/>
          <p:cNvSpPr txBox="1"/>
          <p:nvPr/>
        </p:nvSpPr>
        <p:spPr>
          <a:xfrm>
            <a:off x="1371600" y="5562600"/>
            <a:ext cx="838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10010</a:t>
            </a:r>
            <a:endParaRPr lang="zh-CN" altLang="en-US" sz="1600" dirty="0"/>
          </a:p>
        </p:txBody>
      </p:sp>
      <p:sp>
        <p:nvSpPr>
          <p:cNvPr id="59" name="TextBox 58"/>
          <p:cNvSpPr txBox="1"/>
          <p:nvPr/>
        </p:nvSpPr>
        <p:spPr>
          <a:xfrm>
            <a:off x="1981200" y="5562600"/>
            <a:ext cx="838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10000</a:t>
            </a:r>
            <a:endParaRPr lang="zh-CN" altLang="en-US" sz="1600" dirty="0"/>
          </a:p>
        </p:txBody>
      </p:sp>
      <p:sp>
        <p:nvSpPr>
          <p:cNvPr id="60" name="TextBox 59"/>
          <p:cNvSpPr txBox="1"/>
          <p:nvPr/>
        </p:nvSpPr>
        <p:spPr>
          <a:xfrm>
            <a:off x="2590800" y="5562600"/>
            <a:ext cx="76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00000</a:t>
            </a:r>
            <a:endParaRPr lang="zh-CN" altLang="en-US" sz="1600" dirty="0"/>
          </a:p>
        </p:txBody>
      </p:sp>
      <p:sp>
        <p:nvSpPr>
          <p:cNvPr id="61" name="TextBox 60"/>
          <p:cNvSpPr txBox="1"/>
          <p:nvPr/>
        </p:nvSpPr>
        <p:spPr>
          <a:xfrm>
            <a:off x="3200400" y="5562600"/>
            <a:ext cx="91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100000</a:t>
            </a:r>
            <a:endParaRPr lang="zh-CN" altLang="en-US" sz="1600" dirty="0"/>
          </a:p>
        </p:txBody>
      </p:sp>
      <p:cxnSp>
        <p:nvCxnSpPr>
          <p:cNvPr id="77" name="肘形连接符 76"/>
          <p:cNvCxnSpPr/>
          <p:nvPr/>
        </p:nvCxnSpPr>
        <p:spPr>
          <a:xfrm flipV="1">
            <a:off x="3962400" y="4659868"/>
            <a:ext cx="1143000" cy="1131332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7" name="表格 86"/>
          <p:cNvGraphicFramePr>
            <a:graphicFrameLocks noGrp="1"/>
          </p:cNvGraphicFramePr>
          <p:nvPr/>
        </p:nvGraphicFramePr>
        <p:xfrm>
          <a:off x="2743200" y="1676400"/>
          <a:ext cx="1524000" cy="333248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$0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$17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$18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$3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$19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$4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$20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$5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$21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$6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$22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$7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$23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$8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$24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$9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$25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$10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$26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$11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$27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$12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$28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$13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$29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$14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$30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$15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$31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95" name="TextBox 94"/>
          <p:cNvSpPr txBox="1"/>
          <p:nvPr/>
        </p:nvSpPr>
        <p:spPr>
          <a:xfrm>
            <a:off x="5943600" y="3276600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00000003</a:t>
            </a:r>
            <a:endParaRPr lang="zh-CN" altLang="en-US" sz="1400" dirty="0"/>
          </a:p>
        </p:txBody>
      </p:sp>
      <p:sp>
        <p:nvSpPr>
          <p:cNvPr id="64" name="TextBox 63"/>
          <p:cNvSpPr txBox="1"/>
          <p:nvPr/>
        </p:nvSpPr>
        <p:spPr>
          <a:xfrm>
            <a:off x="1981200" y="5562600"/>
            <a:ext cx="838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10000</a:t>
            </a:r>
            <a:endParaRPr lang="zh-CN" altLang="en-US" sz="1600" dirty="0"/>
          </a:p>
        </p:txBody>
      </p:sp>
      <p:sp>
        <p:nvSpPr>
          <p:cNvPr id="66" name="TextBox 65"/>
          <p:cNvSpPr txBox="1"/>
          <p:nvPr/>
        </p:nvSpPr>
        <p:spPr>
          <a:xfrm>
            <a:off x="3652959" y="1633668"/>
            <a:ext cx="685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Consolas" pitchFamily="49" charset="0"/>
              </a:rPr>
              <a:t>$16</a:t>
            </a:r>
            <a:endParaRPr lang="zh-CN" altLang="en-US" sz="1400" dirty="0">
              <a:latin typeface="Consolas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7 0.00023 L -0.01302 -0.05644 L -0.01198 -0.2755 L 0.01059 -0.2755 " pathEditMode="relative" ptsTypes="AAAA">
                                      <p:cBhvr>
                                        <p:cTn id="6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7 0.0007 L 0.02882 0.0007 L 0.02968 -0.1603 L 0.24271 -0.1603 L 0.24271 0.26949 L -0.32153 0.26834 L -0.28073 -0.24034 " pathEditMode="relative" ptsTypes="AAAAAAA">
                                      <p:cBhvr>
                                        <p:cTn id="12" dur="5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95" grpId="0"/>
      <p:bldP spid="6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I</a:t>
            </a:r>
            <a:r>
              <a:rPr lang="zh-CN" altLang="en-US" b="1" dirty="0"/>
              <a:t>指令格式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590800"/>
            <a:ext cx="8229600" cy="3276600"/>
          </a:xfrm>
        </p:spPr>
        <p:txBody>
          <a:bodyPr/>
          <a:lstStyle/>
          <a:p>
            <a:r>
              <a:rPr lang="zh-CN" altLang="en-US" sz="2400" dirty="0"/>
              <a:t>三个操作数：</a:t>
            </a:r>
            <a:endParaRPr lang="en-US" altLang="zh-CN" sz="2400" dirty="0"/>
          </a:p>
          <a:p>
            <a:pPr lvl="1"/>
            <a:r>
              <a:rPr lang="en-US" altLang="zh-CN" sz="2000" b="1" dirty="0" err="1"/>
              <a:t>rs</a:t>
            </a:r>
            <a:r>
              <a:rPr lang="en-US" altLang="zh-CN" sz="2000" b="1" dirty="0"/>
              <a:t>, </a:t>
            </a:r>
            <a:r>
              <a:rPr lang="en-US" altLang="zh-CN" sz="2000" b="1" dirty="0" err="1"/>
              <a:t>rt</a:t>
            </a:r>
            <a:r>
              <a:rPr lang="en-US" altLang="zh-CN" sz="2000" dirty="0"/>
              <a:t>:</a:t>
            </a:r>
            <a:r>
              <a:rPr lang="zh-CN" altLang="en-US" sz="2000" dirty="0"/>
              <a:t>：寄存器操作数（源操作数和目的操作数）</a:t>
            </a:r>
            <a:endParaRPr lang="en-US" altLang="zh-CN" sz="2000" dirty="0"/>
          </a:p>
          <a:p>
            <a:pPr lvl="1"/>
            <a:r>
              <a:rPr lang="en-US" altLang="zh-CN" sz="2000" b="1" dirty="0" err="1"/>
              <a:t>imm</a:t>
            </a:r>
            <a:r>
              <a:rPr lang="zh-CN" altLang="en-US" sz="2000" dirty="0"/>
              <a:t>：</a:t>
            </a:r>
            <a:r>
              <a:rPr lang="en-US" altLang="zh-CN" sz="2000" dirty="0"/>
              <a:t>16</a:t>
            </a:r>
            <a:r>
              <a:rPr lang="zh-CN" altLang="en-US" sz="2000" dirty="0"/>
              <a:t>位补码形式的立即数（源操作数）</a:t>
            </a:r>
            <a:endParaRPr lang="en-US" altLang="zh-CN" sz="2000" dirty="0"/>
          </a:p>
          <a:p>
            <a:r>
              <a:rPr lang="zh-CN" altLang="en-US" sz="2400" dirty="0"/>
              <a:t>其它字段：</a:t>
            </a:r>
            <a:endParaRPr lang="en-US" altLang="zh-CN" sz="2400" dirty="0"/>
          </a:p>
          <a:p>
            <a:pPr lvl="1"/>
            <a:r>
              <a:rPr lang="en-US" altLang="zh-CN" sz="2000" b="1" dirty="0"/>
              <a:t>op</a:t>
            </a:r>
            <a:r>
              <a:rPr lang="zh-CN" altLang="en-US" sz="2000" dirty="0"/>
              <a:t>：操作码</a:t>
            </a:r>
            <a:endParaRPr lang="en-US" altLang="zh-CN" sz="2000" dirty="0"/>
          </a:p>
          <a:p>
            <a:endParaRPr lang="zh-CN" altLang="en-US" sz="2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1676400"/>
            <a:ext cx="593407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I</a:t>
            </a:r>
            <a:r>
              <a:rPr lang="zh-CN" altLang="en-US" b="1" dirty="0"/>
              <a:t>指令格式举例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1447800"/>
          </a:xfrm>
        </p:spPr>
        <p:txBody>
          <a:bodyPr>
            <a:normAutofit lnSpcReduction="10000"/>
          </a:bodyPr>
          <a:lstStyle/>
          <a:p>
            <a:r>
              <a:rPr lang="zh-CN" altLang="en-US" sz="2400" b="1" dirty="0"/>
              <a:t>带符号立即数加法指令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 lvl="1"/>
            <a:r>
              <a:rPr lang="en-US" altLang="zh-CN" sz="2000" dirty="0" err="1"/>
              <a:t>addi</a:t>
            </a:r>
            <a:r>
              <a:rPr lang="en-US" altLang="zh-CN" sz="2000" dirty="0"/>
              <a:t> </a:t>
            </a:r>
            <a:r>
              <a:rPr lang="en-US" altLang="zh-CN" sz="2000" dirty="0" err="1"/>
              <a:t>rt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rs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Imm</a:t>
            </a:r>
            <a:r>
              <a:rPr lang="en-US" altLang="zh-CN" sz="2000" dirty="0"/>
              <a:t>    # R[</a:t>
            </a:r>
            <a:r>
              <a:rPr lang="en-US" altLang="zh-CN" sz="2000" dirty="0" err="1"/>
              <a:t>rt</a:t>
            </a:r>
            <a:r>
              <a:rPr lang="en-US" altLang="zh-CN" sz="2000" dirty="0"/>
              <a:t>] = R[</a:t>
            </a:r>
            <a:r>
              <a:rPr lang="en-US" altLang="zh-CN" sz="2000" dirty="0" err="1"/>
              <a:t>rs</a:t>
            </a:r>
            <a:r>
              <a:rPr lang="en-US" altLang="zh-CN" sz="2000" dirty="0"/>
              <a:t>] + </a:t>
            </a:r>
            <a:r>
              <a:rPr lang="en-US" altLang="zh-CN" sz="2000" dirty="0" err="1"/>
              <a:t>Imm</a:t>
            </a:r>
            <a:endParaRPr lang="en-US" altLang="zh-CN" sz="2000" dirty="0"/>
          </a:p>
          <a:p>
            <a:pPr lvl="1"/>
            <a:r>
              <a:rPr lang="zh-CN" altLang="en-US" sz="2000" dirty="0"/>
              <a:t>如 </a:t>
            </a:r>
            <a:r>
              <a:rPr lang="en-US" altLang="zh-CN" sz="2000" dirty="0" err="1"/>
              <a:t>addi</a:t>
            </a:r>
            <a:r>
              <a:rPr lang="en-US" altLang="zh-CN" sz="2000" dirty="0"/>
              <a:t> $s0, $s1, 5</a:t>
            </a:r>
          </a:p>
          <a:p>
            <a:pPr lvl="1"/>
            <a:r>
              <a:rPr lang="zh-CN" altLang="en-US" sz="2000" dirty="0"/>
              <a:t>机器指令：</a:t>
            </a:r>
            <a:r>
              <a:rPr lang="en-US" altLang="zh-CN" sz="2000" dirty="0"/>
              <a:t>0x22300005</a:t>
            </a:r>
          </a:p>
          <a:p>
            <a:endParaRPr lang="zh-CN" altLang="en-US" sz="24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914400" y="3962400"/>
          <a:ext cx="7620000" cy="148336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op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rs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rt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imm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001000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0000 0000 0000 0101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6bits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5bits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5bits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16bits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76200" y="2754868"/>
            <a:ext cx="9144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371600" y="2602468"/>
            <a:ext cx="7620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指令缓存</a:t>
            </a:r>
          </a:p>
        </p:txBody>
      </p:sp>
      <p:sp>
        <p:nvSpPr>
          <p:cNvPr id="24" name="任意多边形 23"/>
          <p:cNvSpPr/>
          <p:nvPr/>
        </p:nvSpPr>
        <p:spPr>
          <a:xfrm>
            <a:off x="1371600" y="773668"/>
            <a:ext cx="509587" cy="1614487"/>
          </a:xfrm>
          <a:custGeom>
            <a:avLst/>
            <a:gdLst>
              <a:gd name="connsiteX0" fmla="*/ 0 w 509587"/>
              <a:gd name="connsiteY0" fmla="*/ 0 h 1614487"/>
              <a:gd name="connsiteX1" fmla="*/ 504825 w 509587"/>
              <a:gd name="connsiteY1" fmla="*/ 347662 h 1614487"/>
              <a:gd name="connsiteX2" fmla="*/ 509587 w 509587"/>
              <a:gd name="connsiteY2" fmla="*/ 1304925 h 1614487"/>
              <a:gd name="connsiteX3" fmla="*/ 0 w 509587"/>
              <a:gd name="connsiteY3" fmla="*/ 1614487 h 1614487"/>
              <a:gd name="connsiteX4" fmla="*/ 0 w 509587"/>
              <a:gd name="connsiteY4" fmla="*/ 1138237 h 1614487"/>
              <a:gd name="connsiteX5" fmla="*/ 100012 w 509587"/>
              <a:gd name="connsiteY5" fmla="*/ 1071562 h 1614487"/>
              <a:gd name="connsiteX6" fmla="*/ 100012 w 509587"/>
              <a:gd name="connsiteY6" fmla="*/ 642937 h 1614487"/>
              <a:gd name="connsiteX7" fmla="*/ 0 w 509587"/>
              <a:gd name="connsiteY7" fmla="*/ 557212 h 1614487"/>
              <a:gd name="connsiteX8" fmla="*/ 0 w 509587"/>
              <a:gd name="connsiteY8" fmla="*/ 0 h 1614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9587" h="1614487">
                <a:moveTo>
                  <a:pt x="0" y="0"/>
                </a:moveTo>
                <a:lnTo>
                  <a:pt x="504825" y="347662"/>
                </a:lnTo>
                <a:cubicBezTo>
                  <a:pt x="506412" y="666750"/>
                  <a:pt x="508000" y="985837"/>
                  <a:pt x="509587" y="1304925"/>
                </a:cubicBezTo>
                <a:lnTo>
                  <a:pt x="0" y="1614487"/>
                </a:lnTo>
                <a:lnTo>
                  <a:pt x="0" y="1138237"/>
                </a:lnTo>
                <a:lnTo>
                  <a:pt x="100012" y="1071562"/>
                </a:lnTo>
                <a:lnTo>
                  <a:pt x="100012" y="642937"/>
                </a:lnTo>
                <a:lnTo>
                  <a:pt x="0" y="55721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加法器</a:t>
            </a:r>
          </a:p>
        </p:txBody>
      </p:sp>
      <p:sp>
        <p:nvSpPr>
          <p:cNvPr id="48" name="直角上箭头 47"/>
          <p:cNvSpPr/>
          <p:nvPr/>
        </p:nvSpPr>
        <p:spPr>
          <a:xfrm rot="16200000" flipV="1">
            <a:off x="800100" y="2411968"/>
            <a:ext cx="914400" cy="228600"/>
          </a:xfrm>
          <a:prstGeom prst="bentUpArrow">
            <a:avLst>
              <a:gd name="adj1" fmla="val 0"/>
              <a:gd name="adj2" fmla="val 25000"/>
              <a:gd name="adj3" fmla="val 25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1" name="直接箭头连接符 50"/>
          <p:cNvCxnSpPr>
            <a:stCxn id="5" idx="3"/>
          </p:cNvCxnSpPr>
          <p:nvPr/>
        </p:nvCxnSpPr>
        <p:spPr>
          <a:xfrm>
            <a:off x="990600" y="2983468"/>
            <a:ext cx="381000" cy="1588"/>
          </a:xfrm>
          <a:prstGeom prst="straightConnector1">
            <a:avLst/>
          </a:prstGeom>
          <a:ln w="254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>
            <a:off x="1066800" y="1078468"/>
            <a:ext cx="304800" cy="1588"/>
          </a:xfrm>
          <a:prstGeom prst="straightConnector1">
            <a:avLst/>
          </a:prstGeom>
          <a:ln w="254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62000" y="849868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7" name="矩形 56"/>
          <p:cNvSpPr/>
          <p:nvPr/>
        </p:nvSpPr>
        <p:spPr>
          <a:xfrm>
            <a:off x="152400" y="5574267"/>
            <a:ext cx="3733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5" name="直接箭头连接符 64"/>
          <p:cNvCxnSpPr/>
          <p:nvPr/>
        </p:nvCxnSpPr>
        <p:spPr>
          <a:xfrm rot="5400000">
            <a:off x="1181497" y="5002371"/>
            <a:ext cx="1143000" cy="7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/>
          <p:cNvSpPr/>
          <p:nvPr/>
        </p:nvSpPr>
        <p:spPr>
          <a:xfrm>
            <a:off x="2743200" y="1840468"/>
            <a:ext cx="1524000" cy="3200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寄存器堆</a:t>
            </a:r>
          </a:p>
        </p:txBody>
      </p:sp>
      <p:cxnSp>
        <p:nvCxnSpPr>
          <p:cNvPr id="71" name="直接连接符 70"/>
          <p:cNvCxnSpPr/>
          <p:nvPr/>
        </p:nvCxnSpPr>
        <p:spPr>
          <a:xfrm rot="5400000" flipH="1" flipV="1">
            <a:off x="800100" y="4088368"/>
            <a:ext cx="2971800" cy="1588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>
            <a:off x="2286000" y="2602468"/>
            <a:ext cx="457200" cy="158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>
            <a:off x="2286000" y="3276600"/>
            <a:ext cx="457200" cy="158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等腰三角形 77"/>
          <p:cNvSpPr/>
          <p:nvPr/>
        </p:nvSpPr>
        <p:spPr>
          <a:xfrm rot="5400000">
            <a:off x="4802124" y="21437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等腰三角形 78"/>
          <p:cNvSpPr/>
          <p:nvPr/>
        </p:nvSpPr>
        <p:spPr>
          <a:xfrm rot="5400000">
            <a:off x="4802124" y="42011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1" name="肘形连接符 80"/>
          <p:cNvCxnSpPr/>
          <p:nvPr/>
        </p:nvCxnSpPr>
        <p:spPr>
          <a:xfrm>
            <a:off x="1905000" y="1535668"/>
            <a:ext cx="3200400" cy="609600"/>
          </a:xfrm>
          <a:prstGeom prst="bentConnector3">
            <a:avLst>
              <a:gd name="adj1" fmla="val 83894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/>
          <p:cNvCxnSpPr/>
          <p:nvPr/>
        </p:nvCxnSpPr>
        <p:spPr>
          <a:xfrm>
            <a:off x="4267200" y="2526268"/>
            <a:ext cx="8382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/>
          <p:cNvCxnSpPr/>
          <p:nvPr/>
        </p:nvCxnSpPr>
        <p:spPr>
          <a:xfrm>
            <a:off x="4267200" y="4278868"/>
            <a:ext cx="8382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肘形连接符 93"/>
          <p:cNvCxnSpPr>
            <a:stCxn id="57" idx="3"/>
          </p:cNvCxnSpPr>
          <p:nvPr/>
        </p:nvCxnSpPr>
        <p:spPr>
          <a:xfrm flipV="1">
            <a:off x="3886200" y="4659869"/>
            <a:ext cx="1295400" cy="1104898"/>
          </a:xfrm>
          <a:prstGeom prst="bentConnector3">
            <a:avLst>
              <a:gd name="adj1" fmla="val 59821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任意多边形 99"/>
          <p:cNvSpPr/>
          <p:nvPr/>
        </p:nvSpPr>
        <p:spPr>
          <a:xfrm>
            <a:off x="5867400" y="1992868"/>
            <a:ext cx="609600" cy="2895600"/>
          </a:xfrm>
          <a:custGeom>
            <a:avLst/>
            <a:gdLst>
              <a:gd name="connsiteX0" fmla="*/ 0 w 509587"/>
              <a:gd name="connsiteY0" fmla="*/ 0 h 1614487"/>
              <a:gd name="connsiteX1" fmla="*/ 504825 w 509587"/>
              <a:gd name="connsiteY1" fmla="*/ 347662 h 1614487"/>
              <a:gd name="connsiteX2" fmla="*/ 509587 w 509587"/>
              <a:gd name="connsiteY2" fmla="*/ 1304925 h 1614487"/>
              <a:gd name="connsiteX3" fmla="*/ 0 w 509587"/>
              <a:gd name="connsiteY3" fmla="*/ 1614487 h 1614487"/>
              <a:gd name="connsiteX4" fmla="*/ 0 w 509587"/>
              <a:gd name="connsiteY4" fmla="*/ 1138237 h 1614487"/>
              <a:gd name="connsiteX5" fmla="*/ 100012 w 509587"/>
              <a:gd name="connsiteY5" fmla="*/ 1071562 h 1614487"/>
              <a:gd name="connsiteX6" fmla="*/ 100012 w 509587"/>
              <a:gd name="connsiteY6" fmla="*/ 642937 h 1614487"/>
              <a:gd name="connsiteX7" fmla="*/ 0 w 509587"/>
              <a:gd name="connsiteY7" fmla="*/ 557212 h 1614487"/>
              <a:gd name="connsiteX8" fmla="*/ 0 w 509587"/>
              <a:gd name="connsiteY8" fmla="*/ 0 h 1614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9587" h="1614487">
                <a:moveTo>
                  <a:pt x="0" y="0"/>
                </a:moveTo>
                <a:lnTo>
                  <a:pt x="504825" y="347662"/>
                </a:lnTo>
                <a:cubicBezTo>
                  <a:pt x="506412" y="666750"/>
                  <a:pt x="508000" y="985837"/>
                  <a:pt x="509587" y="1304925"/>
                </a:cubicBezTo>
                <a:lnTo>
                  <a:pt x="0" y="1614487"/>
                </a:lnTo>
                <a:lnTo>
                  <a:pt x="0" y="1138237"/>
                </a:lnTo>
                <a:lnTo>
                  <a:pt x="100012" y="1071562"/>
                </a:lnTo>
                <a:lnTo>
                  <a:pt x="100012" y="642937"/>
                </a:lnTo>
                <a:lnTo>
                  <a:pt x="0" y="55721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运算器</a:t>
            </a:r>
          </a:p>
        </p:txBody>
      </p:sp>
      <p:cxnSp>
        <p:nvCxnSpPr>
          <p:cNvPr id="102" name="直接箭头连接符 101"/>
          <p:cNvCxnSpPr>
            <a:stCxn id="78" idx="0"/>
          </p:cNvCxnSpPr>
          <p:nvPr/>
        </p:nvCxnSpPr>
        <p:spPr>
          <a:xfrm>
            <a:off x="5559552" y="2370820"/>
            <a:ext cx="307848" cy="304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/>
          <p:cNvCxnSpPr/>
          <p:nvPr/>
        </p:nvCxnSpPr>
        <p:spPr>
          <a:xfrm>
            <a:off x="5562600" y="4431268"/>
            <a:ext cx="307848" cy="304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矩形 104"/>
          <p:cNvSpPr/>
          <p:nvPr/>
        </p:nvSpPr>
        <p:spPr>
          <a:xfrm>
            <a:off x="7010400" y="2602468"/>
            <a:ext cx="7620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数据缓存</a:t>
            </a:r>
          </a:p>
        </p:txBody>
      </p:sp>
      <p:cxnSp>
        <p:nvCxnSpPr>
          <p:cNvPr id="107" name="直接箭头连接符 106"/>
          <p:cNvCxnSpPr>
            <a:endCxn id="105" idx="1"/>
          </p:cNvCxnSpPr>
          <p:nvPr/>
        </p:nvCxnSpPr>
        <p:spPr>
          <a:xfrm>
            <a:off x="6477000" y="3516868"/>
            <a:ext cx="5334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等腰三角形 109"/>
          <p:cNvSpPr/>
          <p:nvPr/>
        </p:nvSpPr>
        <p:spPr>
          <a:xfrm rot="5400000">
            <a:off x="6783324" y="14579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2" name="直接箭头连接符 111"/>
          <p:cNvCxnSpPr/>
          <p:nvPr/>
        </p:nvCxnSpPr>
        <p:spPr>
          <a:xfrm>
            <a:off x="4572000" y="1535668"/>
            <a:ext cx="25146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/>
          <p:cNvCxnSpPr/>
          <p:nvPr/>
        </p:nvCxnSpPr>
        <p:spPr>
          <a:xfrm rot="5400000" flipH="1" flipV="1">
            <a:off x="5906294" y="2716768"/>
            <a:ext cx="1599406" cy="79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117"/>
          <p:cNvCxnSpPr/>
          <p:nvPr/>
        </p:nvCxnSpPr>
        <p:spPr>
          <a:xfrm>
            <a:off x="6705600" y="1916668"/>
            <a:ext cx="3810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连接符 135"/>
          <p:cNvCxnSpPr>
            <a:stCxn id="110" idx="0"/>
          </p:cNvCxnSpPr>
          <p:nvPr/>
        </p:nvCxnSpPr>
        <p:spPr>
          <a:xfrm>
            <a:off x="7540752" y="1685020"/>
            <a:ext cx="307848" cy="304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连接符 140"/>
          <p:cNvCxnSpPr/>
          <p:nvPr/>
        </p:nvCxnSpPr>
        <p:spPr>
          <a:xfrm rot="5400000" flipH="1" flipV="1">
            <a:off x="7277100" y="1116568"/>
            <a:ext cx="11430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连接符 143"/>
          <p:cNvCxnSpPr/>
          <p:nvPr/>
        </p:nvCxnSpPr>
        <p:spPr>
          <a:xfrm rot="10800000">
            <a:off x="533400" y="533400"/>
            <a:ext cx="7315200" cy="1325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箭头连接符 145"/>
          <p:cNvCxnSpPr>
            <a:endCxn id="5" idx="0"/>
          </p:cNvCxnSpPr>
          <p:nvPr/>
        </p:nvCxnSpPr>
        <p:spPr>
          <a:xfrm rot="5400000">
            <a:off x="-576540" y="1644134"/>
            <a:ext cx="2220674" cy="7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连接符 152"/>
          <p:cNvCxnSpPr/>
          <p:nvPr/>
        </p:nvCxnSpPr>
        <p:spPr>
          <a:xfrm rot="10800000">
            <a:off x="3505200" y="5345668"/>
            <a:ext cx="51816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箭头连接符 155"/>
          <p:cNvCxnSpPr>
            <a:endCxn id="68" idx="2"/>
          </p:cNvCxnSpPr>
          <p:nvPr/>
        </p:nvCxnSpPr>
        <p:spPr>
          <a:xfrm rot="5400000" flipH="1" flipV="1">
            <a:off x="3352006" y="5193268"/>
            <a:ext cx="305594" cy="7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/>
          <p:cNvCxnSpPr/>
          <p:nvPr/>
        </p:nvCxnSpPr>
        <p:spPr>
          <a:xfrm rot="5400000">
            <a:off x="4001294" y="4697968"/>
            <a:ext cx="837406" cy="79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接连接符 175"/>
          <p:cNvCxnSpPr/>
          <p:nvPr/>
        </p:nvCxnSpPr>
        <p:spPr>
          <a:xfrm>
            <a:off x="4419600" y="5117068"/>
            <a:ext cx="29718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箭头连接符 178"/>
          <p:cNvCxnSpPr>
            <a:endCxn id="105" idx="2"/>
          </p:cNvCxnSpPr>
          <p:nvPr/>
        </p:nvCxnSpPr>
        <p:spPr>
          <a:xfrm rot="5400000" flipH="1" flipV="1">
            <a:off x="7047706" y="4774168"/>
            <a:ext cx="686594" cy="7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等腰三角形 179"/>
          <p:cNvSpPr/>
          <p:nvPr/>
        </p:nvSpPr>
        <p:spPr>
          <a:xfrm rot="5400000">
            <a:off x="7773924" y="22199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2" name="直接箭头连接符 181"/>
          <p:cNvCxnSpPr/>
          <p:nvPr/>
        </p:nvCxnSpPr>
        <p:spPr>
          <a:xfrm>
            <a:off x="7772400" y="2831068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接箭头连接符 185"/>
          <p:cNvCxnSpPr>
            <a:endCxn id="180" idx="3"/>
          </p:cNvCxnSpPr>
          <p:nvPr/>
        </p:nvCxnSpPr>
        <p:spPr>
          <a:xfrm flipV="1">
            <a:off x="6705600" y="2447020"/>
            <a:ext cx="1371600" cy="304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接连接符 192"/>
          <p:cNvCxnSpPr/>
          <p:nvPr/>
        </p:nvCxnSpPr>
        <p:spPr>
          <a:xfrm rot="5400000">
            <a:off x="7658100" y="1878568"/>
            <a:ext cx="3810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接箭头连接符 194"/>
          <p:cNvCxnSpPr/>
          <p:nvPr/>
        </p:nvCxnSpPr>
        <p:spPr>
          <a:xfrm>
            <a:off x="7848600" y="2069068"/>
            <a:ext cx="2286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连接符 196"/>
          <p:cNvCxnSpPr>
            <a:stCxn id="180" idx="0"/>
          </p:cNvCxnSpPr>
          <p:nvPr/>
        </p:nvCxnSpPr>
        <p:spPr>
          <a:xfrm>
            <a:off x="8531352" y="2447020"/>
            <a:ext cx="155448" cy="304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连接符 198"/>
          <p:cNvCxnSpPr/>
          <p:nvPr/>
        </p:nvCxnSpPr>
        <p:spPr>
          <a:xfrm rot="5400000">
            <a:off x="7239000" y="3897868"/>
            <a:ext cx="28956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/>
          <p:cNvSpPr txBox="1"/>
          <p:nvPr/>
        </p:nvSpPr>
        <p:spPr>
          <a:xfrm>
            <a:off x="4419600" y="252626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Rs</a:t>
            </a:r>
            <a:endParaRPr lang="zh-CN" altLang="en-US" dirty="0"/>
          </a:p>
        </p:txBody>
      </p:sp>
      <p:sp>
        <p:nvSpPr>
          <p:cNvPr id="204" name="TextBox 203"/>
          <p:cNvSpPr txBox="1"/>
          <p:nvPr/>
        </p:nvSpPr>
        <p:spPr>
          <a:xfrm>
            <a:off x="4419600" y="38978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Rt</a:t>
            </a:r>
            <a:endParaRPr lang="zh-CN" altLang="en-US" dirty="0"/>
          </a:p>
        </p:txBody>
      </p:sp>
      <p:sp>
        <p:nvSpPr>
          <p:cNvPr id="205" name="TextBox 204"/>
          <p:cNvSpPr txBox="1"/>
          <p:nvPr/>
        </p:nvSpPr>
        <p:spPr>
          <a:xfrm>
            <a:off x="2971800" y="5040868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Rd</a:t>
            </a:r>
            <a:endParaRPr lang="zh-CN" altLang="en-US" dirty="0"/>
          </a:p>
        </p:txBody>
      </p:sp>
      <p:sp>
        <p:nvSpPr>
          <p:cNvPr id="206" name="TextBox 205"/>
          <p:cNvSpPr txBox="1"/>
          <p:nvPr/>
        </p:nvSpPr>
        <p:spPr>
          <a:xfrm>
            <a:off x="4038600" y="5715000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Imm</a:t>
            </a:r>
            <a:endParaRPr lang="zh-CN" altLang="en-US" dirty="0"/>
          </a:p>
        </p:txBody>
      </p:sp>
      <p:cxnSp>
        <p:nvCxnSpPr>
          <p:cNvPr id="223" name="直接箭头连接符 222"/>
          <p:cNvCxnSpPr/>
          <p:nvPr/>
        </p:nvCxnSpPr>
        <p:spPr>
          <a:xfrm>
            <a:off x="2286000" y="3960812"/>
            <a:ext cx="457200" cy="158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7045" y="2819400"/>
            <a:ext cx="9797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00400004</a:t>
            </a:r>
            <a:endParaRPr lang="zh-CN" altLang="en-US" sz="1400" dirty="0"/>
          </a:p>
        </p:txBody>
      </p:sp>
      <p:sp>
        <p:nvSpPr>
          <p:cNvPr id="53" name="TextBox 52"/>
          <p:cNvSpPr txBox="1"/>
          <p:nvPr/>
        </p:nvSpPr>
        <p:spPr>
          <a:xfrm>
            <a:off x="1295400" y="2743200"/>
            <a:ext cx="9797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22300005</a:t>
            </a:r>
            <a:endParaRPr lang="zh-CN" altLang="en-US" sz="1400" dirty="0"/>
          </a:p>
        </p:txBody>
      </p:sp>
      <p:sp>
        <p:nvSpPr>
          <p:cNvPr id="56" name="TextBox 55"/>
          <p:cNvSpPr txBox="1"/>
          <p:nvPr/>
        </p:nvSpPr>
        <p:spPr>
          <a:xfrm>
            <a:off x="152400" y="5574268"/>
            <a:ext cx="381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00100010001100000000000000000101</a:t>
            </a:r>
            <a:endParaRPr lang="zh-CN" altLang="en-US" sz="1600" dirty="0"/>
          </a:p>
        </p:txBody>
      </p:sp>
      <p:sp>
        <p:nvSpPr>
          <p:cNvPr id="58" name="TextBox 57"/>
          <p:cNvSpPr txBox="1"/>
          <p:nvPr/>
        </p:nvSpPr>
        <p:spPr>
          <a:xfrm>
            <a:off x="1600200" y="1295401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00400008</a:t>
            </a:r>
            <a:endParaRPr lang="zh-CN" altLang="en-US" sz="1400" dirty="0"/>
          </a:p>
        </p:txBody>
      </p:sp>
      <p:sp>
        <p:nvSpPr>
          <p:cNvPr id="59" name="TextBox 58"/>
          <p:cNvSpPr txBox="1"/>
          <p:nvPr/>
        </p:nvSpPr>
        <p:spPr>
          <a:xfrm>
            <a:off x="2362200" y="6248400"/>
            <a:ext cx="4390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执行指令</a:t>
            </a:r>
            <a:r>
              <a:rPr lang="en-US" altLang="zh-CN" dirty="0" err="1"/>
              <a:t>addi</a:t>
            </a:r>
            <a:r>
              <a:rPr lang="en-US" altLang="zh-CN" dirty="0"/>
              <a:t> $s0, $s1, 5 </a:t>
            </a:r>
            <a:r>
              <a:rPr lang="zh-CN" altLang="en-US" dirty="0"/>
              <a:t>读取指令（</a:t>
            </a:r>
            <a:r>
              <a:rPr lang="en-US" altLang="zh-CN" dirty="0"/>
              <a:t>IF</a:t>
            </a:r>
            <a:r>
              <a:rPr lang="zh-CN" altLang="en-US" dirty="0"/>
              <a:t>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95400" y="2571921"/>
            <a:ext cx="9797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02328020</a:t>
            </a:r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3.93708E-6 L 0.06198 -0.0002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7" presetClass="emph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9" dur="1000" autoRev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0" dur="1000" autoRev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" dur="1000" autoRev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autoRev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000"/>
                            </p:stCondLst>
                            <p:childTnLst>
                              <p:par>
                                <p:cTn id="14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486 -0.00023 L 0.05486 -0.12884 L 0.10712 -0.12769 " pathEditMode="relative" rAng="0" ptsTypes="AAA">
                                      <p:cBhvr>
                                        <p:cTn id="15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-64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-0.00347 -0.00023 L -0.00347 0.4106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6000"/>
                            </p:stCondLst>
                            <p:childTnLst>
                              <p:par>
                                <p:cTn id="19" presetID="3" presetClass="exit" presetSubtype="1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blinds(horizontal)">
                                      <p:cBhvr>
                                        <p:cTn id="20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0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8000"/>
                            </p:stCondLst>
                            <p:childTnLst>
                              <p:par>
                                <p:cTn id="27" presetID="27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1000" autoRev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" dur="1000" autoRev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" dur="1000" autoRev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1000" autoRev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0"/>
                            </p:stCondLst>
                            <p:childTnLst>
                              <p:par>
                                <p:cTn id="33" presetID="3" presetClass="exit" presetSubtype="1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4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1000"/>
                            </p:stCondLst>
                            <p:childTnLst>
                              <p:par>
                                <p:cTn id="3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000"/>
                            </p:stCondLst>
                            <p:childTnLst>
                              <p:par>
                                <p:cTn id="41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747 0.00116 L 0.55174 0.00231 L 0.61337 0.02544 L 0.61337 -0.14735 L -0.16528 -0.14758 L -0.16615 0.22207 " pathEditMode="relative" rAng="0" ptsTypes="AAAAAA">
                                      <p:cBhvr>
                                        <p:cTn id="42" dur="3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1" y="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52" grpId="0"/>
      <p:bldP spid="52" grpId="1"/>
      <p:bldP spid="52" grpId="2"/>
      <p:bldP spid="53" grpId="0"/>
      <p:bldP spid="53" grpId="1"/>
      <p:bldP spid="53" grpId="2"/>
      <p:bldP spid="56" grpId="0"/>
      <p:bldP spid="58" grpId="0"/>
      <p:bldP spid="58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28600" y="2754868"/>
            <a:ext cx="762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PC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371600" y="2602468"/>
            <a:ext cx="7620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指令缓存</a:t>
            </a:r>
          </a:p>
        </p:txBody>
      </p:sp>
      <p:sp>
        <p:nvSpPr>
          <p:cNvPr id="24" name="任意多边形 23"/>
          <p:cNvSpPr/>
          <p:nvPr/>
        </p:nvSpPr>
        <p:spPr>
          <a:xfrm>
            <a:off x="1371600" y="773668"/>
            <a:ext cx="509587" cy="1614487"/>
          </a:xfrm>
          <a:custGeom>
            <a:avLst/>
            <a:gdLst>
              <a:gd name="connsiteX0" fmla="*/ 0 w 509587"/>
              <a:gd name="connsiteY0" fmla="*/ 0 h 1614487"/>
              <a:gd name="connsiteX1" fmla="*/ 504825 w 509587"/>
              <a:gd name="connsiteY1" fmla="*/ 347662 h 1614487"/>
              <a:gd name="connsiteX2" fmla="*/ 509587 w 509587"/>
              <a:gd name="connsiteY2" fmla="*/ 1304925 h 1614487"/>
              <a:gd name="connsiteX3" fmla="*/ 0 w 509587"/>
              <a:gd name="connsiteY3" fmla="*/ 1614487 h 1614487"/>
              <a:gd name="connsiteX4" fmla="*/ 0 w 509587"/>
              <a:gd name="connsiteY4" fmla="*/ 1138237 h 1614487"/>
              <a:gd name="connsiteX5" fmla="*/ 100012 w 509587"/>
              <a:gd name="connsiteY5" fmla="*/ 1071562 h 1614487"/>
              <a:gd name="connsiteX6" fmla="*/ 100012 w 509587"/>
              <a:gd name="connsiteY6" fmla="*/ 642937 h 1614487"/>
              <a:gd name="connsiteX7" fmla="*/ 0 w 509587"/>
              <a:gd name="connsiteY7" fmla="*/ 557212 h 1614487"/>
              <a:gd name="connsiteX8" fmla="*/ 0 w 509587"/>
              <a:gd name="connsiteY8" fmla="*/ 0 h 1614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9587" h="1614487">
                <a:moveTo>
                  <a:pt x="0" y="0"/>
                </a:moveTo>
                <a:lnTo>
                  <a:pt x="504825" y="347662"/>
                </a:lnTo>
                <a:cubicBezTo>
                  <a:pt x="506412" y="666750"/>
                  <a:pt x="508000" y="985837"/>
                  <a:pt x="509587" y="1304925"/>
                </a:cubicBezTo>
                <a:lnTo>
                  <a:pt x="0" y="1614487"/>
                </a:lnTo>
                <a:lnTo>
                  <a:pt x="0" y="1138237"/>
                </a:lnTo>
                <a:lnTo>
                  <a:pt x="100012" y="1071562"/>
                </a:lnTo>
                <a:lnTo>
                  <a:pt x="100012" y="642937"/>
                </a:lnTo>
                <a:lnTo>
                  <a:pt x="0" y="55721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加法器</a:t>
            </a:r>
          </a:p>
        </p:txBody>
      </p:sp>
      <p:sp>
        <p:nvSpPr>
          <p:cNvPr id="48" name="直角上箭头 47"/>
          <p:cNvSpPr/>
          <p:nvPr/>
        </p:nvSpPr>
        <p:spPr>
          <a:xfrm rot="16200000" flipV="1">
            <a:off x="800100" y="2411968"/>
            <a:ext cx="914400" cy="228600"/>
          </a:xfrm>
          <a:prstGeom prst="bentUpArrow">
            <a:avLst>
              <a:gd name="adj1" fmla="val 0"/>
              <a:gd name="adj2" fmla="val 25000"/>
              <a:gd name="adj3" fmla="val 25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1" name="直接箭头连接符 50"/>
          <p:cNvCxnSpPr>
            <a:stCxn id="5" idx="3"/>
          </p:cNvCxnSpPr>
          <p:nvPr/>
        </p:nvCxnSpPr>
        <p:spPr>
          <a:xfrm>
            <a:off x="990600" y="2983468"/>
            <a:ext cx="381000" cy="1588"/>
          </a:xfrm>
          <a:prstGeom prst="straightConnector1">
            <a:avLst/>
          </a:prstGeom>
          <a:ln w="254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>
            <a:off x="1066800" y="1078468"/>
            <a:ext cx="304800" cy="1588"/>
          </a:xfrm>
          <a:prstGeom prst="straightConnector1">
            <a:avLst/>
          </a:prstGeom>
          <a:ln w="254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62000" y="849868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7" name="矩形 56"/>
          <p:cNvSpPr/>
          <p:nvPr/>
        </p:nvSpPr>
        <p:spPr>
          <a:xfrm>
            <a:off x="152400" y="5574267"/>
            <a:ext cx="3810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5" name="直接箭头连接符 64"/>
          <p:cNvCxnSpPr/>
          <p:nvPr/>
        </p:nvCxnSpPr>
        <p:spPr>
          <a:xfrm rot="5400000">
            <a:off x="1181497" y="5002371"/>
            <a:ext cx="1143000" cy="7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/>
          <p:cNvSpPr/>
          <p:nvPr/>
        </p:nvSpPr>
        <p:spPr>
          <a:xfrm>
            <a:off x="2743200" y="1676400"/>
            <a:ext cx="1524000" cy="33644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1" name="直接连接符 70"/>
          <p:cNvCxnSpPr/>
          <p:nvPr/>
        </p:nvCxnSpPr>
        <p:spPr>
          <a:xfrm rot="5400000" flipH="1" flipV="1">
            <a:off x="800100" y="4088368"/>
            <a:ext cx="2971800" cy="1588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>
            <a:off x="2286000" y="2602468"/>
            <a:ext cx="457200" cy="158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>
            <a:off x="2286000" y="3276600"/>
            <a:ext cx="457200" cy="158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等腰三角形 77"/>
          <p:cNvSpPr/>
          <p:nvPr/>
        </p:nvSpPr>
        <p:spPr>
          <a:xfrm rot="5400000">
            <a:off x="4802124" y="21437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等腰三角形 78"/>
          <p:cNvSpPr/>
          <p:nvPr/>
        </p:nvSpPr>
        <p:spPr>
          <a:xfrm rot="5400000">
            <a:off x="4802124" y="42011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1" name="肘形连接符 80"/>
          <p:cNvCxnSpPr/>
          <p:nvPr/>
        </p:nvCxnSpPr>
        <p:spPr>
          <a:xfrm>
            <a:off x="1905000" y="1535668"/>
            <a:ext cx="3200400" cy="609600"/>
          </a:xfrm>
          <a:prstGeom prst="bentConnector3">
            <a:avLst>
              <a:gd name="adj1" fmla="val 83894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/>
          <p:cNvCxnSpPr/>
          <p:nvPr/>
        </p:nvCxnSpPr>
        <p:spPr>
          <a:xfrm>
            <a:off x="4267200" y="2526268"/>
            <a:ext cx="8382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/>
          <p:cNvCxnSpPr/>
          <p:nvPr/>
        </p:nvCxnSpPr>
        <p:spPr>
          <a:xfrm>
            <a:off x="4267200" y="4278868"/>
            <a:ext cx="8382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任意多边形 99"/>
          <p:cNvSpPr/>
          <p:nvPr/>
        </p:nvSpPr>
        <p:spPr>
          <a:xfrm>
            <a:off x="5867400" y="1992868"/>
            <a:ext cx="609600" cy="2895600"/>
          </a:xfrm>
          <a:custGeom>
            <a:avLst/>
            <a:gdLst>
              <a:gd name="connsiteX0" fmla="*/ 0 w 509587"/>
              <a:gd name="connsiteY0" fmla="*/ 0 h 1614487"/>
              <a:gd name="connsiteX1" fmla="*/ 504825 w 509587"/>
              <a:gd name="connsiteY1" fmla="*/ 347662 h 1614487"/>
              <a:gd name="connsiteX2" fmla="*/ 509587 w 509587"/>
              <a:gd name="connsiteY2" fmla="*/ 1304925 h 1614487"/>
              <a:gd name="connsiteX3" fmla="*/ 0 w 509587"/>
              <a:gd name="connsiteY3" fmla="*/ 1614487 h 1614487"/>
              <a:gd name="connsiteX4" fmla="*/ 0 w 509587"/>
              <a:gd name="connsiteY4" fmla="*/ 1138237 h 1614487"/>
              <a:gd name="connsiteX5" fmla="*/ 100012 w 509587"/>
              <a:gd name="connsiteY5" fmla="*/ 1071562 h 1614487"/>
              <a:gd name="connsiteX6" fmla="*/ 100012 w 509587"/>
              <a:gd name="connsiteY6" fmla="*/ 642937 h 1614487"/>
              <a:gd name="connsiteX7" fmla="*/ 0 w 509587"/>
              <a:gd name="connsiteY7" fmla="*/ 557212 h 1614487"/>
              <a:gd name="connsiteX8" fmla="*/ 0 w 509587"/>
              <a:gd name="connsiteY8" fmla="*/ 0 h 1614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9587" h="1614487">
                <a:moveTo>
                  <a:pt x="0" y="0"/>
                </a:moveTo>
                <a:lnTo>
                  <a:pt x="504825" y="347662"/>
                </a:lnTo>
                <a:cubicBezTo>
                  <a:pt x="506412" y="666750"/>
                  <a:pt x="508000" y="985837"/>
                  <a:pt x="509587" y="1304925"/>
                </a:cubicBezTo>
                <a:lnTo>
                  <a:pt x="0" y="1614487"/>
                </a:lnTo>
                <a:lnTo>
                  <a:pt x="0" y="1138237"/>
                </a:lnTo>
                <a:lnTo>
                  <a:pt x="100012" y="1071562"/>
                </a:lnTo>
                <a:lnTo>
                  <a:pt x="100012" y="642937"/>
                </a:lnTo>
                <a:lnTo>
                  <a:pt x="0" y="55721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运算器</a:t>
            </a:r>
          </a:p>
        </p:txBody>
      </p:sp>
      <p:cxnSp>
        <p:nvCxnSpPr>
          <p:cNvPr id="102" name="直接箭头连接符 101"/>
          <p:cNvCxnSpPr>
            <a:stCxn id="78" idx="0"/>
          </p:cNvCxnSpPr>
          <p:nvPr/>
        </p:nvCxnSpPr>
        <p:spPr>
          <a:xfrm>
            <a:off x="5559552" y="2370820"/>
            <a:ext cx="307848" cy="304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/>
          <p:cNvCxnSpPr/>
          <p:nvPr/>
        </p:nvCxnSpPr>
        <p:spPr>
          <a:xfrm>
            <a:off x="5562600" y="4431268"/>
            <a:ext cx="307848" cy="304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矩形 104"/>
          <p:cNvSpPr/>
          <p:nvPr/>
        </p:nvSpPr>
        <p:spPr>
          <a:xfrm>
            <a:off x="7010400" y="2602468"/>
            <a:ext cx="7620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数据缓存</a:t>
            </a:r>
          </a:p>
        </p:txBody>
      </p:sp>
      <p:cxnSp>
        <p:nvCxnSpPr>
          <p:cNvPr id="107" name="直接箭头连接符 106"/>
          <p:cNvCxnSpPr>
            <a:endCxn id="105" idx="1"/>
          </p:cNvCxnSpPr>
          <p:nvPr/>
        </p:nvCxnSpPr>
        <p:spPr>
          <a:xfrm>
            <a:off x="6477000" y="3516868"/>
            <a:ext cx="5334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等腰三角形 109"/>
          <p:cNvSpPr/>
          <p:nvPr/>
        </p:nvSpPr>
        <p:spPr>
          <a:xfrm rot="5400000">
            <a:off x="6783324" y="14579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2" name="直接箭头连接符 111"/>
          <p:cNvCxnSpPr/>
          <p:nvPr/>
        </p:nvCxnSpPr>
        <p:spPr>
          <a:xfrm>
            <a:off x="4572000" y="1535668"/>
            <a:ext cx="25146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/>
          <p:cNvCxnSpPr/>
          <p:nvPr/>
        </p:nvCxnSpPr>
        <p:spPr>
          <a:xfrm rot="5400000" flipH="1" flipV="1">
            <a:off x="5906294" y="2716768"/>
            <a:ext cx="1599406" cy="79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117"/>
          <p:cNvCxnSpPr/>
          <p:nvPr/>
        </p:nvCxnSpPr>
        <p:spPr>
          <a:xfrm>
            <a:off x="6705600" y="1916668"/>
            <a:ext cx="3810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连接符 135"/>
          <p:cNvCxnSpPr>
            <a:stCxn id="110" idx="0"/>
          </p:cNvCxnSpPr>
          <p:nvPr/>
        </p:nvCxnSpPr>
        <p:spPr>
          <a:xfrm>
            <a:off x="7540752" y="1685020"/>
            <a:ext cx="307848" cy="304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连接符 140"/>
          <p:cNvCxnSpPr/>
          <p:nvPr/>
        </p:nvCxnSpPr>
        <p:spPr>
          <a:xfrm rot="5400000" flipH="1" flipV="1">
            <a:off x="7277100" y="1116568"/>
            <a:ext cx="11430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连接符 143"/>
          <p:cNvCxnSpPr/>
          <p:nvPr/>
        </p:nvCxnSpPr>
        <p:spPr>
          <a:xfrm rot="10800000">
            <a:off x="609600" y="545068"/>
            <a:ext cx="72390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箭头连接符 145"/>
          <p:cNvCxnSpPr>
            <a:endCxn id="5" idx="0"/>
          </p:cNvCxnSpPr>
          <p:nvPr/>
        </p:nvCxnSpPr>
        <p:spPr>
          <a:xfrm rot="5400000">
            <a:off x="-495300" y="1649968"/>
            <a:ext cx="2209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连接符 152"/>
          <p:cNvCxnSpPr/>
          <p:nvPr/>
        </p:nvCxnSpPr>
        <p:spPr>
          <a:xfrm rot="10800000">
            <a:off x="3505200" y="5345668"/>
            <a:ext cx="51816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箭头连接符 155"/>
          <p:cNvCxnSpPr>
            <a:endCxn id="68" idx="2"/>
          </p:cNvCxnSpPr>
          <p:nvPr/>
        </p:nvCxnSpPr>
        <p:spPr>
          <a:xfrm rot="5400000" flipH="1" flipV="1">
            <a:off x="3352006" y="5193268"/>
            <a:ext cx="305594" cy="7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/>
          <p:cNvCxnSpPr/>
          <p:nvPr/>
        </p:nvCxnSpPr>
        <p:spPr>
          <a:xfrm rot="5400000">
            <a:off x="4001294" y="4697968"/>
            <a:ext cx="837406" cy="79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接连接符 175"/>
          <p:cNvCxnSpPr/>
          <p:nvPr/>
        </p:nvCxnSpPr>
        <p:spPr>
          <a:xfrm>
            <a:off x="4419600" y="5117068"/>
            <a:ext cx="29718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箭头连接符 178"/>
          <p:cNvCxnSpPr>
            <a:endCxn id="105" idx="2"/>
          </p:cNvCxnSpPr>
          <p:nvPr/>
        </p:nvCxnSpPr>
        <p:spPr>
          <a:xfrm rot="5400000" flipH="1" flipV="1">
            <a:off x="7047706" y="4774168"/>
            <a:ext cx="686594" cy="7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等腰三角形 179"/>
          <p:cNvSpPr/>
          <p:nvPr/>
        </p:nvSpPr>
        <p:spPr>
          <a:xfrm rot="5400000">
            <a:off x="7773924" y="22199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2" name="直接箭头连接符 181"/>
          <p:cNvCxnSpPr/>
          <p:nvPr/>
        </p:nvCxnSpPr>
        <p:spPr>
          <a:xfrm>
            <a:off x="7772400" y="2831068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接箭头连接符 185"/>
          <p:cNvCxnSpPr>
            <a:endCxn id="180" idx="3"/>
          </p:cNvCxnSpPr>
          <p:nvPr/>
        </p:nvCxnSpPr>
        <p:spPr>
          <a:xfrm flipV="1">
            <a:off x="6705600" y="2447020"/>
            <a:ext cx="1371600" cy="304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接连接符 192"/>
          <p:cNvCxnSpPr/>
          <p:nvPr/>
        </p:nvCxnSpPr>
        <p:spPr>
          <a:xfrm rot="5400000">
            <a:off x="7658100" y="1878568"/>
            <a:ext cx="3810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接箭头连接符 194"/>
          <p:cNvCxnSpPr/>
          <p:nvPr/>
        </p:nvCxnSpPr>
        <p:spPr>
          <a:xfrm>
            <a:off x="7848600" y="2069068"/>
            <a:ext cx="2286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连接符 196"/>
          <p:cNvCxnSpPr>
            <a:stCxn id="180" idx="0"/>
          </p:cNvCxnSpPr>
          <p:nvPr/>
        </p:nvCxnSpPr>
        <p:spPr>
          <a:xfrm>
            <a:off x="8531352" y="2447020"/>
            <a:ext cx="155448" cy="304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连接符 198"/>
          <p:cNvCxnSpPr/>
          <p:nvPr/>
        </p:nvCxnSpPr>
        <p:spPr>
          <a:xfrm rot="5400000">
            <a:off x="7239000" y="3897868"/>
            <a:ext cx="28956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/>
          <p:cNvSpPr txBox="1"/>
          <p:nvPr/>
        </p:nvSpPr>
        <p:spPr>
          <a:xfrm>
            <a:off x="4419600" y="252626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Rs</a:t>
            </a:r>
            <a:endParaRPr lang="zh-CN" altLang="en-US" dirty="0"/>
          </a:p>
        </p:txBody>
      </p:sp>
      <p:sp>
        <p:nvSpPr>
          <p:cNvPr id="204" name="TextBox 203"/>
          <p:cNvSpPr txBox="1"/>
          <p:nvPr/>
        </p:nvSpPr>
        <p:spPr>
          <a:xfrm>
            <a:off x="4419600" y="38978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Rt</a:t>
            </a:r>
            <a:endParaRPr lang="zh-CN" altLang="en-US" dirty="0"/>
          </a:p>
        </p:txBody>
      </p:sp>
      <p:sp>
        <p:nvSpPr>
          <p:cNvPr id="205" name="TextBox 204"/>
          <p:cNvSpPr txBox="1"/>
          <p:nvPr/>
        </p:nvSpPr>
        <p:spPr>
          <a:xfrm>
            <a:off x="2971800" y="5040868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Rd</a:t>
            </a:r>
            <a:endParaRPr lang="zh-CN" altLang="en-US" dirty="0"/>
          </a:p>
        </p:txBody>
      </p:sp>
      <p:sp>
        <p:nvSpPr>
          <p:cNvPr id="206" name="TextBox 205"/>
          <p:cNvSpPr txBox="1"/>
          <p:nvPr/>
        </p:nvSpPr>
        <p:spPr>
          <a:xfrm>
            <a:off x="4038600" y="5802868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Imm</a:t>
            </a:r>
            <a:endParaRPr lang="zh-CN" altLang="en-US" dirty="0"/>
          </a:p>
        </p:txBody>
      </p:sp>
      <p:cxnSp>
        <p:nvCxnSpPr>
          <p:cNvPr id="223" name="直接箭头连接符 222"/>
          <p:cNvCxnSpPr/>
          <p:nvPr/>
        </p:nvCxnSpPr>
        <p:spPr>
          <a:xfrm>
            <a:off x="2286000" y="3960812"/>
            <a:ext cx="457200" cy="158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066800" y="6248400"/>
            <a:ext cx="6583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执行指令</a:t>
            </a:r>
            <a:r>
              <a:rPr lang="en-US" altLang="zh-CN" dirty="0" err="1"/>
              <a:t>addi</a:t>
            </a:r>
            <a:r>
              <a:rPr lang="en-US" altLang="zh-CN" dirty="0"/>
              <a:t> $s0, $s1, 5  </a:t>
            </a:r>
            <a:r>
              <a:rPr lang="zh-CN" altLang="en-US" dirty="0"/>
              <a:t>从寄存器堆读（</a:t>
            </a:r>
            <a:r>
              <a:rPr lang="en-US" altLang="zh-CN" dirty="0"/>
              <a:t>RD</a:t>
            </a:r>
            <a:r>
              <a:rPr lang="zh-CN" altLang="en-US" dirty="0"/>
              <a:t>）、运算（</a:t>
            </a:r>
            <a:r>
              <a:rPr lang="en-US" altLang="zh-CN" dirty="0"/>
              <a:t>ALU</a:t>
            </a:r>
            <a:r>
              <a:rPr lang="zh-CN" altLang="en-US" dirty="0"/>
              <a:t>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200" y="5562600"/>
            <a:ext cx="91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001000</a:t>
            </a:r>
            <a:endParaRPr lang="zh-CN" altLang="en-US" sz="1600" dirty="0"/>
          </a:p>
        </p:txBody>
      </p:sp>
      <p:sp>
        <p:nvSpPr>
          <p:cNvPr id="56" name="TextBox 55"/>
          <p:cNvSpPr txBox="1"/>
          <p:nvPr/>
        </p:nvSpPr>
        <p:spPr>
          <a:xfrm>
            <a:off x="798445" y="5562600"/>
            <a:ext cx="8017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10001</a:t>
            </a:r>
            <a:endParaRPr lang="zh-CN" altLang="en-US" sz="1600" dirty="0"/>
          </a:p>
        </p:txBody>
      </p:sp>
      <p:sp>
        <p:nvSpPr>
          <p:cNvPr id="58" name="TextBox 57"/>
          <p:cNvSpPr txBox="1"/>
          <p:nvPr/>
        </p:nvSpPr>
        <p:spPr>
          <a:xfrm>
            <a:off x="1371600" y="5562600"/>
            <a:ext cx="838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10000</a:t>
            </a:r>
            <a:endParaRPr lang="zh-CN" altLang="en-US" sz="1600" dirty="0"/>
          </a:p>
        </p:txBody>
      </p:sp>
      <p:sp>
        <p:nvSpPr>
          <p:cNvPr id="59" name="TextBox 58"/>
          <p:cNvSpPr txBox="1"/>
          <p:nvPr/>
        </p:nvSpPr>
        <p:spPr>
          <a:xfrm>
            <a:off x="1981200" y="5562600"/>
            <a:ext cx="2057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0000000000000101</a:t>
            </a:r>
            <a:endParaRPr lang="zh-CN" altLang="en-US" sz="1600" dirty="0"/>
          </a:p>
        </p:txBody>
      </p:sp>
      <p:cxnSp>
        <p:nvCxnSpPr>
          <p:cNvPr id="77" name="肘形连接符 76"/>
          <p:cNvCxnSpPr>
            <a:stCxn id="57" idx="3"/>
          </p:cNvCxnSpPr>
          <p:nvPr/>
        </p:nvCxnSpPr>
        <p:spPr>
          <a:xfrm flipV="1">
            <a:off x="3962400" y="4659869"/>
            <a:ext cx="1143000" cy="1104898"/>
          </a:xfrm>
          <a:prstGeom prst="bentConnector3">
            <a:avLst>
              <a:gd name="adj1" fmla="val 58348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7" name="表格 86"/>
          <p:cNvGraphicFramePr>
            <a:graphicFrameLocks noGrp="1"/>
          </p:cNvGraphicFramePr>
          <p:nvPr/>
        </p:nvGraphicFramePr>
        <p:xfrm>
          <a:off x="2743200" y="1676400"/>
          <a:ext cx="1524000" cy="333248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$0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$16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$3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$19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$4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$20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$5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$21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$6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$22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$7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$23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$8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$24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$9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$25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$10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$26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$11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$27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$12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$28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$13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$29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$14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$30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$15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$31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89" name="TextBox 88"/>
          <p:cNvSpPr txBox="1"/>
          <p:nvPr/>
        </p:nvSpPr>
        <p:spPr>
          <a:xfrm>
            <a:off x="3429000" y="1828800"/>
            <a:ext cx="9797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00000001</a:t>
            </a:r>
            <a:endParaRPr lang="zh-CN" altLang="en-US" sz="1400" dirty="0"/>
          </a:p>
        </p:txBody>
      </p:sp>
      <p:sp>
        <p:nvSpPr>
          <p:cNvPr id="95" name="TextBox 94"/>
          <p:cNvSpPr txBox="1"/>
          <p:nvPr/>
        </p:nvSpPr>
        <p:spPr>
          <a:xfrm>
            <a:off x="6019800" y="3276600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00000006</a:t>
            </a:r>
            <a:endParaRPr lang="zh-CN" altLang="en-US" sz="1400" dirty="0"/>
          </a:p>
        </p:txBody>
      </p:sp>
      <p:sp>
        <p:nvSpPr>
          <p:cNvPr id="96" name="TextBox 95"/>
          <p:cNvSpPr txBox="1"/>
          <p:nvPr/>
        </p:nvSpPr>
        <p:spPr>
          <a:xfrm>
            <a:off x="798445" y="5562600"/>
            <a:ext cx="8017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10001</a:t>
            </a:r>
            <a:endParaRPr lang="zh-CN" altLang="en-US" sz="1600" dirty="0"/>
          </a:p>
        </p:txBody>
      </p:sp>
      <p:sp>
        <p:nvSpPr>
          <p:cNvPr id="97" name="TextBox 96"/>
          <p:cNvSpPr txBox="1"/>
          <p:nvPr/>
        </p:nvSpPr>
        <p:spPr>
          <a:xfrm>
            <a:off x="1371600" y="5562600"/>
            <a:ext cx="685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100</a:t>
            </a:r>
            <a:endParaRPr lang="zh-CN" altLang="en-US" sz="1600" dirty="0"/>
          </a:p>
        </p:txBody>
      </p:sp>
      <p:sp>
        <p:nvSpPr>
          <p:cNvPr id="98" name="TextBox 97"/>
          <p:cNvSpPr txBox="1"/>
          <p:nvPr/>
        </p:nvSpPr>
        <p:spPr>
          <a:xfrm>
            <a:off x="3657600" y="1828800"/>
            <a:ext cx="685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Consolas" pitchFamily="49" charset="0"/>
              </a:rPr>
              <a:t>$17</a:t>
            </a:r>
            <a:endParaRPr lang="zh-CN" altLang="en-US" sz="1400" dirty="0">
              <a:latin typeface="Consolas" pitchFamily="49" charset="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3657600" y="2057400"/>
            <a:ext cx="685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Consolas" pitchFamily="49" charset="0"/>
              </a:rPr>
              <a:t>$18</a:t>
            </a:r>
            <a:endParaRPr lang="zh-CN" altLang="en-US" sz="1400" dirty="0">
              <a:latin typeface="Consolas" pitchFamily="49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981200" y="5562600"/>
            <a:ext cx="2057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0000000000000101</a:t>
            </a:r>
            <a:endParaRPr lang="zh-CN" altLang="en-US" sz="1600" dirty="0"/>
          </a:p>
        </p:txBody>
      </p:sp>
      <p:sp>
        <p:nvSpPr>
          <p:cNvPr id="72" name="TextBox 71"/>
          <p:cNvSpPr txBox="1"/>
          <p:nvPr/>
        </p:nvSpPr>
        <p:spPr>
          <a:xfrm>
            <a:off x="4191000" y="5562600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00000005</a:t>
            </a:r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6" dur="1000" tmFilter="0, 0; .2, .5; .8, .5; 1, 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500" autoRev="1" fill="hold"/>
                                        <p:tgtEl>
                                          <p:spTgt spid="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1.76035E-6 L 0.11493 -0.12862 L 0.11597 -0.47976 L 0.13559 -0.47976 " pathEditMode="relative" rAng="0" ptsTypes="AAAA">
                                      <p:cBhvr>
                                        <p:cTn id="10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800" y="-24000"/>
                                    </p:animMotion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2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0"/>
                            </p:stCondLst>
                            <p:childTnLst>
                              <p:par>
                                <p:cTn id="15" presetID="3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6000"/>
                            </p:stCondLst>
                            <p:childTnLst>
                              <p:par>
                                <p:cTn id="19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1.58917E-6 L 0.04844 0.05575 L 0.08681 0.05575 " pathEditMode="relative" rAng="0" ptsTypes="AAA">
                                      <p:cBhvr>
                                        <p:cTn id="20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00" y="2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76035E-6 L 0.1875 -0.00231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400" y="-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3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68 0.05575 L 0.13819 0.05459 L 0.17986 0.03817 L 0.22951 0.03817 " pathEditMode="relative" rAng="0" ptsTypes="AAAA">
                                      <p:cBhvr>
                                        <p:cTn id="36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100" y="-90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17 -0.00023 L -0.0033 -0.17118 L 0.04826 -0.17118 L 0.09479 -0.21143 L 0.14167 -0.21143 " pathEditMode="relative" rAng="0" ptsTypes="AAAAA">
                                      <p:cBhvr>
                                        <p:cTn id="38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300" y="-106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7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" dur="1000" autoRev="1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2" dur="1000" autoRev="1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" dur="1000" autoRev="1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1000" autoRev="1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3" presetClass="exit" presetSubtype="1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7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3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0"/>
                            </p:stCondLst>
                            <p:childTnLst>
                              <p:par>
                                <p:cTn id="5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nimBg="1"/>
      <p:bldP spid="53" grpId="0"/>
      <p:bldP spid="56" grpId="0"/>
      <p:bldP spid="89" grpId="0"/>
      <p:bldP spid="89" grpId="1"/>
      <p:bldP spid="89" grpId="2"/>
      <p:bldP spid="89" grpId="3"/>
      <p:bldP spid="95" grpId="0"/>
      <p:bldP spid="98" grpId="0"/>
      <p:bldP spid="69" grpId="0"/>
      <p:bldP spid="69" grpId="1"/>
      <p:bldP spid="72" grpId="0"/>
      <p:bldP spid="72" grpId="1"/>
      <p:bldP spid="72" grpId="2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28600" y="2754868"/>
            <a:ext cx="762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PC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371600" y="2602468"/>
            <a:ext cx="7620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指令缓存</a:t>
            </a:r>
          </a:p>
        </p:txBody>
      </p:sp>
      <p:sp>
        <p:nvSpPr>
          <p:cNvPr id="24" name="任意多边形 23"/>
          <p:cNvSpPr/>
          <p:nvPr/>
        </p:nvSpPr>
        <p:spPr>
          <a:xfrm>
            <a:off x="1371600" y="773668"/>
            <a:ext cx="509587" cy="1614487"/>
          </a:xfrm>
          <a:custGeom>
            <a:avLst/>
            <a:gdLst>
              <a:gd name="connsiteX0" fmla="*/ 0 w 509587"/>
              <a:gd name="connsiteY0" fmla="*/ 0 h 1614487"/>
              <a:gd name="connsiteX1" fmla="*/ 504825 w 509587"/>
              <a:gd name="connsiteY1" fmla="*/ 347662 h 1614487"/>
              <a:gd name="connsiteX2" fmla="*/ 509587 w 509587"/>
              <a:gd name="connsiteY2" fmla="*/ 1304925 h 1614487"/>
              <a:gd name="connsiteX3" fmla="*/ 0 w 509587"/>
              <a:gd name="connsiteY3" fmla="*/ 1614487 h 1614487"/>
              <a:gd name="connsiteX4" fmla="*/ 0 w 509587"/>
              <a:gd name="connsiteY4" fmla="*/ 1138237 h 1614487"/>
              <a:gd name="connsiteX5" fmla="*/ 100012 w 509587"/>
              <a:gd name="connsiteY5" fmla="*/ 1071562 h 1614487"/>
              <a:gd name="connsiteX6" fmla="*/ 100012 w 509587"/>
              <a:gd name="connsiteY6" fmla="*/ 642937 h 1614487"/>
              <a:gd name="connsiteX7" fmla="*/ 0 w 509587"/>
              <a:gd name="connsiteY7" fmla="*/ 557212 h 1614487"/>
              <a:gd name="connsiteX8" fmla="*/ 0 w 509587"/>
              <a:gd name="connsiteY8" fmla="*/ 0 h 1614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9587" h="1614487">
                <a:moveTo>
                  <a:pt x="0" y="0"/>
                </a:moveTo>
                <a:lnTo>
                  <a:pt x="504825" y="347662"/>
                </a:lnTo>
                <a:cubicBezTo>
                  <a:pt x="506412" y="666750"/>
                  <a:pt x="508000" y="985837"/>
                  <a:pt x="509587" y="1304925"/>
                </a:cubicBezTo>
                <a:lnTo>
                  <a:pt x="0" y="1614487"/>
                </a:lnTo>
                <a:lnTo>
                  <a:pt x="0" y="1138237"/>
                </a:lnTo>
                <a:lnTo>
                  <a:pt x="100012" y="1071562"/>
                </a:lnTo>
                <a:lnTo>
                  <a:pt x="100012" y="642937"/>
                </a:lnTo>
                <a:lnTo>
                  <a:pt x="0" y="55721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加法器</a:t>
            </a:r>
          </a:p>
        </p:txBody>
      </p:sp>
      <p:sp>
        <p:nvSpPr>
          <p:cNvPr id="48" name="直角上箭头 47"/>
          <p:cNvSpPr/>
          <p:nvPr/>
        </p:nvSpPr>
        <p:spPr>
          <a:xfrm rot="16200000" flipV="1">
            <a:off x="800100" y="2411968"/>
            <a:ext cx="914400" cy="228600"/>
          </a:xfrm>
          <a:prstGeom prst="bentUpArrow">
            <a:avLst>
              <a:gd name="adj1" fmla="val 0"/>
              <a:gd name="adj2" fmla="val 25000"/>
              <a:gd name="adj3" fmla="val 25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1" name="直接箭头连接符 50"/>
          <p:cNvCxnSpPr>
            <a:stCxn id="5" idx="3"/>
          </p:cNvCxnSpPr>
          <p:nvPr/>
        </p:nvCxnSpPr>
        <p:spPr>
          <a:xfrm>
            <a:off x="990600" y="2983468"/>
            <a:ext cx="381000" cy="1588"/>
          </a:xfrm>
          <a:prstGeom prst="straightConnector1">
            <a:avLst/>
          </a:prstGeom>
          <a:ln w="254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>
            <a:off x="1066800" y="1078468"/>
            <a:ext cx="304800" cy="1588"/>
          </a:xfrm>
          <a:prstGeom prst="straightConnector1">
            <a:avLst/>
          </a:prstGeom>
          <a:ln w="254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62000" y="849868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7" name="矩形 56"/>
          <p:cNvSpPr/>
          <p:nvPr/>
        </p:nvSpPr>
        <p:spPr>
          <a:xfrm>
            <a:off x="152400" y="5574267"/>
            <a:ext cx="3886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5" name="直接箭头连接符 64"/>
          <p:cNvCxnSpPr/>
          <p:nvPr/>
        </p:nvCxnSpPr>
        <p:spPr>
          <a:xfrm rot="5400000">
            <a:off x="1181497" y="5002371"/>
            <a:ext cx="1143000" cy="7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/>
          <p:cNvSpPr/>
          <p:nvPr/>
        </p:nvSpPr>
        <p:spPr>
          <a:xfrm>
            <a:off x="2743200" y="1676400"/>
            <a:ext cx="1524000" cy="33644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1" name="直接连接符 70"/>
          <p:cNvCxnSpPr/>
          <p:nvPr/>
        </p:nvCxnSpPr>
        <p:spPr>
          <a:xfrm rot="5400000" flipH="1" flipV="1">
            <a:off x="800100" y="4088368"/>
            <a:ext cx="2971800" cy="1588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>
            <a:off x="2286000" y="2602468"/>
            <a:ext cx="457200" cy="158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>
            <a:off x="2286000" y="3276600"/>
            <a:ext cx="457200" cy="158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等腰三角形 77"/>
          <p:cNvSpPr/>
          <p:nvPr/>
        </p:nvSpPr>
        <p:spPr>
          <a:xfrm rot="5400000">
            <a:off x="4802124" y="21437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等腰三角形 78"/>
          <p:cNvSpPr/>
          <p:nvPr/>
        </p:nvSpPr>
        <p:spPr>
          <a:xfrm rot="5400000">
            <a:off x="4802124" y="42011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1" name="肘形连接符 80"/>
          <p:cNvCxnSpPr/>
          <p:nvPr/>
        </p:nvCxnSpPr>
        <p:spPr>
          <a:xfrm>
            <a:off x="1905000" y="1535668"/>
            <a:ext cx="3200400" cy="609600"/>
          </a:xfrm>
          <a:prstGeom prst="bentConnector3">
            <a:avLst>
              <a:gd name="adj1" fmla="val 83894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/>
          <p:cNvCxnSpPr/>
          <p:nvPr/>
        </p:nvCxnSpPr>
        <p:spPr>
          <a:xfrm>
            <a:off x="4267200" y="2526268"/>
            <a:ext cx="8382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/>
          <p:cNvCxnSpPr/>
          <p:nvPr/>
        </p:nvCxnSpPr>
        <p:spPr>
          <a:xfrm>
            <a:off x="4267200" y="4278868"/>
            <a:ext cx="8382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任意多边形 99"/>
          <p:cNvSpPr/>
          <p:nvPr/>
        </p:nvSpPr>
        <p:spPr>
          <a:xfrm>
            <a:off x="5867400" y="1992868"/>
            <a:ext cx="609600" cy="2895600"/>
          </a:xfrm>
          <a:custGeom>
            <a:avLst/>
            <a:gdLst>
              <a:gd name="connsiteX0" fmla="*/ 0 w 509587"/>
              <a:gd name="connsiteY0" fmla="*/ 0 h 1614487"/>
              <a:gd name="connsiteX1" fmla="*/ 504825 w 509587"/>
              <a:gd name="connsiteY1" fmla="*/ 347662 h 1614487"/>
              <a:gd name="connsiteX2" fmla="*/ 509587 w 509587"/>
              <a:gd name="connsiteY2" fmla="*/ 1304925 h 1614487"/>
              <a:gd name="connsiteX3" fmla="*/ 0 w 509587"/>
              <a:gd name="connsiteY3" fmla="*/ 1614487 h 1614487"/>
              <a:gd name="connsiteX4" fmla="*/ 0 w 509587"/>
              <a:gd name="connsiteY4" fmla="*/ 1138237 h 1614487"/>
              <a:gd name="connsiteX5" fmla="*/ 100012 w 509587"/>
              <a:gd name="connsiteY5" fmla="*/ 1071562 h 1614487"/>
              <a:gd name="connsiteX6" fmla="*/ 100012 w 509587"/>
              <a:gd name="connsiteY6" fmla="*/ 642937 h 1614487"/>
              <a:gd name="connsiteX7" fmla="*/ 0 w 509587"/>
              <a:gd name="connsiteY7" fmla="*/ 557212 h 1614487"/>
              <a:gd name="connsiteX8" fmla="*/ 0 w 509587"/>
              <a:gd name="connsiteY8" fmla="*/ 0 h 1614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9587" h="1614487">
                <a:moveTo>
                  <a:pt x="0" y="0"/>
                </a:moveTo>
                <a:lnTo>
                  <a:pt x="504825" y="347662"/>
                </a:lnTo>
                <a:cubicBezTo>
                  <a:pt x="506412" y="666750"/>
                  <a:pt x="508000" y="985837"/>
                  <a:pt x="509587" y="1304925"/>
                </a:cubicBezTo>
                <a:lnTo>
                  <a:pt x="0" y="1614487"/>
                </a:lnTo>
                <a:lnTo>
                  <a:pt x="0" y="1138237"/>
                </a:lnTo>
                <a:lnTo>
                  <a:pt x="100012" y="1071562"/>
                </a:lnTo>
                <a:lnTo>
                  <a:pt x="100012" y="642937"/>
                </a:lnTo>
                <a:lnTo>
                  <a:pt x="0" y="55721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运算器</a:t>
            </a:r>
          </a:p>
        </p:txBody>
      </p:sp>
      <p:cxnSp>
        <p:nvCxnSpPr>
          <p:cNvPr id="102" name="直接箭头连接符 101"/>
          <p:cNvCxnSpPr>
            <a:stCxn id="78" idx="0"/>
          </p:cNvCxnSpPr>
          <p:nvPr/>
        </p:nvCxnSpPr>
        <p:spPr>
          <a:xfrm>
            <a:off x="5559552" y="2370820"/>
            <a:ext cx="307848" cy="304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/>
          <p:cNvCxnSpPr/>
          <p:nvPr/>
        </p:nvCxnSpPr>
        <p:spPr>
          <a:xfrm>
            <a:off x="5562600" y="4431268"/>
            <a:ext cx="307848" cy="304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矩形 104"/>
          <p:cNvSpPr/>
          <p:nvPr/>
        </p:nvSpPr>
        <p:spPr>
          <a:xfrm>
            <a:off x="7010400" y="2602468"/>
            <a:ext cx="7620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数据缓存</a:t>
            </a:r>
          </a:p>
        </p:txBody>
      </p:sp>
      <p:cxnSp>
        <p:nvCxnSpPr>
          <p:cNvPr id="107" name="直接箭头连接符 106"/>
          <p:cNvCxnSpPr>
            <a:endCxn id="105" idx="1"/>
          </p:cNvCxnSpPr>
          <p:nvPr/>
        </p:nvCxnSpPr>
        <p:spPr>
          <a:xfrm>
            <a:off x="6477000" y="3516868"/>
            <a:ext cx="5334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等腰三角形 109"/>
          <p:cNvSpPr/>
          <p:nvPr/>
        </p:nvSpPr>
        <p:spPr>
          <a:xfrm rot="5400000">
            <a:off x="6783324" y="14579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2" name="直接箭头连接符 111"/>
          <p:cNvCxnSpPr/>
          <p:nvPr/>
        </p:nvCxnSpPr>
        <p:spPr>
          <a:xfrm>
            <a:off x="4572000" y="1535668"/>
            <a:ext cx="25146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/>
          <p:cNvCxnSpPr/>
          <p:nvPr/>
        </p:nvCxnSpPr>
        <p:spPr>
          <a:xfrm rot="5400000" flipH="1" flipV="1">
            <a:off x="5906294" y="2716768"/>
            <a:ext cx="1599406" cy="79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117"/>
          <p:cNvCxnSpPr/>
          <p:nvPr/>
        </p:nvCxnSpPr>
        <p:spPr>
          <a:xfrm>
            <a:off x="6705600" y="1916668"/>
            <a:ext cx="3810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连接符 135"/>
          <p:cNvCxnSpPr>
            <a:stCxn id="110" idx="0"/>
          </p:cNvCxnSpPr>
          <p:nvPr/>
        </p:nvCxnSpPr>
        <p:spPr>
          <a:xfrm>
            <a:off x="7540752" y="1685020"/>
            <a:ext cx="307848" cy="304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连接符 140"/>
          <p:cNvCxnSpPr/>
          <p:nvPr/>
        </p:nvCxnSpPr>
        <p:spPr>
          <a:xfrm rot="5400000" flipH="1" flipV="1">
            <a:off x="7277100" y="1116568"/>
            <a:ext cx="11430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连接符 143"/>
          <p:cNvCxnSpPr/>
          <p:nvPr/>
        </p:nvCxnSpPr>
        <p:spPr>
          <a:xfrm rot="10800000">
            <a:off x="609600" y="545068"/>
            <a:ext cx="72390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箭头连接符 145"/>
          <p:cNvCxnSpPr>
            <a:endCxn id="5" idx="0"/>
          </p:cNvCxnSpPr>
          <p:nvPr/>
        </p:nvCxnSpPr>
        <p:spPr>
          <a:xfrm rot="5400000">
            <a:off x="-495300" y="1649968"/>
            <a:ext cx="2209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连接符 152"/>
          <p:cNvCxnSpPr/>
          <p:nvPr/>
        </p:nvCxnSpPr>
        <p:spPr>
          <a:xfrm rot="10800000">
            <a:off x="3505200" y="5345668"/>
            <a:ext cx="51816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箭头连接符 155"/>
          <p:cNvCxnSpPr>
            <a:endCxn id="68" idx="2"/>
          </p:cNvCxnSpPr>
          <p:nvPr/>
        </p:nvCxnSpPr>
        <p:spPr>
          <a:xfrm rot="5400000" flipH="1" flipV="1">
            <a:off x="3352006" y="5193268"/>
            <a:ext cx="305594" cy="7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/>
          <p:cNvCxnSpPr/>
          <p:nvPr/>
        </p:nvCxnSpPr>
        <p:spPr>
          <a:xfrm rot="5400000">
            <a:off x="4001294" y="4697968"/>
            <a:ext cx="837406" cy="79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接连接符 175"/>
          <p:cNvCxnSpPr/>
          <p:nvPr/>
        </p:nvCxnSpPr>
        <p:spPr>
          <a:xfrm>
            <a:off x="4419600" y="5117068"/>
            <a:ext cx="29718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箭头连接符 178"/>
          <p:cNvCxnSpPr>
            <a:endCxn id="105" idx="2"/>
          </p:cNvCxnSpPr>
          <p:nvPr/>
        </p:nvCxnSpPr>
        <p:spPr>
          <a:xfrm rot="5400000" flipH="1" flipV="1">
            <a:off x="7047706" y="4774168"/>
            <a:ext cx="686594" cy="7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等腰三角形 179"/>
          <p:cNvSpPr/>
          <p:nvPr/>
        </p:nvSpPr>
        <p:spPr>
          <a:xfrm rot="5400000">
            <a:off x="7773924" y="22199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2" name="直接箭头连接符 181"/>
          <p:cNvCxnSpPr/>
          <p:nvPr/>
        </p:nvCxnSpPr>
        <p:spPr>
          <a:xfrm>
            <a:off x="7772400" y="2831068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接箭头连接符 185"/>
          <p:cNvCxnSpPr>
            <a:endCxn id="180" idx="3"/>
          </p:cNvCxnSpPr>
          <p:nvPr/>
        </p:nvCxnSpPr>
        <p:spPr>
          <a:xfrm flipV="1">
            <a:off x="6705600" y="2447020"/>
            <a:ext cx="1371600" cy="304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接连接符 192"/>
          <p:cNvCxnSpPr/>
          <p:nvPr/>
        </p:nvCxnSpPr>
        <p:spPr>
          <a:xfrm rot="5400000">
            <a:off x="7658100" y="1878568"/>
            <a:ext cx="3810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接箭头连接符 194"/>
          <p:cNvCxnSpPr/>
          <p:nvPr/>
        </p:nvCxnSpPr>
        <p:spPr>
          <a:xfrm>
            <a:off x="7848600" y="2069068"/>
            <a:ext cx="2286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连接符 196"/>
          <p:cNvCxnSpPr>
            <a:stCxn id="180" idx="0"/>
          </p:cNvCxnSpPr>
          <p:nvPr/>
        </p:nvCxnSpPr>
        <p:spPr>
          <a:xfrm>
            <a:off x="8531352" y="2447020"/>
            <a:ext cx="155448" cy="304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连接符 198"/>
          <p:cNvCxnSpPr/>
          <p:nvPr/>
        </p:nvCxnSpPr>
        <p:spPr>
          <a:xfrm rot="5400000">
            <a:off x="7239000" y="3897868"/>
            <a:ext cx="28956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/>
          <p:cNvSpPr txBox="1"/>
          <p:nvPr/>
        </p:nvSpPr>
        <p:spPr>
          <a:xfrm>
            <a:off x="4419600" y="252626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Rs</a:t>
            </a:r>
            <a:endParaRPr lang="zh-CN" altLang="en-US" dirty="0"/>
          </a:p>
        </p:txBody>
      </p:sp>
      <p:sp>
        <p:nvSpPr>
          <p:cNvPr id="204" name="TextBox 203"/>
          <p:cNvSpPr txBox="1"/>
          <p:nvPr/>
        </p:nvSpPr>
        <p:spPr>
          <a:xfrm>
            <a:off x="4419600" y="38978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Rt</a:t>
            </a:r>
            <a:endParaRPr lang="zh-CN" altLang="en-US" dirty="0"/>
          </a:p>
        </p:txBody>
      </p:sp>
      <p:sp>
        <p:nvSpPr>
          <p:cNvPr id="205" name="TextBox 204"/>
          <p:cNvSpPr txBox="1"/>
          <p:nvPr/>
        </p:nvSpPr>
        <p:spPr>
          <a:xfrm>
            <a:off x="2971800" y="5040868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Rd</a:t>
            </a:r>
            <a:endParaRPr lang="zh-CN" altLang="en-US" dirty="0"/>
          </a:p>
        </p:txBody>
      </p:sp>
      <p:sp>
        <p:nvSpPr>
          <p:cNvPr id="206" name="TextBox 205"/>
          <p:cNvSpPr txBox="1"/>
          <p:nvPr/>
        </p:nvSpPr>
        <p:spPr>
          <a:xfrm>
            <a:off x="4038600" y="5802868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Imm</a:t>
            </a:r>
            <a:endParaRPr lang="zh-CN" altLang="en-US" dirty="0"/>
          </a:p>
        </p:txBody>
      </p:sp>
      <p:cxnSp>
        <p:nvCxnSpPr>
          <p:cNvPr id="223" name="直接箭头连接符 222"/>
          <p:cNvCxnSpPr/>
          <p:nvPr/>
        </p:nvCxnSpPr>
        <p:spPr>
          <a:xfrm>
            <a:off x="2286000" y="3960812"/>
            <a:ext cx="457200" cy="158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066800" y="6248400"/>
            <a:ext cx="6497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执行指令</a:t>
            </a:r>
            <a:r>
              <a:rPr lang="en-US" altLang="zh-CN" dirty="0" err="1"/>
              <a:t>addi</a:t>
            </a:r>
            <a:r>
              <a:rPr lang="en-US" altLang="zh-CN" dirty="0"/>
              <a:t> $s0, $s1, 5   </a:t>
            </a:r>
            <a:r>
              <a:rPr lang="zh-CN" altLang="en-US" dirty="0"/>
              <a:t>访问数据缓存（</a:t>
            </a:r>
            <a:r>
              <a:rPr lang="en-US" altLang="zh-CN" dirty="0"/>
              <a:t>MEM</a:t>
            </a:r>
            <a:r>
              <a:rPr lang="zh-CN" altLang="en-US" dirty="0"/>
              <a:t>）、回写（</a:t>
            </a:r>
            <a:r>
              <a:rPr lang="en-US" altLang="zh-CN" dirty="0"/>
              <a:t>WB</a:t>
            </a:r>
            <a:r>
              <a:rPr lang="zh-CN" altLang="en-US" dirty="0"/>
              <a:t>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200" y="5562600"/>
            <a:ext cx="91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000000</a:t>
            </a:r>
            <a:endParaRPr lang="zh-CN" altLang="en-US" sz="1600" dirty="0"/>
          </a:p>
        </p:txBody>
      </p:sp>
      <p:sp>
        <p:nvSpPr>
          <p:cNvPr id="56" name="TextBox 55"/>
          <p:cNvSpPr txBox="1"/>
          <p:nvPr/>
        </p:nvSpPr>
        <p:spPr>
          <a:xfrm>
            <a:off x="798445" y="5562600"/>
            <a:ext cx="8017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10001</a:t>
            </a:r>
            <a:endParaRPr lang="zh-CN" altLang="en-US" sz="1600" dirty="0"/>
          </a:p>
        </p:txBody>
      </p:sp>
      <p:sp>
        <p:nvSpPr>
          <p:cNvPr id="59" name="TextBox 58"/>
          <p:cNvSpPr txBox="1"/>
          <p:nvPr/>
        </p:nvSpPr>
        <p:spPr>
          <a:xfrm>
            <a:off x="1371600" y="5562600"/>
            <a:ext cx="838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10000</a:t>
            </a:r>
            <a:endParaRPr lang="zh-CN" altLang="en-US" sz="1600" dirty="0"/>
          </a:p>
        </p:txBody>
      </p:sp>
      <p:cxnSp>
        <p:nvCxnSpPr>
          <p:cNvPr id="77" name="肘形连接符 76"/>
          <p:cNvCxnSpPr/>
          <p:nvPr/>
        </p:nvCxnSpPr>
        <p:spPr>
          <a:xfrm flipV="1">
            <a:off x="3962400" y="4659868"/>
            <a:ext cx="1143000" cy="1131332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7" name="表格 86"/>
          <p:cNvGraphicFramePr>
            <a:graphicFrameLocks noGrp="1"/>
          </p:cNvGraphicFramePr>
          <p:nvPr/>
        </p:nvGraphicFramePr>
        <p:xfrm>
          <a:off x="2743200" y="1676400"/>
          <a:ext cx="1524000" cy="333248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$0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$17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$18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$3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$19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$4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$20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$5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$21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$6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$22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$7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$23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$8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$24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$9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$25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$10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$26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$11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$27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$12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$28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$13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$29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$14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$30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$15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$31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95" name="TextBox 94"/>
          <p:cNvSpPr txBox="1"/>
          <p:nvPr/>
        </p:nvSpPr>
        <p:spPr>
          <a:xfrm>
            <a:off x="6019800" y="3276600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00000006</a:t>
            </a:r>
            <a:endParaRPr lang="zh-CN" altLang="en-US" sz="1400" dirty="0"/>
          </a:p>
        </p:txBody>
      </p:sp>
      <p:sp>
        <p:nvSpPr>
          <p:cNvPr id="64" name="TextBox 63"/>
          <p:cNvSpPr txBox="1"/>
          <p:nvPr/>
        </p:nvSpPr>
        <p:spPr>
          <a:xfrm>
            <a:off x="1371600" y="5562600"/>
            <a:ext cx="838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10000</a:t>
            </a:r>
            <a:endParaRPr lang="zh-CN" altLang="en-US" sz="1600" dirty="0"/>
          </a:p>
        </p:txBody>
      </p:sp>
      <p:sp>
        <p:nvSpPr>
          <p:cNvPr id="66" name="TextBox 65"/>
          <p:cNvSpPr txBox="1"/>
          <p:nvPr/>
        </p:nvSpPr>
        <p:spPr>
          <a:xfrm>
            <a:off x="3652959" y="1633668"/>
            <a:ext cx="685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Consolas" pitchFamily="49" charset="0"/>
              </a:rPr>
              <a:t>$16</a:t>
            </a:r>
            <a:endParaRPr lang="zh-CN" altLang="en-US" sz="1400" dirty="0">
              <a:latin typeface="Consolas" pitchFamily="49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2057400" y="5562600"/>
            <a:ext cx="2057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0000000000000101</a:t>
            </a:r>
            <a:endParaRPr lang="zh-CN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32084E-6 L 0.05295 -0.07055 L 0.05295 -0.28036 L 0.0757 -0.28036 " pathEditMode="relative" ptsTypes="AAAA">
                                      <p:cBhvr>
                                        <p:cTn id="6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7 0.0007 L 0.02882 0.0007 L 0.02969 -0.1603 L 0.24271 -0.1603 L 0.24271 0.26949 L -0.32153 0.26834 L -0.28646 -0.24034 " pathEditMode="relative" rAng="0" ptsTypes="AAAAAAA">
                                      <p:cBhvr>
                                        <p:cTn id="12" dur="5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00" y="1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/>
      <p:bldP spid="64" grpId="0"/>
      <p:bldP spid="6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J</a:t>
            </a:r>
            <a:r>
              <a:rPr lang="zh-CN" altLang="en-US" b="1" dirty="0"/>
              <a:t>指令格式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590800"/>
            <a:ext cx="8229600" cy="2667000"/>
          </a:xfrm>
        </p:spPr>
        <p:txBody>
          <a:bodyPr/>
          <a:lstStyle/>
          <a:p>
            <a:r>
              <a:rPr lang="zh-CN" altLang="en-US" sz="2400" dirty="0"/>
              <a:t>一个操作数：</a:t>
            </a:r>
            <a:endParaRPr lang="en-US" altLang="zh-CN" sz="2400" dirty="0"/>
          </a:p>
          <a:p>
            <a:pPr lvl="1"/>
            <a:r>
              <a:rPr lang="en-US" altLang="zh-CN" sz="2000" b="1" dirty="0" err="1"/>
              <a:t>addr</a:t>
            </a:r>
            <a:r>
              <a:rPr lang="en-US" altLang="zh-CN" sz="2000" dirty="0"/>
              <a:t>:</a:t>
            </a:r>
            <a:r>
              <a:rPr lang="zh-CN" altLang="en-US" sz="2000" dirty="0"/>
              <a:t>：</a:t>
            </a:r>
            <a:r>
              <a:rPr lang="en-US" altLang="zh-CN" sz="2000" dirty="0"/>
              <a:t>26</a:t>
            </a:r>
            <a:r>
              <a:rPr lang="zh-CN" altLang="en-US" sz="2000" dirty="0"/>
              <a:t>位操作数（目的操作数），即目标地址</a:t>
            </a:r>
            <a:endParaRPr lang="en-US" altLang="zh-CN" sz="2000" dirty="0"/>
          </a:p>
          <a:p>
            <a:r>
              <a:rPr lang="zh-CN" altLang="en-US" sz="2400" dirty="0"/>
              <a:t>其它字段：</a:t>
            </a:r>
            <a:endParaRPr lang="en-US" altLang="zh-CN" sz="2400" dirty="0"/>
          </a:p>
          <a:p>
            <a:pPr lvl="1"/>
            <a:r>
              <a:rPr lang="en-US" altLang="zh-CN" sz="2000" b="1" dirty="0"/>
              <a:t>op</a:t>
            </a:r>
            <a:r>
              <a:rPr lang="zh-CN" altLang="en-US" sz="2000" dirty="0"/>
              <a:t>：操作码</a:t>
            </a:r>
            <a:endParaRPr lang="en-US" altLang="zh-CN" sz="2000" dirty="0"/>
          </a:p>
          <a:p>
            <a:r>
              <a:rPr lang="zh-CN" altLang="en-US" sz="2400" dirty="0"/>
              <a:t>仅用于无条件转移指令（</a:t>
            </a:r>
            <a:r>
              <a:rPr lang="en-US" altLang="zh-CN" sz="2400" dirty="0"/>
              <a:t>jump</a:t>
            </a:r>
            <a:r>
              <a:rPr lang="zh-CN" altLang="en-US" sz="2400" dirty="0"/>
              <a:t>指令）</a:t>
            </a:r>
            <a:endParaRPr lang="en-US" altLang="zh-CN" sz="2400" dirty="0"/>
          </a:p>
          <a:p>
            <a:endParaRPr lang="zh-CN" altLang="en-US" sz="24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676400"/>
            <a:ext cx="5867400" cy="80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76200" y="2754868"/>
            <a:ext cx="9144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371600" y="2602468"/>
            <a:ext cx="7620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指令缓存</a:t>
            </a:r>
          </a:p>
        </p:txBody>
      </p:sp>
      <p:sp>
        <p:nvSpPr>
          <p:cNvPr id="24" name="任意多边形 23"/>
          <p:cNvSpPr/>
          <p:nvPr/>
        </p:nvSpPr>
        <p:spPr>
          <a:xfrm>
            <a:off x="1371600" y="773668"/>
            <a:ext cx="509587" cy="1614487"/>
          </a:xfrm>
          <a:custGeom>
            <a:avLst/>
            <a:gdLst>
              <a:gd name="connsiteX0" fmla="*/ 0 w 509587"/>
              <a:gd name="connsiteY0" fmla="*/ 0 h 1614487"/>
              <a:gd name="connsiteX1" fmla="*/ 504825 w 509587"/>
              <a:gd name="connsiteY1" fmla="*/ 347662 h 1614487"/>
              <a:gd name="connsiteX2" fmla="*/ 509587 w 509587"/>
              <a:gd name="connsiteY2" fmla="*/ 1304925 h 1614487"/>
              <a:gd name="connsiteX3" fmla="*/ 0 w 509587"/>
              <a:gd name="connsiteY3" fmla="*/ 1614487 h 1614487"/>
              <a:gd name="connsiteX4" fmla="*/ 0 w 509587"/>
              <a:gd name="connsiteY4" fmla="*/ 1138237 h 1614487"/>
              <a:gd name="connsiteX5" fmla="*/ 100012 w 509587"/>
              <a:gd name="connsiteY5" fmla="*/ 1071562 h 1614487"/>
              <a:gd name="connsiteX6" fmla="*/ 100012 w 509587"/>
              <a:gd name="connsiteY6" fmla="*/ 642937 h 1614487"/>
              <a:gd name="connsiteX7" fmla="*/ 0 w 509587"/>
              <a:gd name="connsiteY7" fmla="*/ 557212 h 1614487"/>
              <a:gd name="connsiteX8" fmla="*/ 0 w 509587"/>
              <a:gd name="connsiteY8" fmla="*/ 0 h 1614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9587" h="1614487">
                <a:moveTo>
                  <a:pt x="0" y="0"/>
                </a:moveTo>
                <a:lnTo>
                  <a:pt x="504825" y="347662"/>
                </a:lnTo>
                <a:cubicBezTo>
                  <a:pt x="506412" y="666750"/>
                  <a:pt x="508000" y="985837"/>
                  <a:pt x="509587" y="1304925"/>
                </a:cubicBezTo>
                <a:lnTo>
                  <a:pt x="0" y="1614487"/>
                </a:lnTo>
                <a:lnTo>
                  <a:pt x="0" y="1138237"/>
                </a:lnTo>
                <a:lnTo>
                  <a:pt x="100012" y="1071562"/>
                </a:lnTo>
                <a:lnTo>
                  <a:pt x="100012" y="642937"/>
                </a:lnTo>
                <a:lnTo>
                  <a:pt x="0" y="55721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加法器</a:t>
            </a:r>
          </a:p>
        </p:txBody>
      </p:sp>
      <p:sp>
        <p:nvSpPr>
          <p:cNvPr id="48" name="直角上箭头 47"/>
          <p:cNvSpPr/>
          <p:nvPr/>
        </p:nvSpPr>
        <p:spPr>
          <a:xfrm rot="16200000" flipV="1">
            <a:off x="800100" y="2411968"/>
            <a:ext cx="914400" cy="228600"/>
          </a:xfrm>
          <a:prstGeom prst="bentUpArrow">
            <a:avLst>
              <a:gd name="adj1" fmla="val 0"/>
              <a:gd name="adj2" fmla="val 25000"/>
              <a:gd name="adj3" fmla="val 25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1" name="直接箭头连接符 50"/>
          <p:cNvCxnSpPr>
            <a:stCxn id="5" idx="3"/>
          </p:cNvCxnSpPr>
          <p:nvPr/>
        </p:nvCxnSpPr>
        <p:spPr>
          <a:xfrm>
            <a:off x="990600" y="2983468"/>
            <a:ext cx="381000" cy="1588"/>
          </a:xfrm>
          <a:prstGeom prst="straightConnector1">
            <a:avLst/>
          </a:prstGeom>
          <a:ln w="254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>
            <a:off x="1066800" y="1078468"/>
            <a:ext cx="304800" cy="1588"/>
          </a:xfrm>
          <a:prstGeom prst="straightConnector1">
            <a:avLst/>
          </a:prstGeom>
          <a:ln w="254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62000" y="849868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7" name="矩形 56"/>
          <p:cNvSpPr/>
          <p:nvPr/>
        </p:nvSpPr>
        <p:spPr>
          <a:xfrm>
            <a:off x="152400" y="5574267"/>
            <a:ext cx="3733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5" name="直接箭头连接符 64"/>
          <p:cNvCxnSpPr/>
          <p:nvPr/>
        </p:nvCxnSpPr>
        <p:spPr>
          <a:xfrm rot="5400000">
            <a:off x="1181497" y="5002371"/>
            <a:ext cx="1143000" cy="7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/>
          <p:cNvSpPr/>
          <p:nvPr/>
        </p:nvSpPr>
        <p:spPr>
          <a:xfrm>
            <a:off x="2743200" y="1840468"/>
            <a:ext cx="1524000" cy="3200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寄存器堆</a:t>
            </a:r>
          </a:p>
        </p:txBody>
      </p:sp>
      <p:cxnSp>
        <p:nvCxnSpPr>
          <p:cNvPr id="71" name="直接连接符 70"/>
          <p:cNvCxnSpPr/>
          <p:nvPr/>
        </p:nvCxnSpPr>
        <p:spPr>
          <a:xfrm rot="5400000" flipH="1" flipV="1">
            <a:off x="800100" y="4088368"/>
            <a:ext cx="2971800" cy="1588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>
            <a:off x="2286000" y="2602468"/>
            <a:ext cx="457200" cy="158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>
            <a:off x="2286000" y="3276600"/>
            <a:ext cx="457200" cy="158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等腰三角形 77"/>
          <p:cNvSpPr/>
          <p:nvPr/>
        </p:nvSpPr>
        <p:spPr>
          <a:xfrm rot="5400000">
            <a:off x="4802124" y="21437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等腰三角形 78"/>
          <p:cNvSpPr/>
          <p:nvPr/>
        </p:nvSpPr>
        <p:spPr>
          <a:xfrm rot="5400000">
            <a:off x="4802124" y="42011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1" name="肘形连接符 80"/>
          <p:cNvCxnSpPr/>
          <p:nvPr/>
        </p:nvCxnSpPr>
        <p:spPr>
          <a:xfrm>
            <a:off x="1905000" y="1535668"/>
            <a:ext cx="3200400" cy="609600"/>
          </a:xfrm>
          <a:prstGeom prst="bentConnector3">
            <a:avLst>
              <a:gd name="adj1" fmla="val 83894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/>
          <p:cNvCxnSpPr/>
          <p:nvPr/>
        </p:nvCxnSpPr>
        <p:spPr>
          <a:xfrm>
            <a:off x="4267200" y="2526268"/>
            <a:ext cx="8382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/>
          <p:cNvCxnSpPr/>
          <p:nvPr/>
        </p:nvCxnSpPr>
        <p:spPr>
          <a:xfrm>
            <a:off x="4267200" y="4278868"/>
            <a:ext cx="8382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肘形连接符 93"/>
          <p:cNvCxnSpPr>
            <a:stCxn id="57" idx="3"/>
          </p:cNvCxnSpPr>
          <p:nvPr/>
        </p:nvCxnSpPr>
        <p:spPr>
          <a:xfrm flipV="1">
            <a:off x="3886200" y="4659869"/>
            <a:ext cx="1295400" cy="1104898"/>
          </a:xfrm>
          <a:prstGeom prst="bentConnector3">
            <a:avLst>
              <a:gd name="adj1" fmla="val 59821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任意多边形 99"/>
          <p:cNvSpPr/>
          <p:nvPr/>
        </p:nvSpPr>
        <p:spPr>
          <a:xfrm>
            <a:off x="5867400" y="1992868"/>
            <a:ext cx="609600" cy="2895600"/>
          </a:xfrm>
          <a:custGeom>
            <a:avLst/>
            <a:gdLst>
              <a:gd name="connsiteX0" fmla="*/ 0 w 509587"/>
              <a:gd name="connsiteY0" fmla="*/ 0 h 1614487"/>
              <a:gd name="connsiteX1" fmla="*/ 504825 w 509587"/>
              <a:gd name="connsiteY1" fmla="*/ 347662 h 1614487"/>
              <a:gd name="connsiteX2" fmla="*/ 509587 w 509587"/>
              <a:gd name="connsiteY2" fmla="*/ 1304925 h 1614487"/>
              <a:gd name="connsiteX3" fmla="*/ 0 w 509587"/>
              <a:gd name="connsiteY3" fmla="*/ 1614487 h 1614487"/>
              <a:gd name="connsiteX4" fmla="*/ 0 w 509587"/>
              <a:gd name="connsiteY4" fmla="*/ 1138237 h 1614487"/>
              <a:gd name="connsiteX5" fmla="*/ 100012 w 509587"/>
              <a:gd name="connsiteY5" fmla="*/ 1071562 h 1614487"/>
              <a:gd name="connsiteX6" fmla="*/ 100012 w 509587"/>
              <a:gd name="connsiteY6" fmla="*/ 642937 h 1614487"/>
              <a:gd name="connsiteX7" fmla="*/ 0 w 509587"/>
              <a:gd name="connsiteY7" fmla="*/ 557212 h 1614487"/>
              <a:gd name="connsiteX8" fmla="*/ 0 w 509587"/>
              <a:gd name="connsiteY8" fmla="*/ 0 h 1614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9587" h="1614487">
                <a:moveTo>
                  <a:pt x="0" y="0"/>
                </a:moveTo>
                <a:lnTo>
                  <a:pt x="504825" y="347662"/>
                </a:lnTo>
                <a:cubicBezTo>
                  <a:pt x="506412" y="666750"/>
                  <a:pt x="508000" y="985837"/>
                  <a:pt x="509587" y="1304925"/>
                </a:cubicBezTo>
                <a:lnTo>
                  <a:pt x="0" y="1614487"/>
                </a:lnTo>
                <a:lnTo>
                  <a:pt x="0" y="1138237"/>
                </a:lnTo>
                <a:lnTo>
                  <a:pt x="100012" y="1071562"/>
                </a:lnTo>
                <a:lnTo>
                  <a:pt x="100012" y="642937"/>
                </a:lnTo>
                <a:lnTo>
                  <a:pt x="0" y="55721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运算器</a:t>
            </a:r>
          </a:p>
        </p:txBody>
      </p:sp>
      <p:cxnSp>
        <p:nvCxnSpPr>
          <p:cNvPr id="102" name="直接箭头连接符 101"/>
          <p:cNvCxnSpPr>
            <a:stCxn id="78" idx="0"/>
          </p:cNvCxnSpPr>
          <p:nvPr/>
        </p:nvCxnSpPr>
        <p:spPr>
          <a:xfrm>
            <a:off x="5559552" y="2370820"/>
            <a:ext cx="307848" cy="304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/>
          <p:cNvCxnSpPr/>
          <p:nvPr/>
        </p:nvCxnSpPr>
        <p:spPr>
          <a:xfrm>
            <a:off x="5562600" y="4431268"/>
            <a:ext cx="307848" cy="304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矩形 104"/>
          <p:cNvSpPr/>
          <p:nvPr/>
        </p:nvSpPr>
        <p:spPr>
          <a:xfrm>
            <a:off x="7010400" y="2602468"/>
            <a:ext cx="7620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数据缓存</a:t>
            </a:r>
          </a:p>
        </p:txBody>
      </p:sp>
      <p:cxnSp>
        <p:nvCxnSpPr>
          <p:cNvPr id="107" name="直接箭头连接符 106"/>
          <p:cNvCxnSpPr>
            <a:endCxn id="105" idx="1"/>
          </p:cNvCxnSpPr>
          <p:nvPr/>
        </p:nvCxnSpPr>
        <p:spPr>
          <a:xfrm>
            <a:off x="6477000" y="3516868"/>
            <a:ext cx="5334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等腰三角形 109"/>
          <p:cNvSpPr/>
          <p:nvPr/>
        </p:nvSpPr>
        <p:spPr>
          <a:xfrm rot="5400000">
            <a:off x="6783324" y="14579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2" name="直接箭头连接符 111"/>
          <p:cNvCxnSpPr/>
          <p:nvPr/>
        </p:nvCxnSpPr>
        <p:spPr>
          <a:xfrm>
            <a:off x="4572000" y="1535668"/>
            <a:ext cx="25146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/>
          <p:cNvCxnSpPr/>
          <p:nvPr/>
        </p:nvCxnSpPr>
        <p:spPr>
          <a:xfrm rot="5400000" flipH="1" flipV="1">
            <a:off x="5906294" y="2716768"/>
            <a:ext cx="1599406" cy="79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117"/>
          <p:cNvCxnSpPr/>
          <p:nvPr/>
        </p:nvCxnSpPr>
        <p:spPr>
          <a:xfrm>
            <a:off x="6705600" y="1916668"/>
            <a:ext cx="3810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连接符 135"/>
          <p:cNvCxnSpPr>
            <a:stCxn id="110" idx="0"/>
          </p:cNvCxnSpPr>
          <p:nvPr/>
        </p:nvCxnSpPr>
        <p:spPr>
          <a:xfrm>
            <a:off x="7540752" y="1685020"/>
            <a:ext cx="307848" cy="304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连接符 140"/>
          <p:cNvCxnSpPr/>
          <p:nvPr/>
        </p:nvCxnSpPr>
        <p:spPr>
          <a:xfrm rot="5400000" flipH="1" flipV="1">
            <a:off x="7277100" y="1116568"/>
            <a:ext cx="11430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连接符 143"/>
          <p:cNvCxnSpPr/>
          <p:nvPr/>
        </p:nvCxnSpPr>
        <p:spPr>
          <a:xfrm rot="10800000">
            <a:off x="533400" y="533400"/>
            <a:ext cx="7315200" cy="1325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箭头连接符 145"/>
          <p:cNvCxnSpPr>
            <a:endCxn id="5" idx="0"/>
          </p:cNvCxnSpPr>
          <p:nvPr/>
        </p:nvCxnSpPr>
        <p:spPr>
          <a:xfrm rot="5400000">
            <a:off x="-576540" y="1644134"/>
            <a:ext cx="2220674" cy="7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连接符 152"/>
          <p:cNvCxnSpPr/>
          <p:nvPr/>
        </p:nvCxnSpPr>
        <p:spPr>
          <a:xfrm rot="10800000">
            <a:off x="3505200" y="5345668"/>
            <a:ext cx="51816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箭头连接符 155"/>
          <p:cNvCxnSpPr>
            <a:endCxn id="68" idx="2"/>
          </p:cNvCxnSpPr>
          <p:nvPr/>
        </p:nvCxnSpPr>
        <p:spPr>
          <a:xfrm rot="5400000" flipH="1" flipV="1">
            <a:off x="3352006" y="5193268"/>
            <a:ext cx="305594" cy="7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/>
          <p:cNvCxnSpPr/>
          <p:nvPr/>
        </p:nvCxnSpPr>
        <p:spPr>
          <a:xfrm rot="5400000">
            <a:off x="4001294" y="4697968"/>
            <a:ext cx="837406" cy="79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接连接符 175"/>
          <p:cNvCxnSpPr/>
          <p:nvPr/>
        </p:nvCxnSpPr>
        <p:spPr>
          <a:xfrm>
            <a:off x="4419600" y="5117068"/>
            <a:ext cx="29718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箭头连接符 178"/>
          <p:cNvCxnSpPr>
            <a:endCxn id="105" idx="2"/>
          </p:cNvCxnSpPr>
          <p:nvPr/>
        </p:nvCxnSpPr>
        <p:spPr>
          <a:xfrm rot="5400000" flipH="1" flipV="1">
            <a:off x="7047706" y="4774168"/>
            <a:ext cx="686594" cy="7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等腰三角形 179"/>
          <p:cNvSpPr/>
          <p:nvPr/>
        </p:nvSpPr>
        <p:spPr>
          <a:xfrm rot="5400000">
            <a:off x="7773924" y="22199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2" name="直接箭头连接符 181"/>
          <p:cNvCxnSpPr/>
          <p:nvPr/>
        </p:nvCxnSpPr>
        <p:spPr>
          <a:xfrm>
            <a:off x="7772400" y="2831068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接箭头连接符 185"/>
          <p:cNvCxnSpPr>
            <a:endCxn id="180" idx="3"/>
          </p:cNvCxnSpPr>
          <p:nvPr/>
        </p:nvCxnSpPr>
        <p:spPr>
          <a:xfrm flipV="1">
            <a:off x="6705600" y="2447020"/>
            <a:ext cx="1371600" cy="304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接连接符 192"/>
          <p:cNvCxnSpPr/>
          <p:nvPr/>
        </p:nvCxnSpPr>
        <p:spPr>
          <a:xfrm rot="5400000">
            <a:off x="7658100" y="1878568"/>
            <a:ext cx="3810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接箭头连接符 194"/>
          <p:cNvCxnSpPr/>
          <p:nvPr/>
        </p:nvCxnSpPr>
        <p:spPr>
          <a:xfrm>
            <a:off x="7848600" y="2069068"/>
            <a:ext cx="2286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连接符 196"/>
          <p:cNvCxnSpPr>
            <a:stCxn id="180" idx="0"/>
          </p:cNvCxnSpPr>
          <p:nvPr/>
        </p:nvCxnSpPr>
        <p:spPr>
          <a:xfrm>
            <a:off x="8531352" y="2447020"/>
            <a:ext cx="155448" cy="304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连接符 198"/>
          <p:cNvCxnSpPr/>
          <p:nvPr/>
        </p:nvCxnSpPr>
        <p:spPr>
          <a:xfrm rot="5400000">
            <a:off x="7239000" y="3897868"/>
            <a:ext cx="28956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/>
          <p:cNvSpPr txBox="1"/>
          <p:nvPr/>
        </p:nvSpPr>
        <p:spPr>
          <a:xfrm>
            <a:off x="4419600" y="252626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Rs</a:t>
            </a:r>
            <a:endParaRPr lang="zh-CN" altLang="en-US" dirty="0"/>
          </a:p>
        </p:txBody>
      </p:sp>
      <p:sp>
        <p:nvSpPr>
          <p:cNvPr id="204" name="TextBox 203"/>
          <p:cNvSpPr txBox="1"/>
          <p:nvPr/>
        </p:nvSpPr>
        <p:spPr>
          <a:xfrm>
            <a:off x="4419600" y="38978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Rt</a:t>
            </a:r>
            <a:endParaRPr lang="zh-CN" altLang="en-US" dirty="0"/>
          </a:p>
        </p:txBody>
      </p:sp>
      <p:sp>
        <p:nvSpPr>
          <p:cNvPr id="205" name="TextBox 204"/>
          <p:cNvSpPr txBox="1"/>
          <p:nvPr/>
        </p:nvSpPr>
        <p:spPr>
          <a:xfrm>
            <a:off x="2971800" y="5040868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Rd</a:t>
            </a:r>
            <a:endParaRPr lang="zh-CN" altLang="en-US" dirty="0"/>
          </a:p>
        </p:txBody>
      </p:sp>
      <p:sp>
        <p:nvSpPr>
          <p:cNvPr id="206" name="TextBox 205"/>
          <p:cNvSpPr txBox="1"/>
          <p:nvPr/>
        </p:nvSpPr>
        <p:spPr>
          <a:xfrm>
            <a:off x="4038600" y="5715000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Imm</a:t>
            </a:r>
            <a:endParaRPr lang="zh-CN" altLang="en-US" dirty="0"/>
          </a:p>
        </p:txBody>
      </p:sp>
      <p:cxnSp>
        <p:nvCxnSpPr>
          <p:cNvPr id="223" name="直接箭头连接符 222"/>
          <p:cNvCxnSpPr/>
          <p:nvPr/>
        </p:nvCxnSpPr>
        <p:spPr>
          <a:xfrm>
            <a:off x="2286000" y="3960812"/>
            <a:ext cx="457200" cy="158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7045" y="2819400"/>
            <a:ext cx="9797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00400008</a:t>
            </a:r>
            <a:endParaRPr lang="zh-CN" altLang="en-US" sz="1400" dirty="0"/>
          </a:p>
        </p:txBody>
      </p:sp>
      <p:sp>
        <p:nvSpPr>
          <p:cNvPr id="53" name="TextBox 52"/>
          <p:cNvSpPr txBox="1"/>
          <p:nvPr/>
        </p:nvSpPr>
        <p:spPr>
          <a:xfrm>
            <a:off x="1295400" y="2971800"/>
            <a:ext cx="9797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08100040</a:t>
            </a:r>
            <a:endParaRPr lang="zh-CN" altLang="en-US" sz="1400" dirty="0"/>
          </a:p>
        </p:txBody>
      </p:sp>
      <p:sp>
        <p:nvSpPr>
          <p:cNvPr id="56" name="TextBox 55"/>
          <p:cNvSpPr txBox="1"/>
          <p:nvPr/>
        </p:nvSpPr>
        <p:spPr>
          <a:xfrm>
            <a:off x="152400" y="5574268"/>
            <a:ext cx="381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00001000000100000000000001000000</a:t>
            </a:r>
            <a:endParaRPr lang="zh-CN" altLang="en-US" sz="1600" dirty="0"/>
          </a:p>
        </p:txBody>
      </p:sp>
      <p:sp>
        <p:nvSpPr>
          <p:cNvPr id="58" name="TextBox 57"/>
          <p:cNvSpPr txBox="1"/>
          <p:nvPr/>
        </p:nvSpPr>
        <p:spPr>
          <a:xfrm>
            <a:off x="1600200" y="1295400"/>
            <a:ext cx="1066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0040000C</a:t>
            </a:r>
            <a:endParaRPr lang="zh-CN" altLang="en-US" sz="1400" dirty="0"/>
          </a:p>
        </p:txBody>
      </p:sp>
      <p:sp>
        <p:nvSpPr>
          <p:cNvPr id="59" name="TextBox 58"/>
          <p:cNvSpPr txBox="1"/>
          <p:nvPr/>
        </p:nvSpPr>
        <p:spPr>
          <a:xfrm>
            <a:off x="2362200" y="6248400"/>
            <a:ext cx="4211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执行指令</a:t>
            </a:r>
            <a:r>
              <a:rPr lang="en-US" altLang="zh-CN" dirty="0"/>
              <a:t>j 0x00400100  </a:t>
            </a:r>
            <a:r>
              <a:rPr lang="zh-CN" altLang="en-US" dirty="0"/>
              <a:t>读取指令（</a:t>
            </a:r>
            <a:r>
              <a:rPr lang="en-US" altLang="zh-CN" dirty="0"/>
              <a:t>IF</a:t>
            </a:r>
            <a:r>
              <a:rPr lang="zh-CN" altLang="en-US" dirty="0"/>
              <a:t>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95400" y="2571921"/>
            <a:ext cx="9797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02328020</a:t>
            </a:r>
            <a:endParaRPr lang="zh-CN" altLang="en-US" sz="1400" dirty="0"/>
          </a:p>
        </p:txBody>
      </p:sp>
      <p:sp>
        <p:nvSpPr>
          <p:cNvPr id="61" name="TextBox 60"/>
          <p:cNvSpPr txBox="1"/>
          <p:nvPr/>
        </p:nvSpPr>
        <p:spPr>
          <a:xfrm>
            <a:off x="1295400" y="2767053"/>
            <a:ext cx="9797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22300005</a:t>
            </a:r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3.93708E-6 L 0.06198 -0.0002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7" presetClass="emph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9" dur="1000" autoRev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0" dur="1000" autoRev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" dur="1000" autoRev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autoRev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000"/>
                            </p:stCondLst>
                            <p:childTnLst>
                              <p:par>
                                <p:cTn id="14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486 -0.00023 L 0.05486 -0.12884 L 0.10712 -0.12769 " pathEditMode="relative" rAng="0" ptsTypes="AAA">
                                      <p:cBhvr>
                                        <p:cTn id="15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-64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1.11111E-6 -7.37913E-7 L -0.00347 0.37729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" y="1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6000"/>
                            </p:stCondLst>
                            <p:childTnLst>
                              <p:par>
                                <p:cTn id="19" presetID="3" presetClass="exit" presetSubtype="1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blinds(horizontal)">
                                      <p:cBhvr>
                                        <p:cTn id="20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0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8000"/>
                            </p:stCondLst>
                            <p:childTnLst>
                              <p:par>
                                <p:cTn id="27" presetID="27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1000" autoRev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" dur="1000" autoRev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" dur="1000" autoRev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1000" autoRev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0"/>
                            </p:stCondLst>
                            <p:childTnLst>
                              <p:par>
                                <p:cTn id="33" presetID="3" presetClass="exit" presetSubtype="1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4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1000"/>
                            </p:stCondLst>
                            <p:childTnLst>
                              <p:par>
                                <p:cTn id="3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000"/>
                            </p:stCondLst>
                            <p:childTnLst>
                              <p:par>
                                <p:cTn id="41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82 0.00578 L 0.56302 0.00647 L 0.62466 0.03007 L 0.62466 -0.14227 L -0.17413 -0.14389 L -0.17413 0.21929 " pathEditMode="relative" rAng="0" ptsTypes="AAAAAA">
                                      <p:cBhvr>
                                        <p:cTn id="42" dur="3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1" y="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52" grpId="0"/>
      <p:bldP spid="52" grpId="1"/>
      <p:bldP spid="52" grpId="2"/>
      <p:bldP spid="53" grpId="0"/>
      <p:bldP spid="53" grpId="1"/>
      <p:bldP spid="53" grpId="2"/>
      <p:bldP spid="56" grpId="0"/>
      <p:bldP spid="58" grpId="0"/>
      <p:bldP spid="58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28600" y="2754868"/>
            <a:ext cx="762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PC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371600" y="2602468"/>
            <a:ext cx="7620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指令缓存</a:t>
            </a:r>
          </a:p>
        </p:txBody>
      </p:sp>
      <p:sp>
        <p:nvSpPr>
          <p:cNvPr id="24" name="任意多边形 23"/>
          <p:cNvSpPr/>
          <p:nvPr/>
        </p:nvSpPr>
        <p:spPr>
          <a:xfrm>
            <a:off x="1371600" y="773668"/>
            <a:ext cx="509587" cy="1614487"/>
          </a:xfrm>
          <a:custGeom>
            <a:avLst/>
            <a:gdLst>
              <a:gd name="connsiteX0" fmla="*/ 0 w 509587"/>
              <a:gd name="connsiteY0" fmla="*/ 0 h 1614487"/>
              <a:gd name="connsiteX1" fmla="*/ 504825 w 509587"/>
              <a:gd name="connsiteY1" fmla="*/ 347662 h 1614487"/>
              <a:gd name="connsiteX2" fmla="*/ 509587 w 509587"/>
              <a:gd name="connsiteY2" fmla="*/ 1304925 h 1614487"/>
              <a:gd name="connsiteX3" fmla="*/ 0 w 509587"/>
              <a:gd name="connsiteY3" fmla="*/ 1614487 h 1614487"/>
              <a:gd name="connsiteX4" fmla="*/ 0 w 509587"/>
              <a:gd name="connsiteY4" fmla="*/ 1138237 h 1614487"/>
              <a:gd name="connsiteX5" fmla="*/ 100012 w 509587"/>
              <a:gd name="connsiteY5" fmla="*/ 1071562 h 1614487"/>
              <a:gd name="connsiteX6" fmla="*/ 100012 w 509587"/>
              <a:gd name="connsiteY6" fmla="*/ 642937 h 1614487"/>
              <a:gd name="connsiteX7" fmla="*/ 0 w 509587"/>
              <a:gd name="connsiteY7" fmla="*/ 557212 h 1614487"/>
              <a:gd name="connsiteX8" fmla="*/ 0 w 509587"/>
              <a:gd name="connsiteY8" fmla="*/ 0 h 1614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9587" h="1614487">
                <a:moveTo>
                  <a:pt x="0" y="0"/>
                </a:moveTo>
                <a:lnTo>
                  <a:pt x="504825" y="347662"/>
                </a:lnTo>
                <a:cubicBezTo>
                  <a:pt x="506412" y="666750"/>
                  <a:pt x="508000" y="985837"/>
                  <a:pt x="509587" y="1304925"/>
                </a:cubicBezTo>
                <a:lnTo>
                  <a:pt x="0" y="1614487"/>
                </a:lnTo>
                <a:lnTo>
                  <a:pt x="0" y="1138237"/>
                </a:lnTo>
                <a:lnTo>
                  <a:pt x="100012" y="1071562"/>
                </a:lnTo>
                <a:lnTo>
                  <a:pt x="100012" y="642937"/>
                </a:lnTo>
                <a:lnTo>
                  <a:pt x="0" y="55721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加法器</a:t>
            </a:r>
          </a:p>
        </p:txBody>
      </p:sp>
      <p:sp>
        <p:nvSpPr>
          <p:cNvPr id="48" name="直角上箭头 47"/>
          <p:cNvSpPr/>
          <p:nvPr/>
        </p:nvSpPr>
        <p:spPr>
          <a:xfrm rot="16200000" flipV="1">
            <a:off x="800100" y="2411968"/>
            <a:ext cx="914400" cy="228600"/>
          </a:xfrm>
          <a:prstGeom prst="bentUpArrow">
            <a:avLst>
              <a:gd name="adj1" fmla="val 0"/>
              <a:gd name="adj2" fmla="val 25000"/>
              <a:gd name="adj3" fmla="val 25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1" name="直接箭头连接符 50"/>
          <p:cNvCxnSpPr>
            <a:stCxn id="5" idx="3"/>
          </p:cNvCxnSpPr>
          <p:nvPr/>
        </p:nvCxnSpPr>
        <p:spPr>
          <a:xfrm>
            <a:off x="990600" y="2983468"/>
            <a:ext cx="381000" cy="1588"/>
          </a:xfrm>
          <a:prstGeom prst="straightConnector1">
            <a:avLst/>
          </a:prstGeom>
          <a:ln w="254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>
            <a:off x="1066800" y="1078468"/>
            <a:ext cx="304800" cy="1588"/>
          </a:xfrm>
          <a:prstGeom prst="straightConnector1">
            <a:avLst/>
          </a:prstGeom>
          <a:ln w="254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62000" y="849868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7" name="矩形 56"/>
          <p:cNvSpPr/>
          <p:nvPr/>
        </p:nvSpPr>
        <p:spPr>
          <a:xfrm>
            <a:off x="152400" y="5574267"/>
            <a:ext cx="3810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5" name="直接箭头连接符 64"/>
          <p:cNvCxnSpPr/>
          <p:nvPr/>
        </p:nvCxnSpPr>
        <p:spPr>
          <a:xfrm rot="5400000">
            <a:off x="1181497" y="5002371"/>
            <a:ext cx="1143000" cy="7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/>
          <p:cNvSpPr/>
          <p:nvPr/>
        </p:nvSpPr>
        <p:spPr>
          <a:xfrm>
            <a:off x="2743200" y="1676400"/>
            <a:ext cx="1524000" cy="33644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1" name="直接连接符 70"/>
          <p:cNvCxnSpPr/>
          <p:nvPr/>
        </p:nvCxnSpPr>
        <p:spPr>
          <a:xfrm rot="5400000" flipH="1" flipV="1">
            <a:off x="800100" y="4088368"/>
            <a:ext cx="2971800" cy="1588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>
            <a:off x="2286000" y="2602468"/>
            <a:ext cx="457200" cy="158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>
            <a:off x="2286000" y="3276600"/>
            <a:ext cx="457200" cy="158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等腰三角形 77"/>
          <p:cNvSpPr/>
          <p:nvPr/>
        </p:nvSpPr>
        <p:spPr>
          <a:xfrm rot="5400000">
            <a:off x="4802124" y="21437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等腰三角形 78"/>
          <p:cNvSpPr/>
          <p:nvPr/>
        </p:nvSpPr>
        <p:spPr>
          <a:xfrm rot="5400000">
            <a:off x="4802124" y="42011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1" name="肘形连接符 80"/>
          <p:cNvCxnSpPr/>
          <p:nvPr/>
        </p:nvCxnSpPr>
        <p:spPr>
          <a:xfrm>
            <a:off x="1905000" y="1535668"/>
            <a:ext cx="3200400" cy="609600"/>
          </a:xfrm>
          <a:prstGeom prst="bentConnector3">
            <a:avLst>
              <a:gd name="adj1" fmla="val 83894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/>
          <p:cNvCxnSpPr/>
          <p:nvPr/>
        </p:nvCxnSpPr>
        <p:spPr>
          <a:xfrm>
            <a:off x="4267200" y="2526268"/>
            <a:ext cx="8382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/>
          <p:cNvCxnSpPr/>
          <p:nvPr/>
        </p:nvCxnSpPr>
        <p:spPr>
          <a:xfrm>
            <a:off x="4267200" y="4278868"/>
            <a:ext cx="8382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任意多边形 99"/>
          <p:cNvSpPr/>
          <p:nvPr/>
        </p:nvSpPr>
        <p:spPr>
          <a:xfrm>
            <a:off x="5867400" y="1992868"/>
            <a:ext cx="609600" cy="2895600"/>
          </a:xfrm>
          <a:custGeom>
            <a:avLst/>
            <a:gdLst>
              <a:gd name="connsiteX0" fmla="*/ 0 w 509587"/>
              <a:gd name="connsiteY0" fmla="*/ 0 h 1614487"/>
              <a:gd name="connsiteX1" fmla="*/ 504825 w 509587"/>
              <a:gd name="connsiteY1" fmla="*/ 347662 h 1614487"/>
              <a:gd name="connsiteX2" fmla="*/ 509587 w 509587"/>
              <a:gd name="connsiteY2" fmla="*/ 1304925 h 1614487"/>
              <a:gd name="connsiteX3" fmla="*/ 0 w 509587"/>
              <a:gd name="connsiteY3" fmla="*/ 1614487 h 1614487"/>
              <a:gd name="connsiteX4" fmla="*/ 0 w 509587"/>
              <a:gd name="connsiteY4" fmla="*/ 1138237 h 1614487"/>
              <a:gd name="connsiteX5" fmla="*/ 100012 w 509587"/>
              <a:gd name="connsiteY5" fmla="*/ 1071562 h 1614487"/>
              <a:gd name="connsiteX6" fmla="*/ 100012 w 509587"/>
              <a:gd name="connsiteY6" fmla="*/ 642937 h 1614487"/>
              <a:gd name="connsiteX7" fmla="*/ 0 w 509587"/>
              <a:gd name="connsiteY7" fmla="*/ 557212 h 1614487"/>
              <a:gd name="connsiteX8" fmla="*/ 0 w 509587"/>
              <a:gd name="connsiteY8" fmla="*/ 0 h 1614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9587" h="1614487">
                <a:moveTo>
                  <a:pt x="0" y="0"/>
                </a:moveTo>
                <a:lnTo>
                  <a:pt x="504825" y="347662"/>
                </a:lnTo>
                <a:cubicBezTo>
                  <a:pt x="506412" y="666750"/>
                  <a:pt x="508000" y="985837"/>
                  <a:pt x="509587" y="1304925"/>
                </a:cubicBezTo>
                <a:lnTo>
                  <a:pt x="0" y="1614487"/>
                </a:lnTo>
                <a:lnTo>
                  <a:pt x="0" y="1138237"/>
                </a:lnTo>
                <a:lnTo>
                  <a:pt x="100012" y="1071562"/>
                </a:lnTo>
                <a:lnTo>
                  <a:pt x="100012" y="642937"/>
                </a:lnTo>
                <a:lnTo>
                  <a:pt x="0" y="55721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运算器</a:t>
            </a:r>
          </a:p>
        </p:txBody>
      </p:sp>
      <p:cxnSp>
        <p:nvCxnSpPr>
          <p:cNvPr id="102" name="直接箭头连接符 101"/>
          <p:cNvCxnSpPr>
            <a:stCxn id="78" idx="0"/>
          </p:cNvCxnSpPr>
          <p:nvPr/>
        </p:nvCxnSpPr>
        <p:spPr>
          <a:xfrm>
            <a:off x="5559552" y="2370820"/>
            <a:ext cx="307848" cy="304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/>
          <p:cNvCxnSpPr/>
          <p:nvPr/>
        </p:nvCxnSpPr>
        <p:spPr>
          <a:xfrm>
            <a:off x="5562600" y="4431268"/>
            <a:ext cx="307848" cy="304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矩形 104"/>
          <p:cNvSpPr/>
          <p:nvPr/>
        </p:nvSpPr>
        <p:spPr>
          <a:xfrm>
            <a:off x="7010400" y="2602468"/>
            <a:ext cx="7620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数据缓存</a:t>
            </a:r>
          </a:p>
        </p:txBody>
      </p:sp>
      <p:cxnSp>
        <p:nvCxnSpPr>
          <p:cNvPr id="107" name="直接箭头连接符 106"/>
          <p:cNvCxnSpPr>
            <a:endCxn id="105" idx="1"/>
          </p:cNvCxnSpPr>
          <p:nvPr/>
        </p:nvCxnSpPr>
        <p:spPr>
          <a:xfrm>
            <a:off x="6477000" y="3516868"/>
            <a:ext cx="5334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等腰三角形 109"/>
          <p:cNvSpPr/>
          <p:nvPr/>
        </p:nvSpPr>
        <p:spPr>
          <a:xfrm rot="5400000">
            <a:off x="6783324" y="14579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2" name="直接箭头连接符 111"/>
          <p:cNvCxnSpPr/>
          <p:nvPr/>
        </p:nvCxnSpPr>
        <p:spPr>
          <a:xfrm>
            <a:off x="4572000" y="1535668"/>
            <a:ext cx="25146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/>
          <p:cNvCxnSpPr/>
          <p:nvPr/>
        </p:nvCxnSpPr>
        <p:spPr>
          <a:xfrm rot="5400000" flipH="1" flipV="1">
            <a:off x="5906294" y="2716768"/>
            <a:ext cx="1599406" cy="79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117"/>
          <p:cNvCxnSpPr/>
          <p:nvPr/>
        </p:nvCxnSpPr>
        <p:spPr>
          <a:xfrm>
            <a:off x="6705600" y="1916668"/>
            <a:ext cx="3810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连接符 135"/>
          <p:cNvCxnSpPr>
            <a:stCxn id="110" idx="0"/>
          </p:cNvCxnSpPr>
          <p:nvPr/>
        </p:nvCxnSpPr>
        <p:spPr>
          <a:xfrm>
            <a:off x="7540752" y="1685020"/>
            <a:ext cx="307848" cy="304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连接符 140"/>
          <p:cNvCxnSpPr/>
          <p:nvPr/>
        </p:nvCxnSpPr>
        <p:spPr>
          <a:xfrm rot="5400000" flipH="1" flipV="1">
            <a:off x="7277100" y="1116568"/>
            <a:ext cx="11430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连接符 143"/>
          <p:cNvCxnSpPr/>
          <p:nvPr/>
        </p:nvCxnSpPr>
        <p:spPr>
          <a:xfrm rot="10800000">
            <a:off x="609600" y="545068"/>
            <a:ext cx="72390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箭头连接符 145"/>
          <p:cNvCxnSpPr>
            <a:endCxn id="5" idx="0"/>
          </p:cNvCxnSpPr>
          <p:nvPr/>
        </p:nvCxnSpPr>
        <p:spPr>
          <a:xfrm rot="5400000">
            <a:off x="-495300" y="1649968"/>
            <a:ext cx="2209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连接符 152"/>
          <p:cNvCxnSpPr/>
          <p:nvPr/>
        </p:nvCxnSpPr>
        <p:spPr>
          <a:xfrm rot="10800000">
            <a:off x="3505200" y="5345668"/>
            <a:ext cx="51816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箭头连接符 155"/>
          <p:cNvCxnSpPr>
            <a:endCxn id="68" idx="2"/>
          </p:cNvCxnSpPr>
          <p:nvPr/>
        </p:nvCxnSpPr>
        <p:spPr>
          <a:xfrm rot="5400000" flipH="1" flipV="1">
            <a:off x="3352006" y="5193268"/>
            <a:ext cx="305594" cy="7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/>
          <p:cNvCxnSpPr/>
          <p:nvPr/>
        </p:nvCxnSpPr>
        <p:spPr>
          <a:xfrm rot="5400000">
            <a:off x="4001294" y="4697968"/>
            <a:ext cx="837406" cy="79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接连接符 175"/>
          <p:cNvCxnSpPr/>
          <p:nvPr/>
        </p:nvCxnSpPr>
        <p:spPr>
          <a:xfrm>
            <a:off x="4419600" y="5117068"/>
            <a:ext cx="29718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箭头连接符 178"/>
          <p:cNvCxnSpPr>
            <a:endCxn id="105" idx="2"/>
          </p:cNvCxnSpPr>
          <p:nvPr/>
        </p:nvCxnSpPr>
        <p:spPr>
          <a:xfrm rot="5400000" flipH="1" flipV="1">
            <a:off x="7047706" y="4774168"/>
            <a:ext cx="686594" cy="7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等腰三角形 179"/>
          <p:cNvSpPr/>
          <p:nvPr/>
        </p:nvSpPr>
        <p:spPr>
          <a:xfrm rot="5400000">
            <a:off x="7773924" y="22199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2" name="直接箭头连接符 181"/>
          <p:cNvCxnSpPr/>
          <p:nvPr/>
        </p:nvCxnSpPr>
        <p:spPr>
          <a:xfrm>
            <a:off x="7772400" y="2831068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接箭头连接符 185"/>
          <p:cNvCxnSpPr>
            <a:endCxn id="180" idx="3"/>
          </p:cNvCxnSpPr>
          <p:nvPr/>
        </p:nvCxnSpPr>
        <p:spPr>
          <a:xfrm flipV="1">
            <a:off x="6705600" y="2447020"/>
            <a:ext cx="1371600" cy="304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接连接符 192"/>
          <p:cNvCxnSpPr/>
          <p:nvPr/>
        </p:nvCxnSpPr>
        <p:spPr>
          <a:xfrm rot="5400000">
            <a:off x="7658100" y="1878568"/>
            <a:ext cx="3810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接箭头连接符 194"/>
          <p:cNvCxnSpPr/>
          <p:nvPr/>
        </p:nvCxnSpPr>
        <p:spPr>
          <a:xfrm>
            <a:off x="7848600" y="2069068"/>
            <a:ext cx="2286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连接符 196"/>
          <p:cNvCxnSpPr>
            <a:stCxn id="180" idx="0"/>
          </p:cNvCxnSpPr>
          <p:nvPr/>
        </p:nvCxnSpPr>
        <p:spPr>
          <a:xfrm>
            <a:off x="8531352" y="2447020"/>
            <a:ext cx="155448" cy="304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连接符 198"/>
          <p:cNvCxnSpPr/>
          <p:nvPr/>
        </p:nvCxnSpPr>
        <p:spPr>
          <a:xfrm rot="5400000">
            <a:off x="7239000" y="3897868"/>
            <a:ext cx="28956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/>
          <p:cNvSpPr txBox="1"/>
          <p:nvPr/>
        </p:nvSpPr>
        <p:spPr>
          <a:xfrm>
            <a:off x="4419600" y="252626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Rs</a:t>
            </a:r>
            <a:endParaRPr lang="zh-CN" altLang="en-US" dirty="0"/>
          </a:p>
        </p:txBody>
      </p:sp>
      <p:sp>
        <p:nvSpPr>
          <p:cNvPr id="204" name="TextBox 203"/>
          <p:cNvSpPr txBox="1"/>
          <p:nvPr/>
        </p:nvSpPr>
        <p:spPr>
          <a:xfrm>
            <a:off x="4419600" y="38978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Rt</a:t>
            </a:r>
            <a:endParaRPr lang="zh-CN" altLang="en-US" dirty="0"/>
          </a:p>
        </p:txBody>
      </p:sp>
      <p:sp>
        <p:nvSpPr>
          <p:cNvPr id="205" name="TextBox 204"/>
          <p:cNvSpPr txBox="1"/>
          <p:nvPr/>
        </p:nvSpPr>
        <p:spPr>
          <a:xfrm>
            <a:off x="2971800" y="5040868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Rd</a:t>
            </a:r>
            <a:endParaRPr lang="zh-CN" altLang="en-US" dirty="0"/>
          </a:p>
        </p:txBody>
      </p:sp>
      <p:sp>
        <p:nvSpPr>
          <p:cNvPr id="206" name="TextBox 205"/>
          <p:cNvSpPr txBox="1"/>
          <p:nvPr/>
        </p:nvSpPr>
        <p:spPr>
          <a:xfrm>
            <a:off x="4038600" y="5802868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Imm</a:t>
            </a:r>
            <a:endParaRPr lang="zh-CN" altLang="en-US" dirty="0"/>
          </a:p>
        </p:txBody>
      </p:sp>
      <p:cxnSp>
        <p:nvCxnSpPr>
          <p:cNvPr id="223" name="直接箭头连接符 222"/>
          <p:cNvCxnSpPr/>
          <p:nvPr/>
        </p:nvCxnSpPr>
        <p:spPr>
          <a:xfrm>
            <a:off x="2286000" y="3960812"/>
            <a:ext cx="457200" cy="158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066800" y="6248400"/>
            <a:ext cx="6468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执行指令</a:t>
            </a:r>
            <a:r>
              <a:rPr lang="en-US" altLang="zh-CN" dirty="0"/>
              <a:t>j 0x00400100   </a:t>
            </a:r>
            <a:r>
              <a:rPr lang="zh-CN" altLang="en-US" dirty="0"/>
              <a:t>从寄存器堆读（</a:t>
            </a:r>
            <a:r>
              <a:rPr lang="en-US" altLang="zh-CN" dirty="0"/>
              <a:t>RD</a:t>
            </a:r>
            <a:r>
              <a:rPr lang="zh-CN" altLang="en-US" dirty="0"/>
              <a:t>）、运算（</a:t>
            </a:r>
            <a:r>
              <a:rPr lang="en-US" altLang="zh-CN" dirty="0"/>
              <a:t>ALU</a:t>
            </a:r>
            <a:r>
              <a:rPr lang="zh-CN" altLang="en-US" dirty="0"/>
              <a:t>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200" y="5562600"/>
            <a:ext cx="91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001000</a:t>
            </a:r>
            <a:endParaRPr lang="zh-CN" altLang="en-US" sz="1600" dirty="0"/>
          </a:p>
        </p:txBody>
      </p:sp>
      <p:sp>
        <p:nvSpPr>
          <p:cNvPr id="59" name="TextBox 58"/>
          <p:cNvSpPr txBox="1"/>
          <p:nvPr/>
        </p:nvSpPr>
        <p:spPr>
          <a:xfrm>
            <a:off x="838200" y="5562600"/>
            <a:ext cx="3200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0000100000000000001000000</a:t>
            </a:r>
            <a:endParaRPr lang="zh-CN" altLang="en-US" sz="1600" dirty="0"/>
          </a:p>
        </p:txBody>
      </p:sp>
      <p:cxnSp>
        <p:nvCxnSpPr>
          <p:cNvPr id="77" name="肘形连接符 76"/>
          <p:cNvCxnSpPr>
            <a:stCxn id="57" idx="3"/>
          </p:cNvCxnSpPr>
          <p:nvPr/>
        </p:nvCxnSpPr>
        <p:spPr>
          <a:xfrm flipV="1">
            <a:off x="3962400" y="4659869"/>
            <a:ext cx="1143000" cy="1104898"/>
          </a:xfrm>
          <a:prstGeom prst="bentConnector3">
            <a:avLst>
              <a:gd name="adj1" fmla="val 58348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7" name="表格 86"/>
          <p:cNvGraphicFramePr>
            <a:graphicFrameLocks noGrp="1"/>
          </p:cNvGraphicFramePr>
          <p:nvPr/>
        </p:nvGraphicFramePr>
        <p:xfrm>
          <a:off x="2743200" y="1676400"/>
          <a:ext cx="1524000" cy="333248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$0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$16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$3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$19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$4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$20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$5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$21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$6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$22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$7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$23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$8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$24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$9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$25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$10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$26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$11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$27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$12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$28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$13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$29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$14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$30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$15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$31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95" name="TextBox 94"/>
          <p:cNvSpPr txBox="1"/>
          <p:nvPr/>
        </p:nvSpPr>
        <p:spPr>
          <a:xfrm>
            <a:off x="6019800" y="3276600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00400100</a:t>
            </a:r>
            <a:endParaRPr lang="zh-CN" altLang="en-US" sz="1400" dirty="0"/>
          </a:p>
        </p:txBody>
      </p:sp>
      <p:sp>
        <p:nvSpPr>
          <p:cNvPr id="98" name="TextBox 97"/>
          <p:cNvSpPr txBox="1"/>
          <p:nvPr/>
        </p:nvSpPr>
        <p:spPr>
          <a:xfrm>
            <a:off x="3657600" y="1828800"/>
            <a:ext cx="685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Consolas" pitchFamily="49" charset="0"/>
              </a:rPr>
              <a:t>$17</a:t>
            </a:r>
            <a:endParaRPr lang="zh-CN" altLang="en-US" sz="1400" dirty="0">
              <a:latin typeface="Consolas" pitchFamily="49" charset="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3657600" y="2057400"/>
            <a:ext cx="685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Consolas" pitchFamily="49" charset="0"/>
              </a:rPr>
              <a:t>$18</a:t>
            </a:r>
            <a:endParaRPr lang="zh-CN" altLang="en-US" sz="1400" dirty="0">
              <a:latin typeface="Consolas" pitchFamily="49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838200" y="5562600"/>
            <a:ext cx="3200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0000100000000000001000000</a:t>
            </a:r>
            <a:endParaRPr lang="zh-CN" altLang="en-US" sz="1600" dirty="0"/>
          </a:p>
        </p:txBody>
      </p:sp>
      <p:sp>
        <p:nvSpPr>
          <p:cNvPr id="72" name="TextBox 71"/>
          <p:cNvSpPr txBox="1"/>
          <p:nvPr/>
        </p:nvSpPr>
        <p:spPr>
          <a:xfrm>
            <a:off x="4191000" y="5562600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00100040</a:t>
            </a:r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6" dur="1000" tmFilter="0, 0; .2, .5; .8, .5; 1, 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500" autoRev="1" fill="hold"/>
                                        <p:tgtEl>
                                          <p:spTgt spid="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76035E-6 L 0.24166 -0.00231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100" y="-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3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17 -0.00023 L -0.0033 -0.17118 L 0.04826 -0.17118 L 0.09479 -0.21143 L 0.14167 -0.21143 " pathEditMode="relative" rAng="0" ptsTypes="AAAAA">
                                      <p:cBhvr>
                                        <p:cTn id="21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300" y="-106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500"/>
                            </p:stCondLst>
                            <p:childTnLst>
                              <p:par>
                                <p:cTn id="23" presetID="27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1000" autoRev="1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5" dur="1000" autoRev="1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" dur="1000" autoRev="1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1000" autoRev="1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500"/>
                            </p:stCondLst>
                            <p:childTnLst>
                              <p:par>
                                <p:cTn id="29" presetID="3" presetClass="exit" presetSubtype="1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341 L 0.0731 -0.2341 L 0.11216 -0.27458 L 0.15313 -0.27458 L 0.15313 -0.43581 L -0.6434 -0.43697 L -0.64427 -0.06963 " pathEditMode="relative" ptsTypes="AAAAAAAA">
                                      <p:cBhvr>
                                        <p:cTn id="39" dur="3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nimBg="1"/>
      <p:bldP spid="53" grpId="0"/>
      <p:bldP spid="95" grpId="0"/>
      <p:bldP spid="95" grpId="1"/>
      <p:bldP spid="69" grpId="0"/>
      <p:bldP spid="69" grpId="1"/>
      <p:bldP spid="72" grpId="0"/>
      <p:bldP spid="72" grpId="1"/>
      <p:bldP spid="72" grpId="2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lvl="1" eaLnBrk="1" hangingPunct="1">
              <a:lnSpc>
                <a:spcPct val="90000"/>
              </a:lnSpc>
            </a:pPr>
            <a:r>
              <a:rPr kumimoji="1" lang="zh-CN" altLang="en-US" b="1" dirty="0"/>
              <a:t>基址寻址举例</a:t>
            </a:r>
            <a:endParaRPr kumimoji="1" lang="en-US" altLang="zh-CN" b="1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8229600" cy="1828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 err="1"/>
              <a:t>lw</a:t>
            </a:r>
            <a:r>
              <a:rPr lang="en-US" altLang="zh-CN" dirty="0"/>
              <a:t> $t2, 32($t0)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假设寄存器</a:t>
            </a:r>
            <a:r>
              <a:rPr lang="en-US" altLang="zh-CN" dirty="0"/>
              <a:t>$t0</a:t>
            </a:r>
            <a:r>
              <a:rPr lang="zh-CN" altLang="en-US" dirty="0"/>
              <a:t>中的值为</a:t>
            </a:r>
            <a:r>
              <a:rPr lang="en-US" altLang="zh-CN" dirty="0"/>
              <a:t>100</a:t>
            </a:r>
            <a:r>
              <a:rPr lang="zh-CN" altLang="en-US" dirty="0"/>
              <a:t>，则源操作数所在存储单元起始地址为</a:t>
            </a:r>
            <a:r>
              <a:rPr lang="en-US" altLang="zh-CN" dirty="0"/>
              <a:t>100+32=132</a:t>
            </a:r>
            <a:r>
              <a:rPr lang="zh-CN" altLang="en-US" dirty="0"/>
              <a:t>（</a:t>
            </a:r>
            <a:r>
              <a:rPr lang="en-US" altLang="zh-CN" dirty="0"/>
              <a:t>0x00000084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609600" y="3352800"/>
          <a:ext cx="7162800" cy="148336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790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字段值（</a:t>
                      </a:r>
                      <a:r>
                        <a:rPr lang="en-US" altLang="zh-CN" dirty="0"/>
                        <a:t>I</a:t>
                      </a:r>
                      <a:r>
                        <a:rPr lang="zh-CN" altLang="en-US" dirty="0"/>
                        <a:t>指令格式）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opcode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rs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rt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imm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6bits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5bits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5bit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16bits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609600" y="5029200"/>
          <a:ext cx="7162800" cy="148336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机器码（</a:t>
                      </a:r>
                      <a:r>
                        <a:rPr lang="en-US" altLang="zh-CN" dirty="0"/>
                        <a:t>0x8D0A0020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opcode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rs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rt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imm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100011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01000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01010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0000000000100000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6bits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5bits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5bit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16bits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76200" y="2754868"/>
            <a:ext cx="9144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371600" y="2602468"/>
            <a:ext cx="7620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指令缓存</a:t>
            </a:r>
          </a:p>
        </p:txBody>
      </p:sp>
      <p:sp>
        <p:nvSpPr>
          <p:cNvPr id="24" name="任意多边形 23"/>
          <p:cNvSpPr/>
          <p:nvPr/>
        </p:nvSpPr>
        <p:spPr>
          <a:xfrm>
            <a:off x="1371600" y="773668"/>
            <a:ext cx="509587" cy="1614487"/>
          </a:xfrm>
          <a:custGeom>
            <a:avLst/>
            <a:gdLst>
              <a:gd name="connsiteX0" fmla="*/ 0 w 509587"/>
              <a:gd name="connsiteY0" fmla="*/ 0 h 1614487"/>
              <a:gd name="connsiteX1" fmla="*/ 504825 w 509587"/>
              <a:gd name="connsiteY1" fmla="*/ 347662 h 1614487"/>
              <a:gd name="connsiteX2" fmla="*/ 509587 w 509587"/>
              <a:gd name="connsiteY2" fmla="*/ 1304925 h 1614487"/>
              <a:gd name="connsiteX3" fmla="*/ 0 w 509587"/>
              <a:gd name="connsiteY3" fmla="*/ 1614487 h 1614487"/>
              <a:gd name="connsiteX4" fmla="*/ 0 w 509587"/>
              <a:gd name="connsiteY4" fmla="*/ 1138237 h 1614487"/>
              <a:gd name="connsiteX5" fmla="*/ 100012 w 509587"/>
              <a:gd name="connsiteY5" fmla="*/ 1071562 h 1614487"/>
              <a:gd name="connsiteX6" fmla="*/ 100012 w 509587"/>
              <a:gd name="connsiteY6" fmla="*/ 642937 h 1614487"/>
              <a:gd name="connsiteX7" fmla="*/ 0 w 509587"/>
              <a:gd name="connsiteY7" fmla="*/ 557212 h 1614487"/>
              <a:gd name="connsiteX8" fmla="*/ 0 w 509587"/>
              <a:gd name="connsiteY8" fmla="*/ 0 h 1614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9587" h="1614487">
                <a:moveTo>
                  <a:pt x="0" y="0"/>
                </a:moveTo>
                <a:lnTo>
                  <a:pt x="504825" y="347662"/>
                </a:lnTo>
                <a:cubicBezTo>
                  <a:pt x="506412" y="666750"/>
                  <a:pt x="508000" y="985837"/>
                  <a:pt x="509587" y="1304925"/>
                </a:cubicBezTo>
                <a:lnTo>
                  <a:pt x="0" y="1614487"/>
                </a:lnTo>
                <a:lnTo>
                  <a:pt x="0" y="1138237"/>
                </a:lnTo>
                <a:lnTo>
                  <a:pt x="100012" y="1071562"/>
                </a:lnTo>
                <a:lnTo>
                  <a:pt x="100012" y="642937"/>
                </a:lnTo>
                <a:lnTo>
                  <a:pt x="0" y="55721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加法器</a:t>
            </a:r>
          </a:p>
        </p:txBody>
      </p:sp>
      <p:sp>
        <p:nvSpPr>
          <p:cNvPr id="48" name="直角上箭头 47"/>
          <p:cNvSpPr/>
          <p:nvPr/>
        </p:nvSpPr>
        <p:spPr>
          <a:xfrm rot="16200000" flipV="1">
            <a:off x="800100" y="2411968"/>
            <a:ext cx="914400" cy="228600"/>
          </a:xfrm>
          <a:prstGeom prst="bentUpArrow">
            <a:avLst>
              <a:gd name="adj1" fmla="val 0"/>
              <a:gd name="adj2" fmla="val 25000"/>
              <a:gd name="adj3" fmla="val 25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1" name="直接箭头连接符 50"/>
          <p:cNvCxnSpPr>
            <a:stCxn id="5" idx="3"/>
          </p:cNvCxnSpPr>
          <p:nvPr/>
        </p:nvCxnSpPr>
        <p:spPr>
          <a:xfrm>
            <a:off x="990600" y="2983468"/>
            <a:ext cx="381000" cy="1588"/>
          </a:xfrm>
          <a:prstGeom prst="straightConnector1">
            <a:avLst/>
          </a:prstGeom>
          <a:ln w="254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>
            <a:off x="1066800" y="1078468"/>
            <a:ext cx="304800" cy="1588"/>
          </a:xfrm>
          <a:prstGeom prst="straightConnector1">
            <a:avLst/>
          </a:prstGeom>
          <a:ln w="254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62000" y="849868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7" name="矩形 56"/>
          <p:cNvSpPr/>
          <p:nvPr/>
        </p:nvSpPr>
        <p:spPr>
          <a:xfrm>
            <a:off x="152400" y="5574267"/>
            <a:ext cx="3733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5" name="直接箭头连接符 64"/>
          <p:cNvCxnSpPr/>
          <p:nvPr/>
        </p:nvCxnSpPr>
        <p:spPr>
          <a:xfrm rot="5400000">
            <a:off x="1181497" y="5002371"/>
            <a:ext cx="1143000" cy="7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/>
          <p:cNvSpPr/>
          <p:nvPr/>
        </p:nvSpPr>
        <p:spPr>
          <a:xfrm>
            <a:off x="2743200" y="1840468"/>
            <a:ext cx="1524000" cy="3200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寄存器堆</a:t>
            </a:r>
          </a:p>
        </p:txBody>
      </p:sp>
      <p:cxnSp>
        <p:nvCxnSpPr>
          <p:cNvPr id="71" name="直接连接符 70"/>
          <p:cNvCxnSpPr/>
          <p:nvPr/>
        </p:nvCxnSpPr>
        <p:spPr>
          <a:xfrm rot="5400000" flipH="1" flipV="1">
            <a:off x="800100" y="4088368"/>
            <a:ext cx="2971800" cy="1588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>
            <a:off x="2286000" y="2602468"/>
            <a:ext cx="457200" cy="158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>
            <a:off x="2286000" y="3276600"/>
            <a:ext cx="457200" cy="158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等腰三角形 77"/>
          <p:cNvSpPr/>
          <p:nvPr/>
        </p:nvSpPr>
        <p:spPr>
          <a:xfrm rot="5400000">
            <a:off x="4802124" y="21437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等腰三角形 78"/>
          <p:cNvSpPr/>
          <p:nvPr/>
        </p:nvSpPr>
        <p:spPr>
          <a:xfrm rot="5400000">
            <a:off x="4802124" y="42011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1" name="肘形连接符 80"/>
          <p:cNvCxnSpPr/>
          <p:nvPr/>
        </p:nvCxnSpPr>
        <p:spPr>
          <a:xfrm>
            <a:off x="1905000" y="1535668"/>
            <a:ext cx="3200400" cy="609600"/>
          </a:xfrm>
          <a:prstGeom prst="bentConnector3">
            <a:avLst>
              <a:gd name="adj1" fmla="val 83894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/>
          <p:cNvCxnSpPr/>
          <p:nvPr/>
        </p:nvCxnSpPr>
        <p:spPr>
          <a:xfrm>
            <a:off x="4267200" y="2526268"/>
            <a:ext cx="8382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/>
          <p:cNvCxnSpPr/>
          <p:nvPr/>
        </p:nvCxnSpPr>
        <p:spPr>
          <a:xfrm>
            <a:off x="4267200" y="4278868"/>
            <a:ext cx="8382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肘形连接符 93"/>
          <p:cNvCxnSpPr>
            <a:stCxn id="57" idx="3"/>
          </p:cNvCxnSpPr>
          <p:nvPr/>
        </p:nvCxnSpPr>
        <p:spPr>
          <a:xfrm flipV="1">
            <a:off x="3886200" y="4659869"/>
            <a:ext cx="1295400" cy="1104898"/>
          </a:xfrm>
          <a:prstGeom prst="bentConnector3">
            <a:avLst>
              <a:gd name="adj1" fmla="val 59821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任意多边形 99"/>
          <p:cNvSpPr/>
          <p:nvPr/>
        </p:nvSpPr>
        <p:spPr>
          <a:xfrm>
            <a:off x="5867400" y="1992868"/>
            <a:ext cx="609600" cy="2895600"/>
          </a:xfrm>
          <a:custGeom>
            <a:avLst/>
            <a:gdLst>
              <a:gd name="connsiteX0" fmla="*/ 0 w 509587"/>
              <a:gd name="connsiteY0" fmla="*/ 0 h 1614487"/>
              <a:gd name="connsiteX1" fmla="*/ 504825 w 509587"/>
              <a:gd name="connsiteY1" fmla="*/ 347662 h 1614487"/>
              <a:gd name="connsiteX2" fmla="*/ 509587 w 509587"/>
              <a:gd name="connsiteY2" fmla="*/ 1304925 h 1614487"/>
              <a:gd name="connsiteX3" fmla="*/ 0 w 509587"/>
              <a:gd name="connsiteY3" fmla="*/ 1614487 h 1614487"/>
              <a:gd name="connsiteX4" fmla="*/ 0 w 509587"/>
              <a:gd name="connsiteY4" fmla="*/ 1138237 h 1614487"/>
              <a:gd name="connsiteX5" fmla="*/ 100012 w 509587"/>
              <a:gd name="connsiteY5" fmla="*/ 1071562 h 1614487"/>
              <a:gd name="connsiteX6" fmla="*/ 100012 w 509587"/>
              <a:gd name="connsiteY6" fmla="*/ 642937 h 1614487"/>
              <a:gd name="connsiteX7" fmla="*/ 0 w 509587"/>
              <a:gd name="connsiteY7" fmla="*/ 557212 h 1614487"/>
              <a:gd name="connsiteX8" fmla="*/ 0 w 509587"/>
              <a:gd name="connsiteY8" fmla="*/ 0 h 1614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9587" h="1614487">
                <a:moveTo>
                  <a:pt x="0" y="0"/>
                </a:moveTo>
                <a:lnTo>
                  <a:pt x="504825" y="347662"/>
                </a:lnTo>
                <a:cubicBezTo>
                  <a:pt x="506412" y="666750"/>
                  <a:pt x="508000" y="985837"/>
                  <a:pt x="509587" y="1304925"/>
                </a:cubicBezTo>
                <a:lnTo>
                  <a:pt x="0" y="1614487"/>
                </a:lnTo>
                <a:lnTo>
                  <a:pt x="0" y="1138237"/>
                </a:lnTo>
                <a:lnTo>
                  <a:pt x="100012" y="1071562"/>
                </a:lnTo>
                <a:lnTo>
                  <a:pt x="100012" y="642937"/>
                </a:lnTo>
                <a:lnTo>
                  <a:pt x="0" y="55721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运算器</a:t>
            </a:r>
          </a:p>
        </p:txBody>
      </p:sp>
      <p:cxnSp>
        <p:nvCxnSpPr>
          <p:cNvPr id="102" name="直接箭头连接符 101"/>
          <p:cNvCxnSpPr>
            <a:stCxn id="78" idx="0"/>
          </p:cNvCxnSpPr>
          <p:nvPr/>
        </p:nvCxnSpPr>
        <p:spPr>
          <a:xfrm>
            <a:off x="5559552" y="2370820"/>
            <a:ext cx="307848" cy="304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/>
          <p:cNvCxnSpPr/>
          <p:nvPr/>
        </p:nvCxnSpPr>
        <p:spPr>
          <a:xfrm>
            <a:off x="5562600" y="4431268"/>
            <a:ext cx="307848" cy="304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矩形 104"/>
          <p:cNvSpPr/>
          <p:nvPr/>
        </p:nvSpPr>
        <p:spPr>
          <a:xfrm>
            <a:off x="7010400" y="2602468"/>
            <a:ext cx="7620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数据缓存</a:t>
            </a:r>
          </a:p>
        </p:txBody>
      </p:sp>
      <p:cxnSp>
        <p:nvCxnSpPr>
          <p:cNvPr id="107" name="直接箭头连接符 106"/>
          <p:cNvCxnSpPr>
            <a:endCxn id="105" idx="1"/>
          </p:cNvCxnSpPr>
          <p:nvPr/>
        </p:nvCxnSpPr>
        <p:spPr>
          <a:xfrm>
            <a:off x="6477000" y="3516868"/>
            <a:ext cx="5334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等腰三角形 109"/>
          <p:cNvSpPr/>
          <p:nvPr/>
        </p:nvSpPr>
        <p:spPr>
          <a:xfrm rot="5400000">
            <a:off x="6783324" y="14579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2" name="直接箭头连接符 111"/>
          <p:cNvCxnSpPr/>
          <p:nvPr/>
        </p:nvCxnSpPr>
        <p:spPr>
          <a:xfrm>
            <a:off x="4572000" y="1535668"/>
            <a:ext cx="25146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/>
          <p:cNvCxnSpPr/>
          <p:nvPr/>
        </p:nvCxnSpPr>
        <p:spPr>
          <a:xfrm rot="5400000" flipH="1" flipV="1">
            <a:off x="5906294" y="2716768"/>
            <a:ext cx="1599406" cy="79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117"/>
          <p:cNvCxnSpPr/>
          <p:nvPr/>
        </p:nvCxnSpPr>
        <p:spPr>
          <a:xfrm>
            <a:off x="6705600" y="1916668"/>
            <a:ext cx="3810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连接符 135"/>
          <p:cNvCxnSpPr>
            <a:stCxn id="110" idx="0"/>
          </p:cNvCxnSpPr>
          <p:nvPr/>
        </p:nvCxnSpPr>
        <p:spPr>
          <a:xfrm>
            <a:off x="7540752" y="1685020"/>
            <a:ext cx="307848" cy="304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连接符 140"/>
          <p:cNvCxnSpPr/>
          <p:nvPr/>
        </p:nvCxnSpPr>
        <p:spPr>
          <a:xfrm rot="5400000" flipH="1" flipV="1">
            <a:off x="7277100" y="1116568"/>
            <a:ext cx="11430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连接符 143"/>
          <p:cNvCxnSpPr/>
          <p:nvPr/>
        </p:nvCxnSpPr>
        <p:spPr>
          <a:xfrm rot="10800000">
            <a:off x="533400" y="533400"/>
            <a:ext cx="7315200" cy="1325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箭头连接符 145"/>
          <p:cNvCxnSpPr>
            <a:endCxn id="5" idx="0"/>
          </p:cNvCxnSpPr>
          <p:nvPr/>
        </p:nvCxnSpPr>
        <p:spPr>
          <a:xfrm rot="5400000">
            <a:off x="-576540" y="1644134"/>
            <a:ext cx="2220674" cy="7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连接符 152"/>
          <p:cNvCxnSpPr/>
          <p:nvPr/>
        </p:nvCxnSpPr>
        <p:spPr>
          <a:xfrm rot="10800000">
            <a:off x="3505200" y="5345668"/>
            <a:ext cx="51816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箭头连接符 155"/>
          <p:cNvCxnSpPr>
            <a:endCxn id="68" idx="2"/>
          </p:cNvCxnSpPr>
          <p:nvPr/>
        </p:nvCxnSpPr>
        <p:spPr>
          <a:xfrm rot="5400000" flipH="1" flipV="1">
            <a:off x="3352006" y="5193268"/>
            <a:ext cx="305594" cy="7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/>
          <p:cNvCxnSpPr/>
          <p:nvPr/>
        </p:nvCxnSpPr>
        <p:spPr>
          <a:xfrm rot="5400000">
            <a:off x="4001294" y="4697968"/>
            <a:ext cx="837406" cy="79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接连接符 175"/>
          <p:cNvCxnSpPr/>
          <p:nvPr/>
        </p:nvCxnSpPr>
        <p:spPr>
          <a:xfrm>
            <a:off x="4419600" y="5117068"/>
            <a:ext cx="29718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箭头连接符 178"/>
          <p:cNvCxnSpPr>
            <a:endCxn id="105" idx="2"/>
          </p:cNvCxnSpPr>
          <p:nvPr/>
        </p:nvCxnSpPr>
        <p:spPr>
          <a:xfrm rot="5400000" flipH="1" flipV="1">
            <a:off x="7047706" y="4774168"/>
            <a:ext cx="686594" cy="7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等腰三角形 179"/>
          <p:cNvSpPr/>
          <p:nvPr/>
        </p:nvSpPr>
        <p:spPr>
          <a:xfrm rot="5400000">
            <a:off x="7773924" y="22199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2" name="直接箭头连接符 181"/>
          <p:cNvCxnSpPr/>
          <p:nvPr/>
        </p:nvCxnSpPr>
        <p:spPr>
          <a:xfrm>
            <a:off x="7772400" y="2831068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接箭头连接符 185"/>
          <p:cNvCxnSpPr>
            <a:endCxn id="180" idx="3"/>
          </p:cNvCxnSpPr>
          <p:nvPr/>
        </p:nvCxnSpPr>
        <p:spPr>
          <a:xfrm flipV="1">
            <a:off x="6705600" y="2447020"/>
            <a:ext cx="1371600" cy="304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接连接符 192"/>
          <p:cNvCxnSpPr/>
          <p:nvPr/>
        </p:nvCxnSpPr>
        <p:spPr>
          <a:xfrm rot="5400000">
            <a:off x="7658100" y="1878568"/>
            <a:ext cx="3810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接箭头连接符 194"/>
          <p:cNvCxnSpPr/>
          <p:nvPr/>
        </p:nvCxnSpPr>
        <p:spPr>
          <a:xfrm>
            <a:off x="7848600" y="2069068"/>
            <a:ext cx="2286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连接符 196"/>
          <p:cNvCxnSpPr>
            <a:stCxn id="180" idx="0"/>
          </p:cNvCxnSpPr>
          <p:nvPr/>
        </p:nvCxnSpPr>
        <p:spPr>
          <a:xfrm>
            <a:off x="8531352" y="2447020"/>
            <a:ext cx="155448" cy="304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连接符 198"/>
          <p:cNvCxnSpPr/>
          <p:nvPr/>
        </p:nvCxnSpPr>
        <p:spPr>
          <a:xfrm rot="5400000">
            <a:off x="7239000" y="3897868"/>
            <a:ext cx="28956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/>
          <p:cNvSpPr txBox="1"/>
          <p:nvPr/>
        </p:nvSpPr>
        <p:spPr>
          <a:xfrm>
            <a:off x="4419600" y="252626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Rs</a:t>
            </a:r>
            <a:endParaRPr lang="zh-CN" altLang="en-US" dirty="0"/>
          </a:p>
        </p:txBody>
      </p:sp>
      <p:sp>
        <p:nvSpPr>
          <p:cNvPr id="204" name="TextBox 203"/>
          <p:cNvSpPr txBox="1"/>
          <p:nvPr/>
        </p:nvSpPr>
        <p:spPr>
          <a:xfrm>
            <a:off x="4419600" y="38978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Rt</a:t>
            </a:r>
            <a:endParaRPr lang="zh-CN" altLang="en-US" dirty="0"/>
          </a:p>
        </p:txBody>
      </p:sp>
      <p:sp>
        <p:nvSpPr>
          <p:cNvPr id="205" name="TextBox 204"/>
          <p:cNvSpPr txBox="1"/>
          <p:nvPr/>
        </p:nvSpPr>
        <p:spPr>
          <a:xfrm>
            <a:off x="2971800" y="5040868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Rd</a:t>
            </a:r>
            <a:endParaRPr lang="zh-CN" altLang="en-US" dirty="0"/>
          </a:p>
        </p:txBody>
      </p:sp>
      <p:sp>
        <p:nvSpPr>
          <p:cNvPr id="206" name="TextBox 205"/>
          <p:cNvSpPr txBox="1"/>
          <p:nvPr/>
        </p:nvSpPr>
        <p:spPr>
          <a:xfrm>
            <a:off x="4038600" y="5715000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Imm</a:t>
            </a:r>
            <a:endParaRPr lang="zh-CN" altLang="en-US" dirty="0"/>
          </a:p>
        </p:txBody>
      </p:sp>
      <p:cxnSp>
        <p:nvCxnSpPr>
          <p:cNvPr id="223" name="直接箭头连接符 222"/>
          <p:cNvCxnSpPr/>
          <p:nvPr/>
        </p:nvCxnSpPr>
        <p:spPr>
          <a:xfrm>
            <a:off x="2286000" y="3960812"/>
            <a:ext cx="457200" cy="158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7045" y="2819400"/>
            <a:ext cx="9797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00400000</a:t>
            </a:r>
            <a:endParaRPr lang="zh-CN" altLang="en-US" sz="1400" dirty="0"/>
          </a:p>
        </p:txBody>
      </p:sp>
      <p:sp>
        <p:nvSpPr>
          <p:cNvPr id="53" name="TextBox 52"/>
          <p:cNvSpPr txBox="1"/>
          <p:nvPr/>
        </p:nvSpPr>
        <p:spPr>
          <a:xfrm>
            <a:off x="1295400" y="2590800"/>
            <a:ext cx="9476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8D0A0020</a:t>
            </a:r>
            <a:endParaRPr lang="zh-CN" altLang="en-US" sz="1400" dirty="0"/>
          </a:p>
        </p:txBody>
      </p:sp>
      <p:sp>
        <p:nvSpPr>
          <p:cNvPr id="56" name="TextBox 55"/>
          <p:cNvSpPr txBox="1"/>
          <p:nvPr/>
        </p:nvSpPr>
        <p:spPr>
          <a:xfrm>
            <a:off x="152400" y="5574268"/>
            <a:ext cx="381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10001101000010100000000000100000</a:t>
            </a:r>
            <a:endParaRPr lang="zh-CN" altLang="en-US" sz="1600" dirty="0"/>
          </a:p>
        </p:txBody>
      </p:sp>
      <p:sp>
        <p:nvSpPr>
          <p:cNvPr id="58" name="TextBox 57"/>
          <p:cNvSpPr txBox="1"/>
          <p:nvPr/>
        </p:nvSpPr>
        <p:spPr>
          <a:xfrm>
            <a:off x="1600200" y="1295401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00400004</a:t>
            </a:r>
            <a:endParaRPr lang="zh-CN" altLang="en-US" sz="1400" dirty="0"/>
          </a:p>
        </p:txBody>
      </p:sp>
      <p:sp>
        <p:nvSpPr>
          <p:cNvPr id="59" name="TextBox 58"/>
          <p:cNvSpPr txBox="1"/>
          <p:nvPr/>
        </p:nvSpPr>
        <p:spPr>
          <a:xfrm>
            <a:off x="2362200" y="6248400"/>
            <a:ext cx="4352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执行指令</a:t>
            </a:r>
            <a:r>
              <a:rPr lang="en-US" altLang="zh-CN" dirty="0" err="1"/>
              <a:t>lw</a:t>
            </a:r>
            <a:r>
              <a:rPr lang="en-US" altLang="zh-CN" dirty="0"/>
              <a:t> $t2, 32($t0)   </a:t>
            </a:r>
            <a:r>
              <a:rPr lang="zh-CN" altLang="en-US" dirty="0"/>
              <a:t>读取指令（</a:t>
            </a:r>
            <a:r>
              <a:rPr lang="en-US" altLang="zh-CN" dirty="0"/>
              <a:t>IF</a:t>
            </a:r>
            <a:r>
              <a:rPr lang="zh-CN" altLang="en-US" dirty="0"/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3.93708E-6 L 0.06198 -0.0002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7" presetClass="emph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9" dur="1000" autoRev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0" dur="1000" autoRev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" dur="1000" autoRev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autoRev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000"/>
                            </p:stCondLst>
                            <p:childTnLst>
                              <p:par>
                                <p:cTn id="14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486 -0.00023 L 0.05486 -0.12884 L 0.10712 -0.12769 " pathEditMode="relative" rAng="0" ptsTypes="AAA">
                                      <p:cBhvr>
                                        <p:cTn id="15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-64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1.11111E-6 -1.48148E-6 L -0.00347 0.4331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" y="2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6000"/>
                            </p:stCondLst>
                            <p:childTnLst>
                              <p:par>
                                <p:cTn id="19" presetID="3" presetClass="exit" presetSubtype="1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blinds(horizontal)">
                                      <p:cBhvr>
                                        <p:cTn id="20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0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8000"/>
                            </p:stCondLst>
                            <p:childTnLst>
                              <p:par>
                                <p:cTn id="27" presetID="27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1000" autoRev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" dur="1000" autoRev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" dur="1000" autoRev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1000" autoRev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0"/>
                            </p:stCondLst>
                            <p:childTnLst>
                              <p:par>
                                <p:cTn id="33" presetID="3" presetClass="exit" presetSubtype="1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4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1000"/>
                            </p:stCondLst>
                            <p:childTnLst>
                              <p:par>
                                <p:cTn id="3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000"/>
                            </p:stCondLst>
                            <p:childTnLst>
                              <p:par>
                                <p:cTn id="41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747 0.00116 L 0.55174 0.00231 L 0.61337 0.02544 L 0.61337 -0.14735 L -0.16528 -0.14758 L -0.16615 0.22207 " pathEditMode="relative" rAng="0" ptsTypes="AAAAAA">
                                      <p:cBhvr>
                                        <p:cTn id="42" dur="3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1" y="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52" grpId="0"/>
      <p:bldP spid="52" grpId="1"/>
      <p:bldP spid="52" grpId="2"/>
      <p:bldP spid="53" grpId="0"/>
      <p:bldP spid="53" grpId="1"/>
      <p:bldP spid="53" grpId="2"/>
      <p:bldP spid="56" grpId="0"/>
      <p:bldP spid="58" grpId="0"/>
      <p:bldP spid="58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28600" y="2754868"/>
            <a:ext cx="762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PC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371600" y="2602468"/>
            <a:ext cx="7620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指令缓存</a:t>
            </a:r>
          </a:p>
        </p:txBody>
      </p:sp>
      <p:sp>
        <p:nvSpPr>
          <p:cNvPr id="24" name="任意多边形 23"/>
          <p:cNvSpPr/>
          <p:nvPr/>
        </p:nvSpPr>
        <p:spPr>
          <a:xfrm>
            <a:off x="1371600" y="773668"/>
            <a:ext cx="509587" cy="1614487"/>
          </a:xfrm>
          <a:custGeom>
            <a:avLst/>
            <a:gdLst>
              <a:gd name="connsiteX0" fmla="*/ 0 w 509587"/>
              <a:gd name="connsiteY0" fmla="*/ 0 h 1614487"/>
              <a:gd name="connsiteX1" fmla="*/ 504825 w 509587"/>
              <a:gd name="connsiteY1" fmla="*/ 347662 h 1614487"/>
              <a:gd name="connsiteX2" fmla="*/ 509587 w 509587"/>
              <a:gd name="connsiteY2" fmla="*/ 1304925 h 1614487"/>
              <a:gd name="connsiteX3" fmla="*/ 0 w 509587"/>
              <a:gd name="connsiteY3" fmla="*/ 1614487 h 1614487"/>
              <a:gd name="connsiteX4" fmla="*/ 0 w 509587"/>
              <a:gd name="connsiteY4" fmla="*/ 1138237 h 1614487"/>
              <a:gd name="connsiteX5" fmla="*/ 100012 w 509587"/>
              <a:gd name="connsiteY5" fmla="*/ 1071562 h 1614487"/>
              <a:gd name="connsiteX6" fmla="*/ 100012 w 509587"/>
              <a:gd name="connsiteY6" fmla="*/ 642937 h 1614487"/>
              <a:gd name="connsiteX7" fmla="*/ 0 w 509587"/>
              <a:gd name="connsiteY7" fmla="*/ 557212 h 1614487"/>
              <a:gd name="connsiteX8" fmla="*/ 0 w 509587"/>
              <a:gd name="connsiteY8" fmla="*/ 0 h 1614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9587" h="1614487">
                <a:moveTo>
                  <a:pt x="0" y="0"/>
                </a:moveTo>
                <a:lnTo>
                  <a:pt x="504825" y="347662"/>
                </a:lnTo>
                <a:cubicBezTo>
                  <a:pt x="506412" y="666750"/>
                  <a:pt x="508000" y="985837"/>
                  <a:pt x="509587" y="1304925"/>
                </a:cubicBezTo>
                <a:lnTo>
                  <a:pt x="0" y="1614487"/>
                </a:lnTo>
                <a:lnTo>
                  <a:pt x="0" y="1138237"/>
                </a:lnTo>
                <a:lnTo>
                  <a:pt x="100012" y="1071562"/>
                </a:lnTo>
                <a:lnTo>
                  <a:pt x="100012" y="642937"/>
                </a:lnTo>
                <a:lnTo>
                  <a:pt x="0" y="55721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加法器</a:t>
            </a:r>
          </a:p>
        </p:txBody>
      </p:sp>
      <p:sp>
        <p:nvSpPr>
          <p:cNvPr id="48" name="直角上箭头 47"/>
          <p:cNvSpPr/>
          <p:nvPr/>
        </p:nvSpPr>
        <p:spPr>
          <a:xfrm rot="16200000" flipV="1">
            <a:off x="800100" y="2411968"/>
            <a:ext cx="914400" cy="228600"/>
          </a:xfrm>
          <a:prstGeom prst="bentUpArrow">
            <a:avLst>
              <a:gd name="adj1" fmla="val 0"/>
              <a:gd name="adj2" fmla="val 25000"/>
              <a:gd name="adj3" fmla="val 25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1" name="直接箭头连接符 50"/>
          <p:cNvCxnSpPr>
            <a:stCxn id="5" idx="3"/>
          </p:cNvCxnSpPr>
          <p:nvPr/>
        </p:nvCxnSpPr>
        <p:spPr>
          <a:xfrm>
            <a:off x="990600" y="2983468"/>
            <a:ext cx="381000" cy="1588"/>
          </a:xfrm>
          <a:prstGeom prst="straightConnector1">
            <a:avLst/>
          </a:prstGeom>
          <a:ln w="254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>
            <a:off x="1066800" y="1078468"/>
            <a:ext cx="304800" cy="1588"/>
          </a:xfrm>
          <a:prstGeom prst="straightConnector1">
            <a:avLst/>
          </a:prstGeom>
          <a:ln w="254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62000" y="849868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7" name="矩形 56"/>
          <p:cNvSpPr/>
          <p:nvPr/>
        </p:nvSpPr>
        <p:spPr>
          <a:xfrm>
            <a:off x="152400" y="5574267"/>
            <a:ext cx="3810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5" name="直接箭头连接符 64"/>
          <p:cNvCxnSpPr/>
          <p:nvPr/>
        </p:nvCxnSpPr>
        <p:spPr>
          <a:xfrm rot="5400000">
            <a:off x="1181497" y="5002371"/>
            <a:ext cx="1143000" cy="7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/>
          <p:cNvSpPr/>
          <p:nvPr/>
        </p:nvSpPr>
        <p:spPr>
          <a:xfrm>
            <a:off x="2743200" y="1676400"/>
            <a:ext cx="1524000" cy="33644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1" name="直接连接符 70"/>
          <p:cNvCxnSpPr/>
          <p:nvPr/>
        </p:nvCxnSpPr>
        <p:spPr>
          <a:xfrm rot="5400000" flipH="1" flipV="1">
            <a:off x="800100" y="4088368"/>
            <a:ext cx="2971800" cy="1588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>
            <a:off x="2286000" y="2602468"/>
            <a:ext cx="457200" cy="158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>
            <a:off x="2286000" y="3276600"/>
            <a:ext cx="457200" cy="158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等腰三角形 77"/>
          <p:cNvSpPr/>
          <p:nvPr/>
        </p:nvSpPr>
        <p:spPr>
          <a:xfrm rot="5400000">
            <a:off x="4802124" y="21437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等腰三角形 78"/>
          <p:cNvSpPr/>
          <p:nvPr/>
        </p:nvSpPr>
        <p:spPr>
          <a:xfrm rot="5400000">
            <a:off x="4802124" y="42011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1" name="肘形连接符 80"/>
          <p:cNvCxnSpPr/>
          <p:nvPr/>
        </p:nvCxnSpPr>
        <p:spPr>
          <a:xfrm>
            <a:off x="1905000" y="1535668"/>
            <a:ext cx="3200400" cy="609600"/>
          </a:xfrm>
          <a:prstGeom prst="bentConnector3">
            <a:avLst>
              <a:gd name="adj1" fmla="val 83894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/>
          <p:cNvCxnSpPr/>
          <p:nvPr/>
        </p:nvCxnSpPr>
        <p:spPr>
          <a:xfrm>
            <a:off x="4267200" y="2526268"/>
            <a:ext cx="8382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/>
          <p:cNvCxnSpPr/>
          <p:nvPr/>
        </p:nvCxnSpPr>
        <p:spPr>
          <a:xfrm>
            <a:off x="4267200" y="4278868"/>
            <a:ext cx="8382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任意多边形 99"/>
          <p:cNvSpPr/>
          <p:nvPr/>
        </p:nvSpPr>
        <p:spPr>
          <a:xfrm>
            <a:off x="5867400" y="1992868"/>
            <a:ext cx="609600" cy="2895600"/>
          </a:xfrm>
          <a:custGeom>
            <a:avLst/>
            <a:gdLst>
              <a:gd name="connsiteX0" fmla="*/ 0 w 509587"/>
              <a:gd name="connsiteY0" fmla="*/ 0 h 1614487"/>
              <a:gd name="connsiteX1" fmla="*/ 504825 w 509587"/>
              <a:gd name="connsiteY1" fmla="*/ 347662 h 1614487"/>
              <a:gd name="connsiteX2" fmla="*/ 509587 w 509587"/>
              <a:gd name="connsiteY2" fmla="*/ 1304925 h 1614487"/>
              <a:gd name="connsiteX3" fmla="*/ 0 w 509587"/>
              <a:gd name="connsiteY3" fmla="*/ 1614487 h 1614487"/>
              <a:gd name="connsiteX4" fmla="*/ 0 w 509587"/>
              <a:gd name="connsiteY4" fmla="*/ 1138237 h 1614487"/>
              <a:gd name="connsiteX5" fmla="*/ 100012 w 509587"/>
              <a:gd name="connsiteY5" fmla="*/ 1071562 h 1614487"/>
              <a:gd name="connsiteX6" fmla="*/ 100012 w 509587"/>
              <a:gd name="connsiteY6" fmla="*/ 642937 h 1614487"/>
              <a:gd name="connsiteX7" fmla="*/ 0 w 509587"/>
              <a:gd name="connsiteY7" fmla="*/ 557212 h 1614487"/>
              <a:gd name="connsiteX8" fmla="*/ 0 w 509587"/>
              <a:gd name="connsiteY8" fmla="*/ 0 h 1614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9587" h="1614487">
                <a:moveTo>
                  <a:pt x="0" y="0"/>
                </a:moveTo>
                <a:lnTo>
                  <a:pt x="504825" y="347662"/>
                </a:lnTo>
                <a:cubicBezTo>
                  <a:pt x="506412" y="666750"/>
                  <a:pt x="508000" y="985837"/>
                  <a:pt x="509587" y="1304925"/>
                </a:cubicBezTo>
                <a:lnTo>
                  <a:pt x="0" y="1614487"/>
                </a:lnTo>
                <a:lnTo>
                  <a:pt x="0" y="1138237"/>
                </a:lnTo>
                <a:lnTo>
                  <a:pt x="100012" y="1071562"/>
                </a:lnTo>
                <a:lnTo>
                  <a:pt x="100012" y="642937"/>
                </a:lnTo>
                <a:lnTo>
                  <a:pt x="0" y="55721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运算器</a:t>
            </a:r>
          </a:p>
        </p:txBody>
      </p:sp>
      <p:cxnSp>
        <p:nvCxnSpPr>
          <p:cNvPr id="102" name="直接箭头连接符 101"/>
          <p:cNvCxnSpPr>
            <a:stCxn id="78" idx="0"/>
          </p:cNvCxnSpPr>
          <p:nvPr/>
        </p:nvCxnSpPr>
        <p:spPr>
          <a:xfrm>
            <a:off x="5559552" y="2370820"/>
            <a:ext cx="307848" cy="304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/>
          <p:cNvCxnSpPr/>
          <p:nvPr/>
        </p:nvCxnSpPr>
        <p:spPr>
          <a:xfrm>
            <a:off x="5562600" y="4431268"/>
            <a:ext cx="307848" cy="304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矩形 104"/>
          <p:cNvSpPr/>
          <p:nvPr/>
        </p:nvSpPr>
        <p:spPr>
          <a:xfrm>
            <a:off x="7010400" y="2602468"/>
            <a:ext cx="7620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数据缓存</a:t>
            </a:r>
          </a:p>
        </p:txBody>
      </p:sp>
      <p:cxnSp>
        <p:nvCxnSpPr>
          <p:cNvPr id="107" name="直接箭头连接符 106"/>
          <p:cNvCxnSpPr>
            <a:endCxn id="105" idx="1"/>
          </p:cNvCxnSpPr>
          <p:nvPr/>
        </p:nvCxnSpPr>
        <p:spPr>
          <a:xfrm>
            <a:off x="6477000" y="3516868"/>
            <a:ext cx="5334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等腰三角形 109"/>
          <p:cNvSpPr/>
          <p:nvPr/>
        </p:nvSpPr>
        <p:spPr>
          <a:xfrm rot="5400000">
            <a:off x="6783324" y="14579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2" name="直接箭头连接符 111"/>
          <p:cNvCxnSpPr/>
          <p:nvPr/>
        </p:nvCxnSpPr>
        <p:spPr>
          <a:xfrm>
            <a:off x="4572000" y="1535668"/>
            <a:ext cx="25146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/>
          <p:cNvCxnSpPr/>
          <p:nvPr/>
        </p:nvCxnSpPr>
        <p:spPr>
          <a:xfrm rot="5400000" flipH="1" flipV="1">
            <a:off x="5906294" y="2716768"/>
            <a:ext cx="1599406" cy="79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117"/>
          <p:cNvCxnSpPr/>
          <p:nvPr/>
        </p:nvCxnSpPr>
        <p:spPr>
          <a:xfrm>
            <a:off x="6705600" y="1916668"/>
            <a:ext cx="3810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连接符 135"/>
          <p:cNvCxnSpPr>
            <a:stCxn id="110" idx="0"/>
          </p:cNvCxnSpPr>
          <p:nvPr/>
        </p:nvCxnSpPr>
        <p:spPr>
          <a:xfrm>
            <a:off x="7540752" y="1685020"/>
            <a:ext cx="307848" cy="304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连接符 140"/>
          <p:cNvCxnSpPr/>
          <p:nvPr/>
        </p:nvCxnSpPr>
        <p:spPr>
          <a:xfrm rot="5400000" flipH="1" flipV="1">
            <a:off x="7277100" y="1116568"/>
            <a:ext cx="11430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连接符 143"/>
          <p:cNvCxnSpPr/>
          <p:nvPr/>
        </p:nvCxnSpPr>
        <p:spPr>
          <a:xfrm rot="10800000">
            <a:off x="609600" y="545068"/>
            <a:ext cx="72390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箭头连接符 145"/>
          <p:cNvCxnSpPr>
            <a:endCxn id="5" idx="0"/>
          </p:cNvCxnSpPr>
          <p:nvPr/>
        </p:nvCxnSpPr>
        <p:spPr>
          <a:xfrm rot="5400000">
            <a:off x="-495300" y="1649968"/>
            <a:ext cx="2209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连接符 152"/>
          <p:cNvCxnSpPr/>
          <p:nvPr/>
        </p:nvCxnSpPr>
        <p:spPr>
          <a:xfrm rot="10800000">
            <a:off x="3505200" y="5345668"/>
            <a:ext cx="51816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箭头连接符 155"/>
          <p:cNvCxnSpPr>
            <a:endCxn id="68" idx="2"/>
          </p:cNvCxnSpPr>
          <p:nvPr/>
        </p:nvCxnSpPr>
        <p:spPr>
          <a:xfrm rot="5400000" flipH="1" flipV="1">
            <a:off x="3352006" y="5193268"/>
            <a:ext cx="305594" cy="7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/>
          <p:cNvCxnSpPr/>
          <p:nvPr/>
        </p:nvCxnSpPr>
        <p:spPr>
          <a:xfrm rot="5400000">
            <a:off x="4001294" y="4697968"/>
            <a:ext cx="837406" cy="79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接连接符 175"/>
          <p:cNvCxnSpPr/>
          <p:nvPr/>
        </p:nvCxnSpPr>
        <p:spPr>
          <a:xfrm>
            <a:off x="4419600" y="5117068"/>
            <a:ext cx="29718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箭头连接符 178"/>
          <p:cNvCxnSpPr>
            <a:endCxn id="105" idx="2"/>
          </p:cNvCxnSpPr>
          <p:nvPr/>
        </p:nvCxnSpPr>
        <p:spPr>
          <a:xfrm rot="5400000" flipH="1" flipV="1">
            <a:off x="7047706" y="4774168"/>
            <a:ext cx="686594" cy="7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等腰三角形 179"/>
          <p:cNvSpPr/>
          <p:nvPr/>
        </p:nvSpPr>
        <p:spPr>
          <a:xfrm rot="5400000">
            <a:off x="7773924" y="22199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2" name="直接箭头连接符 181"/>
          <p:cNvCxnSpPr/>
          <p:nvPr/>
        </p:nvCxnSpPr>
        <p:spPr>
          <a:xfrm>
            <a:off x="7772400" y="2831068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接箭头连接符 185"/>
          <p:cNvCxnSpPr>
            <a:endCxn id="180" idx="3"/>
          </p:cNvCxnSpPr>
          <p:nvPr/>
        </p:nvCxnSpPr>
        <p:spPr>
          <a:xfrm flipV="1">
            <a:off x="6705600" y="2447020"/>
            <a:ext cx="1371600" cy="304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接连接符 192"/>
          <p:cNvCxnSpPr/>
          <p:nvPr/>
        </p:nvCxnSpPr>
        <p:spPr>
          <a:xfrm rot="5400000">
            <a:off x="7658100" y="1878568"/>
            <a:ext cx="3810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接箭头连接符 194"/>
          <p:cNvCxnSpPr/>
          <p:nvPr/>
        </p:nvCxnSpPr>
        <p:spPr>
          <a:xfrm>
            <a:off x="7848600" y="2069068"/>
            <a:ext cx="2286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连接符 196"/>
          <p:cNvCxnSpPr>
            <a:stCxn id="180" idx="0"/>
          </p:cNvCxnSpPr>
          <p:nvPr/>
        </p:nvCxnSpPr>
        <p:spPr>
          <a:xfrm>
            <a:off x="8531352" y="2447020"/>
            <a:ext cx="155448" cy="304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连接符 198"/>
          <p:cNvCxnSpPr/>
          <p:nvPr/>
        </p:nvCxnSpPr>
        <p:spPr>
          <a:xfrm rot="5400000">
            <a:off x="7239000" y="3897868"/>
            <a:ext cx="28956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/>
          <p:cNvSpPr txBox="1"/>
          <p:nvPr/>
        </p:nvSpPr>
        <p:spPr>
          <a:xfrm>
            <a:off x="4419600" y="252626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Rs</a:t>
            </a:r>
            <a:endParaRPr lang="zh-CN" altLang="en-US" dirty="0"/>
          </a:p>
        </p:txBody>
      </p:sp>
      <p:sp>
        <p:nvSpPr>
          <p:cNvPr id="204" name="TextBox 203"/>
          <p:cNvSpPr txBox="1"/>
          <p:nvPr/>
        </p:nvSpPr>
        <p:spPr>
          <a:xfrm>
            <a:off x="4419600" y="38978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Rt</a:t>
            </a:r>
            <a:endParaRPr lang="zh-CN" altLang="en-US" dirty="0"/>
          </a:p>
        </p:txBody>
      </p:sp>
      <p:sp>
        <p:nvSpPr>
          <p:cNvPr id="205" name="TextBox 204"/>
          <p:cNvSpPr txBox="1"/>
          <p:nvPr/>
        </p:nvSpPr>
        <p:spPr>
          <a:xfrm>
            <a:off x="2971800" y="5040868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Rd</a:t>
            </a:r>
            <a:endParaRPr lang="zh-CN" altLang="en-US" dirty="0"/>
          </a:p>
        </p:txBody>
      </p:sp>
      <p:sp>
        <p:nvSpPr>
          <p:cNvPr id="206" name="TextBox 205"/>
          <p:cNvSpPr txBox="1"/>
          <p:nvPr/>
        </p:nvSpPr>
        <p:spPr>
          <a:xfrm>
            <a:off x="4038600" y="5802868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Imm</a:t>
            </a:r>
            <a:endParaRPr lang="zh-CN" altLang="en-US" dirty="0"/>
          </a:p>
        </p:txBody>
      </p:sp>
      <p:cxnSp>
        <p:nvCxnSpPr>
          <p:cNvPr id="223" name="直接箭头连接符 222"/>
          <p:cNvCxnSpPr/>
          <p:nvPr/>
        </p:nvCxnSpPr>
        <p:spPr>
          <a:xfrm>
            <a:off x="2286000" y="3960812"/>
            <a:ext cx="457200" cy="158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066800" y="6248400"/>
            <a:ext cx="6545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执行指令</a:t>
            </a:r>
            <a:r>
              <a:rPr lang="en-US" altLang="zh-CN" dirty="0" err="1"/>
              <a:t>lw</a:t>
            </a:r>
            <a:r>
              <a:rPr lang="en-US" altLang="zh-CN" dirty="0"/>
              <a:t> $t2, 32($t0)   </a:t>
            </a:r>
            <a:r>
              <a:rPr lang="zh-CN" altLang="en-US" dirty="0"/>
              <a:t>从寄存器堆读（</a:t>
            </a:r>
            <a:r>
              <a:rPr lang="en-US" altLang="zh-CN" dirty="0"/>
              <a:t>RD</a:t>
            </a:r>
            <a:r>
              <a:rPr lang="zh-CN" altLang="en-US" dirty="0"/>
              <a:t>）、运算（</a:t>
            </a:r>
            <a:r>
              <a:rPr lang="en-US" altLang="zh-CN" dirty="0"/>
              <a:t>ALU</a:t>
            </a:r>
            <a:r>
              <a:rPr lang="zh-CN" altLang="en-US" dirty="0"/>
              <a:t>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200" y="5562600"/>
            <a:ext cx="91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100011</a:t>
            </a:r>
            <a:endParaRPr lang="zh-CN" altLang="en-US" sz="1600" dirty="0"/>
          </a:p>
        </p:txBody>
      </p:sp>
      <p:sp>
        <p:nvSpPr>
          <p:cNvPr id="56" name="TextBox 55"/>
          <p:cNvSpPr txBox="1"/>
          <p:nvPr/>
        </p:nvSpPr>
        <p:spPr>
          <a:xfrm>
            <a:off x="798445" y="5562600"/>
            <a:ext cx="8017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01000</a:t>
            </a:r>
            <a:endParaRPr lang="zh-CN" altLang="en-US" sz="1600" dirty="0"/>
          </a:p>
        </p:txBody>
      </p:sp>
      <p:sp>
        <p:nvSpPr>
          <p:cNvPr id="58" name="TextBox 57"/>
          <p:cNvSpPr txBox="1"/>
          <p:nvPr/>
        </p:nvSpPr>
        <p:spPr>
          <a:xfrm>
            <a:off x="1371600" y="5562600"/>
            <a:ext cx="838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01010</a:t>
            </a:r>
            <a:endParaRPr lang="zh-CN" altLang="en-US" sz="1600" dirty="0"/>
          </a:p>
        </p:txBody>
      </p:sp>
      <p:sp>
        <p:nvSpPr>
          <p:cNvPr id="59" name="TextBox 58"/>
          <p:cNvSpPr txBox="1"/>
          <p:nvPr/>
        </p:nvSpPr>
        <p:spPr>
          <a:xfrm>
            <a:off x="1981200" y="5562600"/>
            <a:ext cx="2057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0000000000100000</a:t>
            </a:r>
            <a:endParaRPr lang="zh-CN" altLang="en-US" sz="1600" dirty="0"/>
          </a:p>
        </p:txBody>
      </p:sp>
      <p:cxnSp>
        <p:nvCxnSpPr>
          <p:cNvPr id="77" name="肘形连接符 76"/>
          <p:cNvCxnSpPr>
            <a:stCxn id="57" idx="3"/>
          </p:cNvCxnSpPr>
          <p:nvPr/>
        </p:nvCxnSpPr>
        <p:spPr>
          <a:xfrm flipV="1">
            <a:off x="3962400" y="4659869"/>
            <a:ext cx="1143000" cy="1104898"/>
          </a:xfrm>
          <a:prstGeom prst="bentConnector3">
            <a:avLst>
              <a:gd name="adj1" fmla="val 58348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7" name="表格 86"/>
          <p:cNvGraphicFramePr>
            <a:graphicFrameLocks noGrp="1"/>
          </p:cNvGraphicFramePr>
          <p:nvPr/>
        </p:nvGraphicFramePr>
        <p:xfrm>
          <a:off x="2743200" y="1676400"/>
          <a:ext cx="1524000" cy="333248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$0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$16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$17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$18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$3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$19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$4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$20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$5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$21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$6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$22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$7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$23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$24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$9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$25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$10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$26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$11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$27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$12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$28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$13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$29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$14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$30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$15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$31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89" name="TextBox 88"/>
          <p:cNvSpPr txBox="1"/>
          <p:nvPr/>
        </p:nvSpPr>
        <p:spPr>
          <a:xfrm>
            <a:off x="2590800" y="3276600"/>
            <a:ext cx="9797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00000064</a:t>
            </a:r>
            <a:endParaRPr lang="zh-CN" altLang="en-US" sz="1400" dirty="0"/>
          </a:p>
        </p:txBody>
      </p:sp>
      <p:sp>
        <p:nvSpPr>
          <p:cNvPr id="95" name="TextBox 94"/>
          <p:cNvSpPr txBox="1"/>
          <p:nvPr/>
        </p:nvSpPr>
        <p:spPr>
          <a:xfrm>
            <a:off x="6019800" y="3276600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00000084</a:t>
            </a:r>
            <a:endParaRPr lang="zh-CN" altLang="en-US" sz="1400" dirty="0"/>
          </a:p>
        </p:txBody>
      </p:sp>
      <p:sp>
        <p:nvSpPr>
          <p:cNvPr id="96" name="TextBox 95"/>
          <p:cNvSpPr txBox="1"/>
          <p:nvPr/>
        </p:nvSpPr>
        <p:spPr>
          <a:xfrm>
            <a:off x="798445" y="5562600"/>
            <a:ext cx="8017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01000</a:t>
            </a:r>
            <a:endParaRPr lang="zh-CN" altLang="en-US" sz="1600" dirty="0"/>
          </a:p>
        </p:txBody>
      </p:sp>
      <p:sp>
        <p:nvSpPr>
          <p:cNvPr id="97" name="TextBox 96"/>
          <p:cNvSpPr txBox="1"/>
          <p:nvPr/>
        </p:nvSpPr>
        <p:spPr>
          <a:xfrm>
            <a:off x="1371600" y="5562600"/>
            <a:ext cx="76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01010</a:t>
            </a:r>
            <a:endParaRPr lang="zh-CN" altLang="en-US" sz="1600" dirty="0"/>
          </a:p>
        </p:txBody>
      </p:sp>
      <p:sp>
        <p:nvSpPr>
          <p:cNvPr id="98" name="TextBox 97"/>
          <p:cNvSpPr txBox="1"/>
          <p:nvPr/>
        </p:nvSpPr>
        <p:spPr>
          <a:xfrm>
            <a:off x="2845278" y="3293852"/>
            <a:ext cx="685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Consolas" pitchFamily="49" charset="0"/>
              </a:rPr>
              <a:t> $8</a:t>
            </a:r>
            <a:endParaRPr lang="zh-CN" altLang="en-US" sz="1400" dirty="0">
              <a:latin typeface="Consolas" pitchFamily="49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981200" y="5562600"/>
            <a:ext cx="2057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0000000000100000</a:t>
            </a:r>
            <a:endParaRPr lang="zh-CN" altLang="en-US" sz="1600" dirty="0"/>
          </a:p>
        </p:txBody>
      </p:sp>
      <p:sp>
        <p:nvSpPr>
          <p:cNvPr id="72" name="TextBox 71"/>
          <p:cNvSpPr txBox="1"/>
          <p:nvPr/>
        </p:nvSpPr>
        <p:spPr>
          <a:xfrm>
            <a:off x="4191000" y="5562600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00000020</a:t>
            </a:r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6" dur="1000" tmFilter="0, 0; .2, .5; .8, .5; 1, 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500" autoRev="1" fill="hold"/>
                                        <p:tgtEl>
                                          <p:spTgt spid="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1.76035E-6 L 0.11493 -0.12862 L 0.11597 -0.47976 L 0.13559 -0.47976 " pathEditMode="relative" rAng="0" ptsTypes="AAAA">
                                      <p:cBhvr>
                                        <p:cTn id="10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800" y="-24000"/>
                                    </p:animMotion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2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0"/>
                            </p:stCondLst>
                            <p:childTnLst>
                              <p:par>
                                <p:cTn id="15" presetID="3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6000"/>
                            </p:stCondLst>
                            <p:childTnLst>
                              <p:par>
                                <p:cTn id="19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-1.48148E-6 L 0.1191 -0.15185 L 0.16337 -0.15185 " pathEditMode="relative" rAng="0" ptsTypes="AAA">
                                      <p:cBhvr>
                                        <p:cTn id="20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200" y="-76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76035E-6 L 0.1875 -0.00231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400" y="-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3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319 -0.14977 L 0.21701 -0.15092 L 0.26076 -0.1669 L 0.31285 -0.1669 " pathEditMode="relative" rAng="0" ptsTypes="AAAA">
                                      <p:cBhvr>
                                        <p:cTn id="36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00" y="-90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17 -0.00023 L -0.0033 -0.17118 L 0.04826 -0.17118 L 0.09479 -0.21143 L 0.14167 -0.21143 " pathEditMode="relative" rAng="0" ptsTypes="AAAAA">
                                      <p:cBhvr>
                                        <p:cTn id="38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300" y="-106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7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" dur="1000" autoRev="1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2" dur="1000" autoRev="1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" dur="1000" autoRev="1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1000" autoRev="1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3" presetClass="exit" presetSubtype="1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7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3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0"/>
                            </p:stCondLst>
                            <p:childTnLst>
                              <p:par>
                                <p:cTn id="5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nimBg="1"/>
      <p:bldP spid="53" grpId="0"/>
      <p:bldP spid="56" grpId="0"/>
      <p:bldP spid="89" grpId="0"/>
      <p:bldP spid="89" grpId="1"/>
      <p:bldP spid="89" grpId="2"/>
      <p:bldP spid="89" grpId="3"/>
      <p:bldP spid="95" grpId="0"/>
      <p:bldP spid="98" grpId="0"/>
      <p:bldP spid="69" grpId="0"/>
      <p:bldP spid="69" grpId="1"/>
      <p:bldP spid="72" grpId="0"/>
      <p:bldP spid="72" grpId="1"/>
      <p:bldP spid="72" grpId="2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28600" y="2754868"/>
            <a:ext cx="762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PC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371600" y="2602468"/>
            <a:ext cx="7620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指令缓存</a:t>
            </a:r>
          </a:p>
        </p:txBody>
      </p:sp>
      <p:sp>
        <p:nvSpPr>
          <p:cNvPr id="24" name="任意多边形 23"/>
          <p:cNvSpPr/>
          <p:nvPr/>
        </p:nvSpPr>
        <p:spPr>
          <a:xfrm>
            <a:off x="1371600" y="773668"/>
            <a:ext cx="509587" cy="1614487"/>
          </a:xfrm>
          <a:custGeom>
            <a:avLst/>
            <a:gdLst>
              <a:gd name="connsiteX0" fmla="*/ 0 w 509587"/>
              <a:gd name="connsiteY0" fmla="*/ 0 h 1614487"/>
              <a:gd name="connsiteX1" fmla="*/ 504825 w 509587"/>
              <a:gd name="connsiteY1" fmla="*/ 347662 h 1614487"/>
              <a:gd name="connsiteX2" fmla="*/ 509587 w 509587"/>
              <a:gd name="connsiteY2" fmla="*/ 1304925 h 1614487"/>
              <a:gd name="connsiteX3" fmla="*/ 0 w 509587"/>
              <a:gd name="connsiteY3" fmla="*/ 1614487 h 1614487"/>
              <a:gd name="connsiteX4" fmla="*/ 0 w 509587"/>
              <a:gd name="connsiteY4" fmla="*/ 1138237 h 1614487"/>
              <a:gd name="connsiteX5" fmla="*/ 100012 w 509587"/>
              <a:gd name="connsiteY5" fmla="*/ 1071562 h 1614487"/>
              <a:gd name="connsiteX6" fmla="*/ 100012 w 509587"/>
              <a:gd name="connsiteY6" fmla="*/ 642937 h 1614487"/>
              <a:gd name="connsiteX7" fmla="*/ 0 w 509587"/>
              <a:gd name="connsiteY7" fmla="*/ 557212 h 1614487"/>
              <a:gd name="connsiteX8" fmla="*/ 0 w 509587"/>
              <a:gd name="connsiteY8" fmla="*/ 0 h 1614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9587" h="1614487">
                <a:moveTo>
                  <a:pt x="0" y="0"/>
                </a:moveTo>
                <a:lnTo>
                  <a:pt x="504825" y="347662"/>
                </a:lnTo>
                <a:cubicBezTo>
                  <a:pt x="506412" y="666750"/>
                  <a:pt x="508000" y="985837"/>
                  <a:pt x="509587" y="1304925"/>
                </a:cubicBezTo>
                <a:lnTo>
                  <a:pt x="0" y="1614487"/>
                </a:lnTo>
                <a:lnTo>
                  <a:pt x="0" y="1138237"/>
                </a:lnTo>
                <a:lnTo>
                  <a:pt x="100012" y="1071562"/>
                </a:lnTo>
                <a:lnTo>
                  <a:pt x="100012" y="642937"/>
                </a:lnTo>
                <a:lnTo>
                  <a:pt x="0" y="55721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加法器</a:t>
            </a:r>
          </a:p>
        </p:txBody>
      </p:sp>
      <p:sp>
        <p:nvSpPr>
          <p:cNvPr id="48" name="直角上箭头 47"/>
          <p:cNvSpPr/>
          <p:nvPr/>
        </p:nvSpPr>
        <p:spPr>
          <a:xfrm rot="16200000" flipV="1">
            <a:off x="800100" y="2411968"/>
            <a:ext cx="914400" cy="228600"/>
          </a:xfrm>
          <a:prstGeom prst="bentUpArrow">
            <a:avLst>
              <a:gd name="adj1" fmla="val 0"/>
              <a:gd name="adj2" fmla="val 25000"/>
              <a:gd name="adj3" fmla="val 25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1" name="直接箭头连接符 50"/>
          <p:cNvCxnSpPr>
            <a:stCxn id="5" idx="3"/>
          </p:cNvCxnSpPr>
          <p:nvPr/>
        </p:nvCxnSpPr>
        <p:spPr>
          <a:xfrm>
            <a:off x="990600" y="2983468"/>
            <a:ext cx="381000" cy="1588"/>
          </a:xfrm>
          <a:prstGeom prst="straightConnector1">
            <a:avLst/>
          </a:prstGeom>
          <a:ln w="254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>
            <a:off x="1066800" y="1078468"/>
            <a:ext cx="304800" cy="1588"/>
          </a:xfrm>
          <a:prstGeom prst="straightConnector1">
            <a:avLst/>
          </a:prstGeom>
          <a:ln w="254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62000" y="849868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7" name="矩形 56"/>
          <p:cNvSpPr/>
          <p:nvPr/>
        </p:nvSpPr>
        <p:spPr>
          <a:xfrm>
            <a:off x="152400" y="5574267"/>
            <a:ext cx="3886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5" name="直接箭头连接符 64"/>
          <p:cNvCxnSpPr/>
          <p:nvPr/>
        </p:nvCxnSpPr>
        <p:spPr>
          <a:xfrm rot="5400000">
            <a:off x="1181497" y="5002371"/>
            <a:ext cx="1143000" cy="7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/>
          <p:cNvSpPr/>
          <p:nvPr/>
        </p:nvSpPr>
        <p:spPr>
          <a:xfrm>
            <a:off x="2743200" y="1676400"/>
            <a:ext cx="1524000" cy="33644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1" name="直接连接符 70"/>
          <p:cNvCxnSpPr/>
          <p:nvPr/>
        </p:nvCxnSpPr>
        <p:spPr>
          <a:xfrm rot="5400000" flipH="1" flipV="1">
            <a:off x="800100" y="4088368"/>
            <a:ext cx="2971800" cy="1588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>
            <a:off x="2286000" y="2602468"/>
            <a:ext cx="457200" cy="158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>
            <a:off x="2286000" y="3276600"/>
            <a:ext cx="457200" cy="158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等腰三角形 77"/>
          <p:cNvSpPr/>
          <p:nvPr/>
        </p:nvSpPr>
        <p:spPr>
          <a:xfrm rot="5400000">
            <a:off x="4802124" y="21437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等腰三角形 78"/>
          <p:cNvSpPr/>
          <p:nvPr/>
        </p:nvSpPr>
        <p:spPr>
          <a:xfrm rot="5400000">
            <a:off x="4802124" y="42011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1" name="肘形连接符 80"/>
          <p:cNvCxnSpPr/>
          <p:nvPr/>
        </p:nvCxnSpPr>
        <p:spPr>
          <a:xfrm>
            <a:off x="1905000" y="1535668"/>
            <a:ext cx="3200400" cy="609600"/>
          </a:xfrm>
          <a:prstGeom prst="bentConnector3">
            <a:avLst>
              <a:gd name="adj1" fmla="val 83894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/>
          <p:cNvCxnSpPr/>
          <p:nvPr/>
        </p:nvCxnSpPr>
        <p:spPr>
          <a:xfrm>
            <a:off x="4267200" y="2526268"/>
            <a:ext cx="8382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/>
          <p:cNvCxnSpPr/>
          <p:nvPr/>
        </p:nvCxnSpPr>
        <p:spPr>
          <a:xfrm>
            <a:off x="4267200" y="4278868"/>
            <a:ext cx="8382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任意多边形 99"/>
          <p:cNvSpPr/>
          <p:nvPr/>
        </p:nvSpPr>
        <p:spPr>
          <a:xfrm>
            <a:off x="5867400" y="1992868"/>
            <a:ext cx="609600" cy="2895600"/>
          </a:xfrm>
          <a:custGeom>
            <a:avLst/>
            <a:gdLst>
              <a:gd name="connsiteX0" fmla="*/ 0 w 509587"/>
              <a:gd name="connsiteY0" fmla="*/ 0 h 1614487"/>
              <a:gd name="connsiteX1" fmla="*/ 504825 w 509587"/>
              <a:gd name="connsiteY1" fmla="*/ 347662 h 1614487"/>
              <a:gd name="connsiteX2" fmla="*/ 509587 w 509587"/>
              <a:gd name="connsiteY2" fmla="*/ 1304925 h 1614487"/>
              <a:gd name="connsiteX3" fmla="*/ 0 w 509587"/>
              <a:gd name="connsiteY3" fmla="*/ 1614487 h 1614487"/>
              <a:gd name="connsiteX4" fmla="*/ 0 w 509587"/>
              <a:gd name="connsiteY4" fmla="*/ 1138237 h 1614487"/>
              <a:gd name="connsiteX5" fmla="*/ 100012 w 509587"/>
              <a:gd name="connsiteY5" fmla="*/ 1071562 h 1614487"/>
              <a:gd name="connsiteX6" fmla="*/ 100012 w 509587"/>
              <a:gd name="connsiteY6" fmla="*/ 642937 h 1614487"/>
              <a:gd name="connsiteX7" fmla="*/ 0 w 509587"/>
              <a:gd name="connsiteY7" fmla="*/ 557212 h 1614487"/>
              <a:gd name="connsiteX8" fmla="*/ 0 w 509587"/>
              <a:gd name="connsiteY8" fmla="*/ 0 h 1614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9587" h="1614487">
                <a:moveTo>
                  <a:pt x="0" y="0"/>
                </a:moveTo>
                <a:lnTo>
                  <a:pt x="504825" y="347662"/>
                </a:lnTo>
                <a:cubicBezTo>
                  <a:pt x="506412" y="666750"/>
                  <a:pt x="508000" y="985837"/>
                  <a:pt x="509587" y="1304925"/>
                </a:cubicBezTo>
                <a:lnTo>
                  <a:pt x="0" y="1614487"/>
                </a:lnTo>
                <a:lnTo>
                  <a:pt x="0" y="1138237"/>
                </a:lnTo>
                <a:lnTo>
                  <a:pt x="100012" y="1071562"/>
                </a:lnTo>
                <a:lnTo>
                  <a:pt x="100012" y="642937"/>
                </a:lnTo>
                <a:lnTo>
                  <a:pt x="0" y="55721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运算器</a:t>
            </a:r>
          </a:p>
        </p:txBody>
      </p:sp>
      <p:cxnSp>
        <p:nvCxnSpPr>
          <p:cNvPr id="102" name="直接箭头连接符 101"/>
          <p:cNvCxnSpPr>
            <a:stCxn id="78" idx="0"/>
          </p:cNvCxnSpPr>
          <p:nvPr/>
        </p:nvCxnSpPr>
        <p:spPr>
          <a:xfrm>
            <a:off x="5559552" y="2370820"/>
            <a:ext cx="307848" cy="304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/>
          <p:cNvCxnSpPr/>
          <p:nvPr/>
        </p:nvCxnSpPr>
        <p:spPr>
          <a:xfrm>
            <a:off x="5562600" y="4431268"/>
            <a:ext cx="307848" cy="304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矩形 104"/>
          <p:cNvSpPr/>
          <p:nvPr/>
        </p:nvSpPr>
        <p:spPr>
          <a:xfrm>
            <a:off x="7010400" y="2602468"/>
            <a:ext cx="7620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数据缓存</a:t>
            </a:r>
          </a:p>
        </p:txBody>
      </p:sp>
      <p:cxnSp>
        <p:nvCxnSpPr>
          <p:cNvPr id="107" name="直接箭头连接符 106"/>
          <p:cNvCxnSpPr>
            <a:endCxn id="105" idx="1"/>
          </p:cNvCxnSpPr>
          <p:nvPr/>
        </p:nvCxnSpPr>
        <p:spPr>
          <a:xfrm>
            <a:off x="6477000" y="3516868"/>
            <a:ext cx="5334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等腰三角形 109"/>
          <p:cNvSpPr/>
          <p:nvPr/>
        </p:nvSpPr>
        <p:spPr>
          <a:xfrm rot="5400000">
            <a:off x="6783324" y="14579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2" name="直接箭头连接符 111"/>
          <p:cNvCxnSpPr/>
          <p:nvPr/>
        </p:nvCxnSpPr>
        <p:spPr>
          <a:xfrm>
            <a:off x="4572000" y="1535668"/>
            <a:ext cx="25146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/>
          <p:cNvCxnSpPr/>
          <p:nvPr/>
        </p:nvCxnSpPr>
        <p:spPr>
          <a:xfrm rot="5400000" flipH="1" flipV="1">
            <a:off x="5906294" y="2716768"/>
            <a:ext cx="1599406" cy="79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117"/>
          <p:cNvCxnSpPr/>
          <p:nvPr/>
        </p:nvCxnSpPr>
        <p:spPr>
          <a:xfrm>
            <a:off x="6705600" y="1916668"/>
            <a:ext cx="3810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连接符 135"/>
          <p:cNvCxnSpPr>
            <a:stCxn id="110" idx="0"/>
          </p:cNvCxnSpPr>
          <p:nvPr/>
        </p:nvCxnSpPr>
        <p:spPr>
          <a:xfrm>
            <a:off x="7540752" y="1685020"/>
            <a:ext cx="307848" cy="304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连接符 140"/>
          <p:cNvCxnSpPr/>
          <p:nvPr/>
        </p:nvCxnSpPr>
        <p:spPr>
          <a:xfrm rot="5400000" flipH="1" flipV="1">
            <a:off x="7277100" y="1116568"/>
            <a:ext cx="11430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连接符 143"/>
          <p:cNvCxnSpPr/>
          <p:nvPr/>
        </p:nvCxnSpPr>
        <p:spPr>
          <a:xfrm rot="10800000">
            <a:off x="609600" y="545068"/>
            <a:ext cx="72390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箭头连接符 145"/>
          <p:cNvCxnSpPr>
            <a:endCxn id="5" idx="0"/>
          </p:cNvCxnSpPr>
          <p:nvPr/>
        </p:nvCxnSpPr>
        <p:spPr>
          <a:xfrm rot="5400000">
            <a:off x="-495300" y="1649968"/>
            <a:ext cx="2209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连接符 152"/>
          <p:cNvCxnSpPr/>
          <p:nvPr/>
        </p:nvCxnSpPr>
        <p:spPr>
          <a:xfrm rot="10800000">
            <a:off x="3505200" y="5345668"/>
            <a:ext cx="51816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箭头连接符 155"/>
          <p:cNvCxnSpPr>
            <a:endCxn id="68" idx="2"/>
          </p:cNvCxnSpPr>
          <p:nvPr/>
        </p:nvCxnSpPr>
        <p:spPr>
          <a:xfrm rot="5400000" flipH="1" flipV="1">
            <a:off x="3352006" y="5193268"/>
            <a:ext cx="305594" cy="7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/>
          <p:cNvCxnSpPr/>
          <p:nvPr/>
        </p:nvCxnSpPr>
        <p:spPr>
          <a:xfrm rot="5400000">
            <a:off x="4001294" y="4697968"/>
            <a:ext cx="837406" cy="79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接连接符 175"/>
          <p:cNvCxnSpPr/>
          <p:nvPr/>
        </p:nvCxnSpPr>
        <p:spPr>
          <a:xfrm>
            <a:off x="4419600" y="5117068"/>
            <a:ext cx="29718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箭头连接符 178"/>
          <p:cNvCxnSpPr>
            <a:endCxn id="105" idx="2"/>
          </p:cNvCxnSpPr>
          <p:nvPr/>
        </p:nvCxnSpPr>
        <p:spPr>
          <a:xfrm rot="5400000" flipH="1" flipV="1">
            <a:off x="7047706" y="4774168"/>
            <a:ext cx="686594" cy="7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等腰三角形 179"/>
          <p:cNvSpPr/>
          <p:nvPr/>
        </p:nvSpPr>
        <p:spPr>
          <a:xfrm rot="5400000">
            <a:off x="7773924" y="22199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2" name="直接箭头连接符 181"/>
          <p:cNvCxnSpPr/>
          <p:nvPr/>
        </p:nvCxnSpPr>
        <p:spPr>
          <a:xfrm>
            <a:off x="7772400" y="2831068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接箭头连接符 185"/>
          <p:cNvCxnSpPr>
            <a:endCxn id="180" idx="3"/>
          </p:cNvCxnSpPr>
          <p:nvPr/>
        </p:nvCxnSpPr>
        <p:spPr>
          <a:xfrm flipV="1">
            <a:off x="6705600" y="2447020"/>
            <a:ext cx="1371600" cy="304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接连接符 192"/>
          <p:cNvCxnSpPr/>
          <p:nvPr/>
        </p:nvCxnSpPr>
        <p:spPr>
          <a:xfrm rot="5400000">
            <a:off x="7658100" y="1878568"/>
            <a:ext cx="3810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接箭头连接符 194"/>
          <p:cNvCxnSpPr/>
          <p:nvPr/>
        </p:nvCxnSpPr>
        <p:spPr>
          <a:xfrm>
            <a:off x="7848600" y="2069068"/>
            <a:ext cx="2286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连接符 196"/>
          <p:cNvCxnSpPr>
            <a:stCxn id="180" idx="0"/>
          </p:cNvCxnSpPr>
          <p:nvPr/>
        </p:nvCxnSpPr>
        <p:spPr>
          <a:xfrm>
            <a:off x="8531352" y="2447020"/>
            <a:ext cx="155448" cy="304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连接符 198"/>
          <p:cNvCxnSpPr/>
          <p:nvPr/>
        </p:nvCxnSpPr>
        <p:spPr>
          <a:xfrm rot="5400000">
            <a:off x="7239000" y="3897868"/>
            <a:ext cx="28956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/>
          <p:cNvSpPr txBox="1"/>
          <p:nvPr/>
        </p:nvSpPr>
        <p:spPr>
          <a:xfrm>
            <a:off x="4419600" y="252626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Rs</a:t>
            </a:r>
            <a:endParaRPr lang="zh-CN" altLang="en-US" dirty="0"/>
          </a:p>
        </p:txBody>
      </p:sp>
      <p:sp>
        <p:nvSpPr>
          <p:cNvPr id="204" name="TextBox 203"/>
          <p:cNvSpPr txBox="1"/>
          <p:nvPr/>
        </p:nvSpPr>
        <p:spPr>
          <a:xfrm>
            <a:off x="4419600" y="38978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Rt</a:t>
            </a:r>
            <a:endParaRPr lang="zh-CN" altLang="en-US" dirty="0"/>
          </a:p>
        </p:txBody>
      </p:sp>
      <p:sp>
        <p:nvSpPr>
          <p:cNvPr id="205" name="TextBox 204"/>
          <p:cNvSpPr txBox="1"/>
          <p:nvPr/>
        </p:nvSpPr>
        <p:spPr>
          <a:xfrm>
            <a:off x="2971800" y="5040868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Rd</a:t>
            </a:r>
            <a:endParaRPr lang="zh-CN" altLang="en-US" dirty="0"/>
          </a:p>
        </p:txBody>
      </p:sp>
      <p:sp>
        <p:nvSpPr>
          <p:cNvPr id="206" name="TextBox 205"/>
          <p:cNvSpPr txBox="1"/>
          <p:nvPr/>
        </p:nvSpPr>
        <p:spPr>
          <a:xfrm>
            <a:off x="4038600" y="5802868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Imm</a:t>
            </a:r>
            <a:endParaRPr lang="zh-CN" altLang="en-US" dirty="0"/>
          </a:p>
        </p:txBody>
      </p:sp>
      <p:cxnSp>
        <p:nvCxnSpPr>
          <p:cNvPr id="223" name="直接箭头连接符 222"/>
          <p:cNvCxnSpPr/>
          <p:nvPr/>
        </p:nvCxnSpPr>
        <p:spPr>
          <a:xfrm>
            <a:off x="2286000" y="3960812"/>
            <a:ext cx="457200" cy="158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066800" y="6248400"/>
            <a:ext cx="6324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执行指令</a:t>
            </a:r>
            <a:r>
              <a:rPr lang="en-US" altLang="zh-CN" dirty="0" err="1"/>
              <a:t>lw</a:t>
            </a:r>
            <a:r>
              <a:rPr lang="en-US" altLang="zh-CN" dirty="0"/>
              <a:t> $t2, 32($t0) </a:t>
            </a:r>
            <a:r>
              <a:rPr lang="zh-CN" altLang="en-US" dirty="0"/>
              <a:t>访问数据缓存（</a:t>
            </a:r>
            <a:r>
              <a:rPr lang="en-US" altLang="zh-CN" dirty="0"/>
              <a:t>MEM</a:t>
            </a:r>
            <a:r>
              <a:rPr lang="zh-CN" altLang="en-US" dirty="0"/>
              <a:t>）、回写（</a:t>
            </a:r>
            <a:r>
              <a:rPr lang="en-US" altLang="zh-CN" dirty="0"/>
              <a:t>WB</a:t>
            </a:r>
            <a:r>
              <a:rPr lang="zh-CN" altLang="en-US" dirty="0"/>
              <a:t>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200" y="5562600"/>
            <a:ext cx="91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100011</a:t>
            </a:r>
            <a:endParaRPr lang="zh-CN" altLang="en-US" sz="1600" dirty="0"/>
          </a:p>
        </p:txBody>
      </p:sp>
      <p:sp>
        <p:nvSpPr>
          <p:cNvPr id="56" name="TextBox 55"/>
          <p:cNvSpPr txBox="1"/>
          <p:nvPr/>
        </p:nvSpPr>
        <p:spPr>
          <a:xfrm>
            <a:off x="798445" y="5562600"/>
            <a:ext cx="8017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01000</a:t>
            </a:r>
            <a:endParaRPr lang="zh-CN" altLang="en-US" sz="1600" dirty="0"/>
          </a:p>
        </p:txBody>
      </p:sp>
      <p:sp>
        <p:nvSpPr>
          <p:cNvPr id="59" name="TextBox 58"/>
          <p:cNvSpPr txBox="1"/>
          <p:nvPr/>
        </p:nvSpPr>
        <p:spPr>
          <a:xfrm>
            <a:off x="1371600" y="5562600"/>
            <a:ext cx="838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01010</a:t>
            </a:r>
            <a:endParaRPr lang="zh-CN" altLang="en-US" sz="1600" dirty="0"/>
          </a:p>
        </p:txBody>
      </p:sp>
      <p:cxnSp>
        <p:nvCxnSpPr>
          <p:cNvPr id="77" name="肘形连接符 76"/>
          <p:cNvCxnSpPr/>
          <p:nvPr/>
        </p:nvCxnSpPr>
        <p:spPr>
          <a:xfrm flipV="1">
            <a:off x="3962400" y="4659868"/>
            <a:ext cx="1143000" cy="1131332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7" name="表格 86"/>
          <p:cNvGraphicFramePr>
            <a:graphicFrameLocks noGrp="1"/>
          </p:cNvGraphicFramePr>
          <p:nvPr/>
        </p:nvGraphicFramePr>
        <p:xfrm>
          <a:off x="2743200" y="1676400"/>
          <a:ext cx="1524000" cy="333248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$0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kern="100" dirty="0">
                          <a:latin typeface="Consolas" pitchFamily="49" charset="0"/>
                          <a:cs typeface="Times New Roman"/>
                        </a:rPr>
                        <a:t>$16</a:t>
                      </a:r>
                      <a:endParaRPr lang="zh-CN" sz="1400" kern="100" dirty="0">
                        <a:latin typeface="Consolas" pitchFamily="49" charset="0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$17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$18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$3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$19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$4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$20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$5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$21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$6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$22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$7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$23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$8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$24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$9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$25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$26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$11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$27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$12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$28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$13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$29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$14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$30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$15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$31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95" name="TextBox 94"/>
          <p:cNvSpPr txBox="1"/>
          <p:nvPr/>
        </p:nvSpPr>
        <p:spPr>
          <a:xfrm>
            <a:off x="6019800" y="3276600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00000084</a:t>
            </a:r>
            <a:endParaRPr lang="zh-CN" altLang="en-US" sz="1400" dirty="0"/>
          </a:p>
        </p:txBody>
      </p:sp>
      <p:sp>
        <p:nvSpPr>
          <p:cNvPr id="64" name="TextBox 63"/>
          <p:cNvSpPr txBox="1"/>
          <p:nvPr/>
        </p:nvSpPr>
        <p:spPr>
          <a:xfrm>
            <a:off x="1371600" y="5562600"/>
            <a:ext cx="838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01010</a:t>
            </a:r>
            <a:endParaRPr lang="zh-CN" altLang="en-US" sz="1600" dirty="0"/>
          </a:p>
        </p:txBody>
      </p:sp>
      <p:sp>
        <p:nvSpPr>
          <p:cNvPr id="66" name="TextBox 65"/>
          <p:cNvSpPr txBox="1"/>
          <p:nvPr/>
        </p:nvSpPr>
        <p:spPr>
          <a:xfrm>
            <a:off x="2878348" y="3716548"/>
            <a:ext cx="685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Consolas" pitchFamily="49" charset="0"/>
              </a:rPr>
              <a:t>$10</a:t>
            </a:r>
            <a:endParaRPr lang="zh-CN" altLang="en-US" sz="1400" dirty="0">
              <a:latin typeface="Consolas" pitchFamily="49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2057400" y="5562600"/>
            <a:ext cx="2057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0000000000100000</a:t>
            </a:r>
            <a:endParaRPr lang="zh-CN" altLang="en-US" sz="1600" dirty="0"/>
          </a:p>
        </p:txBody>
      </p:sp>
      <p:sp>
        <p:nvSpPr>
          <p:cNvPr id="61" name="TextBox 60"/>
          <p:cNvSpPr txBox="1"/>
          <p:nvPr/>
        </p:nvSpPr>
        <p:spPr>
          <a:xfrm>
            <a:off x="6948264" y="3048000"/>
            <a:ext cx="1066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1234FFFF</a:t>
            </a:r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48148E-6 L 0.0375 -0.0002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000" tmFilter="0, 0; .2, .5; .8, .5; 1, 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500" autoRev="1" fill="hold"/>
                                        <p:tgtEl>
                                          <p:spTgt spid="6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2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2934 -0.06783 L 0.05295 -0.06667 " pathEditMode="relative" ptsTypes="AAA">
                                      <p:cBhvr>
                                        <p:cTn id="13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32084E-6 L 0.05295 -0.07055 L 0.05295 -0.28036 L 0.0757 -0.28036 " pathEditMode="relative" ptsTypes="AAAA">
                                      <p:cBhvr>
                                        <p:cTn id="17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0"/>
                            </p:stCondLst>
                            <p:childTnLst>
                              <p:par>
                                <p:cTn id="22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296 -0.06667 L 0.09635 -0.1257 L 0.14271 -0.1257 L 0.14358 0.29305 L -0.42344 0.29444 L -0.46771 0.0956 " pathEditMode="relative" rAng="0" ptsTypes="AAAAAA">
                                      <p:cBhvr>
                                        <p:cTn id="23" dur="3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5" y="1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/>
      <p:bldP spid="64" grpId="0"/>
      <p:bldP spid="66" grpId="0"/>
      <p:bldP spid="61" grpId="0"/>
      <p:bldP spid="61" grpId="1"/>
      <p:bldP spid="61" grpId="2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lvl="1" eaLnBrk="1" hangingPunct="1">
              <a:lnSpc>
                <a:spcPct val="90000"/>
              </a:lnSpc>
            </a:pPr>
            <a:r>
              <a:rPr kumimoji="1" lang="zh-CN" altLang="en-US" b="1" dirty="0"/>
              <a:t>基址寻址举例</a:t>
            </a:r>
            <a:endParaRPr kumimoji="1" lang="en-US" altLang="zh-CN" b="1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8229600" cy="18288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CN" dirty="0" err="1"/>
              <a:t>sw</a:t>
            </a:r>
            <a:r>
              <a:rPr lang="en-US" altLang="zh-CN" dirty="0"/>
              <a:t> $t2, 32($t0)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假设寄存器</a:t>
            </a:r>
            <a:r>
              <a:rPr lang="en-US" altLang="zh-CN" dirty="0"/>
              <a:t>$t0</a:t>
            </a:r>
            <a:r>
              <a:rPr lang="zh-CN" altLang="en-US" dirty="0"/>
              <a:t>中的值为</a:t>
            </a:r>
            <a:r>
              <a:rPr lang="en-US" altLang="zh-CN" dirty="0"/>
              <a:t>0x10010000</a:t>
            </a:r>
            <a:r>
              <a:rPr lang="zh-CN" altLang="en-US" dirty="0"/>
              <a:t>，则目标操作数所在存储单元起始地址为</a:t>
            </a:r>
            <a:endParaRPr lang="en-US" altLang="zh-CN" dirty="0"/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altLang="zh-CN" dirty="0"/>
              <a:t>   0x10010000 +0x00000020=0x10010020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2539127"/>
              </p:ext>
            </p:extLst>
          </p:nvPr>
        </p:nvGraphicFramePr>
        <p:xfrm>
          <a:off x="609600" y="3352800"/>
          <a:ext cx="7162800" cy="148336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790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字段值（</a:t>
                      </a:r>
                      <a:r>
                        <a:rPr lang="en-US" altLang="zh-CN" dirty="0"/>
                        <a:t>I</a:t>
                      </a:r>
                      <a:r>
                        <a:rPr lang="zh-CN" altLang="en-US" dirty="0"/>
                        <a:t>指令格式）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opcode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rs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rt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imm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6bits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5bits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5bit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16bits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295003"/>
              </p:ext>
            </p:extLst>
          </p:nvPr>
        </p:nvGraphicFramePr>
        <p:xfrm>
          <a:off x="609600" y="5029200"/>
          <a:ext cx="7162800" cy="148336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机器码（</a:t>
                      </a:r>
                      <a:r>
                        <a:rPr lang="en-US" altLang="zh-CN" dirty="0"/>
                        <a:t>0xAD0A0020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opcode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rs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rt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imm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101011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01000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01010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0000000000100000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6bits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5bits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5bit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16bits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89723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76200" y="2754868"/>
            <a:ext cx="9144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371600" y="2602468"/>
            <a:ext cx="7620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指令缓存</a:t>
            </a:r>
          </a:p>
        </p:txBody>
      </p:sp>
      <p:sp>
        <p:nvSpPr>
          <p:cNvPr id="24" name="任意多边形 23"/>
          <p:cNvSpPr/>
          <p:nvPr/>
        </p:nvSpPr>
        <p:spPr>
          <a:xfrm>
            <a:off x="1371600" y="773668"/>
            <a:ext cx="509587" cy="1614487"/>
          </a:xfrm>
          <a:custGeom>
            <a:avLst/>
            <a:gdLst>
              <a:gd name="connsiteX0" fmla="*/ 0 w 509587"/>
              <a:gd name="connsiteY0" fmla="*/ 0 h 1614487"/>
              <a:gd name="connsiteX1" fmla="*/ 504825 w 509587"/>
              <a:gd name="connsiteY1" fmla="*/ 347662 h 1614487"/>
              <a:gd name="connsiteX2" fmla="*/ 509587 w 509587"/>
              <a:gd name="connsiteY2" fmla="*/ 1304925 h 1614487"/>
              <a:gd name="connsiteX3" fmla="*/ 0 w 509587"/>
              <a:gd name="connsiteY3" fmla="*/ 1614487 h 1614487"/>
              <a:gd name="connsiteX4" fmla="*/ 0 w 509587"/>
              <a:gd name="connsiteY4" fmla="*/ 1138237 h 1614487"/>
              <a:gd name="connsiteX5" fmla="*/ 100012 w 509587"/>
              <a:gd name="connsiteY5" fmla="*/ 1071562 h 1614487"/>
              <a:gd name="connsiteX6" fmla="*/ 100012 w 509587"/>
              <a:gd name="connsiteY6" fmla="*/ 642937 h 1614487"/>
              <a:gd name="connsiteX7" fmla="*/ 0 w 509587"/>
              <a:gd name="connsiteY7" fmla="*/ 557212 h 1614487"/>
              <a:gd name="connsiteX8" fmla="*/ 0 w 509587"/>
              <a:gd name="connsiteY8" fmla="*/ 0 h 1614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9587" h="1614487">
                <a:moveTo>
                  <a:pt x="0" y="0"/>
                </a:moveTo>
                <a:lnTo>
                  <a:pt x="504825" y="347662"/>
                </a:lnTo>
                <a:cubicBezTo>
                  <a:pt x="506412" y="666750"/>
                  <a:pt x="508000" y="985837"/>
                  <a:pt x="509587" y="1304925"/>
                </a:cubicBezTo>
                <a:lnTo>
                  <a:pt x="0" y="1614487"/>
                </a:lnTo>
                <a:lnTo>
                  <a:pt x="0" y="1138237"/>
                </a:lnTo>
                <a:lnTo>
                  <a:pt x="100012" y="1071562"/>
                </a:lnTo>
                <a:lnTo>
                  <a:pt x="100012" y="642937"/>
                </a:lnTo>
                <a:lnTo>
                  <a:pt x="0" y="55721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加法器</a:t>
            </a:r>
          </a:p>
        </p:txBody>
      </p:sp>
      <p:sp>
        <p:nvSpPr>
          <p:cNvPr id="48" name="直角上箭头 47"/>
          <p:cNvSpPr/>
          <p:nvPr/>
        </p:nvSpPr>
        <p:spPr>
          <a:xfrm rot="16200000" flipV="1">
            <a:off x="800100" y="2411968"/>
            <a:ext cx="914400" cy="228600"/>
          </a:xfrm>
          <a:prstGeom prst="bentUpArrow">
            <a:avLst>
              <a:gd name="adj1" fmla="val 0"/>
              <a:gd name="adj2" fmla="val 25000"/>
              <a:gd name="adj3" fmla="val 25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1" name="直接箭头连接符 50"/>
          <p:cNvCxnSpPr>
            <a:stCxn id="5" idx="3"/>
          </p:cNvCxnSpPr>
          <p:nvPr/>
        </p:nvCxnSpPr>
        <p:spPr>
          <a:xfrm>
            <a:off x="990600" y="2983468"/>
            <a:ext cx="381000" cy="1588"/>
          </a:xfrm>
          <a:prstGeom prst="straightConnector1">
            <a:avLst/>
          </a:prstGeom>
          <a:ln w="254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>
            <a:off x="1066800" y="1078468"/>
            <a:ext cx="304800" cy="1588"/>
          </a:xfrm>
          <a:prstGeom prst="straightConnector1">
            <a:avLst/>
          </a:prstGeom>
          <a:ln w="254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62000" y="849868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7" name="矩形 56"/>
          <p:cNvSpPr/>
          <p:nvPr/>
        </p:nvSpPr>
        <p:spPr>
          <a:xfrm>
            <a:off x="152400" y="5574267"/>
            <a:ext cx="3733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5" name="直接箭头连接符 64"/>
          <p:cNvCxnSpPr/>
          <p:nvPr/>
        </p:nvCxnSpPr>
        <p:spPr>
          <a:xfrm rot="5400000">
            <a:off x="1181497" y="5002371"/>
            <a:ext cx="1143000" cy="7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/>
          <p:cNvSpPr/>
          <p:nvPr/>
        </p:nvSpPr>
        <p:spPr>
          <a:xfrm>
            <a:off x="2743200" y="1840468"/>
            <a:ext cx="1524000" cy="3200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寄存器堆</a:t>
            </a:r>
          </a:p>
        </p:txBody>
      </p:sp>
      <p:cxnSp>
        <p:nvCxnSpPr>
          <p:cNvPr id="71" name="直接连接符 70"/>
          <p:cNvCxnSpPr/>
          <p:nvPr/>
        </p:nvCxnSpPr>
        <p:spPr>
          <a:xfrm rot="5400000" flipH="1" flipV="1">
            <a:off x="800100" y="4088368"/>
            <a:ext cx="2971800" cy="1588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>
            <a:off x="2286000" y="2602468"/>
            <a:ext cx="457200" cy="158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>
            <a:off x="2286000" y="3276600"/>
            <a:ext cx="457200" cy="158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等腰三角形 77"/>
          <p:cNvSpPr/>
          <p:nvPr/>
        </p:nvSpPr>
        <p:spPr>
          <a:xfrm rot="5400000">
            <a:off x="4802124" y="21437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等腰三角形 78"/>
          <p:cNvSpPr/>
          <p:nvPr/>
        </p:nvSpPr>
        <p:spPr>
          <a:xfrm rot="5400000">
            <a:off x="4802124" y="42011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1" name="肘形连接符 80"/>
          <p:cNvCxnSpPr/>
          <p:nvPr/>
        </p:nvCxnSpPr>
        <p:spPr>
          <a:xfrm>
            <a:off x="1905000" y="1535668"/>
            <a:ext cx="3200400" cy="609600"/>
          </a:xfrm>
          <a:prstGeom prst="bentConnector3">
            <a:avLst>
              <a:gd name="adj1" fmla="val 83894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/>
          <p:cNvCxnSpPr/>
          <p:nvPr/>
        </p:nvCxnSpPr>
        <p:spPr>
          <a:xfrm>
            <a:off x="4267200" y="2526268"/>
            <a:ext cx="8382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/>
          <p:cNvCxnSpPr/>
          <p:nvPr/>
        </p:nvCxnSpPr>
        <p:spPr>
          <a:xfrm>
            <a:off x="4267200" y="4278868"/>
            <a:ext cx="8382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肘形连接符 93"/>
          <p:cNvCxnSpPr>
            <a:stCxn id="57" idx="3"/>
          </p:cNvCxnSpPr>
          <p:nvPr/>
        </p:nvCxnSpPr>
        <p:spPr>
          <a:xfrm flipV="1">
            <a:off x="3886200" y="4659869"/>
            <a:ext cx="1295400" cy="1104898"/>
          </a:xfrm>
          <a:prstGeom prst="bentConnector3">
            <a:avLst>
              <a:gd name="adj1" fmla="val 59821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任意多边形 99"/>
          <p:cNvSpPr/>
          <p:nvPr/>
        </p:nvSpPr>
        <p:spPr>
          <a:xfrm>
            <a:off x="5867400" y="1992868"/>
            <a:ext cx="609600" cy="2895600"/>
          </a:xfrm>
          <a:custGeom>
            <a:avLst/>
            <a:gdLst>
              <a:gd name="connsiteX0" fmla="*/ 0 w 509587"/>
              <a:gd name="connsiteY0" fmla="*/ 0 h 1614487"/>
              <a:gd name="connsiteX1" fmla="*/ 504825 w 509587"/>
              <a:gd name="connsiteY1" fmla="*/ 347662 h 1614487"/>
              <a:gd name="connsiteX2" fmla="*/ 509587 w 509587"/>
              <a:gd name="connsiteY2" fmla="*/ 1304925 h 1614487"/>
              <a:gd name="connsiteX3" fmla="*/ 0 w 509587"/>
              <a:gd name="connsiteY3" fmla="*/ 1614487 h 1614487"/>
              <a:gd name="connsiteX4" fmla="*/ 0 w 509587"/>
              <a:gd name="connsiteY4" fmla="*/ 1138237 h 1614487"/>
              <a:gd name="connsiteX5" fmla="*/ 100012 w 509587"/>
              <a:gd name="connsiteY5" fmla="*/ 1071562 h 1614487"/>
              <a:gd name="connsiteX6" fmla="*/ 100012 w 509587"/>
              <a:gd name="connsiteY6" fmla="*/ 642937 h 1614487"/>
              <a:gd name="connsiteX7" fmla="*/ 0 w 509587"/>
              <a:gd name="connsiteY7" fmla="*/ 557212 h 1614487"/>
              <a:gd name="connsiteX8" fmla="*/ 0 w 509587"/>
              <a:gd name="connsiteY8" fmla="*/ 0 h 1614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9587" h="1614487">
                <a:moveTo>
                  <a:pt x="0" y="0"/>
                </a:moveTo>
                <a:lnTo>
                  <a:pt x="504825" y="347662"/>
                </a:lnTo>
                <a:cubicBezTo>
                  <a:pt x="506412" y="666750"/>
                  <a:pt x="508000" y="985837"/>
                  <a:pt x="509587" y="1304925"/>
                </a:cubicBezTo>
                <a:lnTo>
                  <a:pt x="0" y="1614487"/>
                </a:lnTo>
                <a:lnTo>
                  <a:pt x="0" y="1138237"/>
                </a:lnTo>
                <a:lnTo>
                  <a:pt x="100012" y="1071562"/>
                </a:lnTo>
                <a:lnTo>
                  <a:pt x="100012" y="642937"/>
                </a:lnTo>
                <a:lnTo>
                  <a:pt x="0" y="55721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运算器</a:t>
            </a:r>
          </a:p>
        </p:txBody>
      </p:sp>
      <p:cxnSp>
        <p:nvCxnSpPr>
          <p:cNvPr id="102" name="直接箭头连接符 101"/>
          <p:cNvCxnSpPr>
            <a:stCxn id="78" idx="0"/>
          </p:cNvCxnSpPr>
          <p:nvPr/>
        </p:nvCxnSpPr>
        <p:spPr>
          <a:xfrm>
            <a:off x="5559552" y="2370820"/>
            <a:ext cx="307848" cy="304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/>
          <p:cNvCxnSpPr/>
          <p:nvPr/>
        </p:nvCxnSpPr>
        <p:spPr>
          <a:xfrm>
            <a:off x="5562600" y="4431268"/>
            <a:ext cx="307848" cy="304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矩形 104"/>
          <p:cNvSpPr/>
          <p:nvPr/>
        </p:nvSpPr>
        <p:spPr>
          <a:xfrm>
            <a:off x="7010400" y="2602468"/>
            <a:ext cx="7620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数据缓存</a:t>
            </a:r>
          </a:p>
        </p:txBody>
      </p:sp>
      <p:cxnSp>
        <p:nvCxnSpPr>
          <p:cNvPr id="107" name="直接箭头连接符 106"/>
          <p:cNvCxnSpPr>
            <a:endCxn id="105" idx="1"/>
          </p:cNvCxnSpPr>
          <p:nvPr/>
        </p:nvCxnSpPr>
        <p:spPr>
          <a:xfrm>
            <a:off x="6477000" y="3516868"/>
            <a:ext cx="5334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等腰三角形 109"/>
          <p:cNvSpPr/>
          <p:nvPr/>
        </p:nvSpPr>
        <p:spPr>
          <a:xfrm rot="5400000">
            <a:off x="6783324" y="14579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2" name="直接箭头连接符 111"/>
          <p:cNvCxnSpPr/>
          <p:nvPr/>
        </p:nvCxnSpPr>
        <p:spPr>
          <a:xfrm>
            <a:off x="4572000" y="1535668"/>
            <a:ext cx="25146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/>
          <p:cNvCxnSpPr/>
          <p:nvPr/>
        </p:nvCxnSpPr>
        <p:spPr>
          <a:xfrm rot="5400000" flipH="1" flipV="1">
            <a:off x="5906294" y="2716768"/>
            <a:ext cx="1599406" cy="79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117"/>
          <p:cNvCxnSpPr/>
          <p:nvPr/>
        </p:nvCxnSpPr>
        <p:spPr>
          <a:xfrm>
            <a:off x="6705600" y="1916668"/>
            <a:ext cx="3810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连接符 135"/>
          <p:cNvCxnSpPr>
            <a:stCxn id="110" idx="0"/>
          </p:cNvCxnSpPr>
          <p:nvPr/>
        </p:nvCxnSpPr>
        <p:spPr>
          <a:xfrm>
            <a:off x="7540752" y="1685020"/>
            <a:ext cx="307848" cy="304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连接符 140"/>
          <p:cNvCxnSpPr/>
          <p:nvPr/>
        </p:nvCxnSpPr>
        <p:spPr>
          <a:xfrm rot="5400000" flipH="1" flipV="1">
            <a:off x="7277100" y="1116568"/>
            <a:ext cx="11430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连接符 143"/>
          <p:cNvCxnSpPr/>
          <p:nvPr/>
        </p:nvCxnSpPr>
        <p:spPr>
          <a:xfrm rot="10800000">
            <a:off x="533400" y="533400"/>
            <a:ext cx="7315200" cy="1325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箭头连接符 145"/>
          <p:cNvCxnSpPr>
            <a:endCxn id="5" idx="0"/>
          </p:cNvCxnSpPr>
          <p:nvPr/>
        </p:nvCxnSpPr>
        <p:spPr>
          <a:xfrm rot="5400000">
            <a:off x="-576540" y="1644134"/>
            <a:ext cx="2220674" cy="7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连接符 152"/>
          <p:cNvCxnSpPr/>
          <p:nvPr/>
        </p:nvCxnSpPr>
        <p:spPr>
          <a:xfrm rot="10800000">
            <a:off x="3505200" y="5345668"/>
            <a:ext cx="51816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箭头连接符 155"/>
          <p:cNvCxnSpPr>
            <a:endCxn id="68" idx="2"/>
          </p:cNvCxnSpPr>
          <p:nvPr/>
        </p:nvCxnSpPr>
        <p:spPr>
          <a:xfrm rot="5400000" flipH="1" flipV="1">
            <a:off x="3352006" y="5193268"/>
            <a:ext cx="305594" cy="7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/>
          <p:cNvCxnSpPr/>
          <p:nvPr/>
        </p:nvCxnSpPr>
        <p:spPr>
          <a:xfrm rot="5400000">
            <a:off x="4001294" y="4697968"/>
            <a:ext cx="837406" cy="79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接连接符 175"/>
          <p:cNvCxnSpPr/>
          <p:nvPr/>
        </p:nvCxnSpPr>
        <p:spPr>
          <a:xfrm>
            <a:off x="4419600" y="5117068"/>
            <a:ext cx="29718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箭头连接符 178"/>
          <p:cNvCxnSpPr>
            <a:endCxn id="105" idx="2"/>
          </p:cNvCxnSpPr>
          <p:nvPr/>
        </p:nvCxnSpPr>
        <p:spPr>
          <a:xfrm rot="5400000" flipH="1" flipV="1">
            <a:off x="7047706" y="4774168"/>
            <a:ext cx="686594" cy="7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等腰三角形 179"/>
          <p:cNvSpPr/>
          <p:nvPr/>
        </p:nvSpPr>
        <p:spPr>
          <a:xfrm rot="5400000">
            <a:off x="7773924" y="22199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2" name="直接箭头连接符 181"/>
          <p:cNvCxnSpPr/>
          <p:nvPr/>
        </p:nvCxnSpPr>
        <p:spPr>
          <a:xfrm>
            <a:off x="7772400" y="2831068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接箭头连接符 185"/>
          <p:cNvCxnSpPr>
            <a:endCxn id="180" idx="3"/>
          </p:cNvCxnSpPr>
          <p:nvPr/>
        </p:nvCxnSpPr>
        <p:spPr>
          <a:xfrm flipV="1">
            <a:off x="6705600" y="2447020"/>
            <a:ext cx="1371600" cy="304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接连接符 192"/>
          <p:cNvCxnSpPr/>
          <p:nvPr/>
        </p:nvCxnSpPr>
        <p:spPr>
          <a:xfrm rot="5400000">
            <a:off x="7658100" y="1878568"/>
            <a:ext cx="3810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接箭头连接符 194"/>
          <p:cNvCxnSpPr/>
          <p:nvPr/>
        </p:nvCxnSpPr>
        <p:spPr>
          <a:xfrm>
            <a:off x="7848600" y="2069068"/>
            <a:ext cx="2286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连接符 196"/>
          <p:cNvCxnSpPr>
            <a:stCxn id="180" idx="0"/>
          </p:cNvCxnSpPr>
          <p:nvPr/>
        </p:nvCxnSpPr>
        <p:spPr>
          <a:xfrm>
            <a:off x="8531352" y="2447020"/>
            <a:ext cx="155448" cy="304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连接符 198"/>
          <p:cNvCxnSpPr/>
          <p:nvPr/>
        </p:nvCxnSpPr>
        <p:spPr>
          <a:xfrm rot="5400000">
            <a:off x="7239000" y="3897868"/>
            <a:ext cx="28956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/>
          <p:cNvSpPr txBox="1"/>
          <p:nvPr/>
        </p:nvSpPr>
        <p:spPr>
          <a:xfrm>
            <a:off x="4419600" y="252626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Rs</a:t>
            </a:r>
            <a:endParaRPr lang="zh-CN" altLang="en-US" dirty="0"/>
          </a:p>
        </p:txBody>
      </p:sp>
      <p:sp>
        <p:nvSpPr>
          <p:cNvPr id="204" name="TextBox 203"/>
          <p:cNvSpPr txBox="1"/>
          <p:nvPr/>
        </p:nvSpPr>
        <p:spPr>
          <a:xfrm>
            <a:off x="4419600" y="38978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Rt</a:t>
            </a:r>
            <a:endParaRPr lang="zh-CN" altLang="en-US" dirty="0"/>
          </a:p>
        </p:txBody>
      </p:sp>
      <p:sp>
        <p:nvSpPr>
          <p:cNvPr id="205" name="TextBox 204"/>
          <p:cNvSpPr txBox="1"/>
          <p:nvPr/>
        </p:nvSpPr>
        <p:spPr>
          <a:xfrm>
            <a:off x="2971800" y="5040868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Rd</a:t>
            </a:r>
            <a:endParaRPr lang="zh-CN" altLang="en-US" dirty="0"/>
          </a:p>
        </p:txBody>
      </p:sp>
      <p:sp>
        <p:nvSpPr>
          <p:cNvPr id="206" name="TextBox 205"/>
          <p:cNvSpPr txBox="1"/>
          <p:nvPr/>
        </p:nvSpPr>
        <p:spPr>
          <a:xfrm>
            <a:off x="4038600" y="5715000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Imm</a:t>
            </a:r>
            <a:endParaRPr lang="zh-CN" altLang="en-US" dirty="0"/>
          </a:p>
        </p:txBody>
      </p:sp>
      <p:cxnSp>
        <p:nvCxnSpPr>
          <p:cNvPr id="223" name="直接箭头连接符 222"/>
          <p:cNvCxnSpPr/>
          <p:nvPr/>
        </p:nvCxnSpPr>
        <p:spPr>
          <a:xfrm>
            <a:off x="2286000" y="3960812"/>
            <a:ext cx="457200" cy="158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7045" y="2819400"/>
            <a:ext cx="9156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00400008</a:t>
            </a:r>
            <a:endParaRPr lang="zh-CN" altLang="en-US" sz="1400" dirty="0"/>
          </a:p>
        </p:txBody>
      </p:sp>
      <p:sp>
        <p:nvSpPr>
          <p:cNvPr id="53" name="TextBox 52"/>
          <p:cNvSpPr txBox="1"/>
          <p:nvPr/>
        </p:nvSpPr>
        <p:spPr>
          <a:xfrm>
            <a:off x="1295400" y="2590800"/>
            <a:ext cx="9605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AD0A0020</a:t>
            </a:r>
            <a:endParaRPr lang="zh-CN" altLang="en-US" sz="1400" dirty="0"/>
          </a:p>
        </p:txBody>
      </p:sp>
      <p:sp>
        <p:nvSpPr>
          <p:cNvPr id="56" name="TextBox 55"/>
          <p:cNvSpPr txBox="1"/>
          <p:nvPr/>
        </p:nvSpPr>
        <p:spPr>
          <a:xfrm>
            <a:off x="152400" y="5574268"/>
            <a:ext cx="381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10101101000010100000000000100000</a:t>
            </a:r>
            <a:endParaRPr lang="zh-CN" altLang="en-US" sz="1600" dirty="0"/>
          </a:p>
        </p:txBody>
      </p:sp>
      <p:sp>
        <p:nvSpPr>
          <p:cNvPr id="58" name="TextBox 57"/>
          <p:cNvSpPr txBox="1"/>
          <p:nvPr/>
        </p:nvSpPr>
        <p:spPr>
          <a:xfrm>
            <a:off x="1600200" y="1295401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0040000C</a:t>
            </a:r>
            <a:endParaRPr lang="zh-CN" altLang="en-US" sz="1400" dirty="0"/>
          </a:p>
        </p:txBody>
      </p:sp>
      <p:sp>
        <p:nvSpPr>
          <p:cNvPr id="59" name="TextBox 58"/>
          <p:cNvSpPr txBox="1"/>
          <p:nvPr/>
        </p:nvSpPr>
        <p:spPr>
          <a:xfrm>
            <a:off x="2362200" y="6248400"/>
            <a:ext cx="4229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执行指令</a:t>
            </a:r>
            <a:r>
              <a:rPr lang="en-US" altLang="zh-CN" dirty="0" err="1"/>
              <a:t>sw</a:t>
            </a:r>
            <a:r>
              <a:rPr lang="en-US" altLang="zh-CN" dirty="0"/>
              <a:t> $t2, 32($t0)   </a:t>
            </a:r>
            <a:r>
              <a:rPr lang="zh-CN" altLang="en-US" dirty="0"/>
              <a:t>读取指令（</a:t>
            </a:r>
            <a:r>
              <a:rPr lang="en-US" altLang="zh-CN" dirty="0"/>
              <a:t>IF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908256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3.93708E-6 L 0.06198 -0.0002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7" presetClass="emph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9" dur="1000" autoRev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0" dur="1000" autoRev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" dur="1000" autoRev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autoRev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000"/>
                            </p:stCondLst>
                            <p:childTnLst>
                              <p:par>
                                <p:cTn id="14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486 -0.00023 L 0.05486 -0.12884 L 0.10712 -0.12769 " pathEditMode="relative" rAng="0" ptsTypes="AAA">
                                      <p:cBhvr>
                                        <p:cTn id="15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-64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2.77778E-6 -1.48148E-6 L -0.00347 0.4331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4" y="216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6000"/>
                            </p:stCondLst>
                            <p:childTnLst>
                              <p:par>
                                <p:cTn id="19" presetID="3" presetClass="exit" presetSubtype="1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blinds(horizontal)">
                                      <p:cBhvr>
                                        <p:cTn id="20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0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8000"/>
                            </p:stCondLst>
                            <p:childTnLst>
                              <p:par>
                                <p:cTn id="27" presetID="27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1000" autoRev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" dur="1000" autoRev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" dur="1000" autoRev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1000" autoRev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0"/>
                            </p:stCondLst>
                            <p:childTnLst>
                              <p:par>
                                <p:cTn id="33" presetID="3" presetClass="exit" presetSubtype="1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4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1000"/>
                            </p:stCondLst>
                            <p:childTnLst>
                              <p:par>
                                <p:cTn id="3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000"/>
                            </p:stCondLst>
                            <p:childTnLst>
                              <p:par>
                                <p:cTn id="41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747 0.00116 L 0.55174 0.00231 L 0.61337 0.02544 L 0.61337 -0.14735 L -0.16528 -0.14758 L -0.16615 0.22207 " pathEditMode="relative" rAng="0" ptsTypes="AAAAAA">
                                      <p:cBhvr>
                                        <p:cTn id="42" dur="3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1" y="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52" grpId="0"/>
      <p:bldP spid="52" grpId="1"/>
      <p:bldP spid="52" grpId="2"/>
      <p:bldP spid="53" grpId="0"/>
      <p:bldP spid="53" grpId="1"/>
      <p:bldP spid="53" grpId="2"/>
      <p:bldP spid="56" grpId="0"/>
      <p:bldP spid="58" grpId="0"/>
      <p:bldP spid="58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28600" y="2754868"/>
            <a:ext cx="762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PC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371600" y="2602468"/>
            <a:ext cx="7620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指令缓存</a:t>
            </a:r>
          </a:p>
        </p:txBody>
      </p:sp>
      <p:sp>
        <p:nvSpPr>
          <p:cNvPr id="24" name="任意多边形 23"/>
          <p:cNvSpPr/>
          <p:nvPr/>
        </p:nvSpPr>
        <p:spPr>
          <a:xfrm>
            <a:off x="1371600" y="773668"/>
            <a:ext cx="509587" cy="1614487"/>
          </a:xfrm>
          <a:custGeom>
            <a:avLst/>
            <a:gdLst>
              <a:gd name="connsiteX0" fmla="*/ 0 w 509587"/>
              <a:gd name="connsiteY0" fmla="*/ 0 h 1614487"/>
              <a:gd name="connsiteX1" fmla="*/ 504825 w 509587"/>
              <a:gd name="connsiteY1" fmla="*/ 347662 h 1614487"/>
              <a:gd name="connsiteX2" fmla="*/ 509587 w 509587"/>
              <a:gd name="connsiteY2" fmla="*/ 1304925 h 1614487"/>
              <a:gd name="connsiteX3" fmla="*/ 0 w 509587"/>
              <a:gd name="connsiteY3" fmla="*/ 1614487 h 1614487"/>
              <a:gd name="connsiteX4" fmla="*/ 0 w 509587"/>
              <a:gd name="connsiteY4" fmla="*/ 1138237 h 1614487"/>
              <a:gd name="connsiteX5" fmla="*/ 100012 w 509587"/>
              <a:gd name="connsiteY5" fmla="*/ 1071562 h 1614487"/>
              <a:gd name="connsiteX6" fmla="*/ 100012 w 509587"/>
              <a:gd name="connsiteY6" fmla="*/ 642937 h 1614487"/>
              <a:gd name="connsiteX7" fmla="*/ 0 w 509587"/>
              <a:gd name="connsiteY7" fmla="*/ 557212 h 1614487"/>
              <a:gd name="connsiteX8" fmla="*/ 0 w 509587"/>
              <a:gd name="connsiteY8" fmla="*/ 0 h 1614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9587" h="1614487">
                <a:moveTo>
                  <a:pt x="0" y="0"/>
                </a:moveTo>
                <a:lnTo>
                  <a:pt x="504825" y="347662"/>
                </a:lnTo>
                <a:cubicBezTo>
                  <a:pt x="506412" y="666750"/>
                  <a:pt x="508000" y="985837"/>
                  <a:pt x="509587" y="1304925"/>
                </a:cubicBezTo>
                <a:lnTo>
                  <a:pt x="0" y="1614487"/>
                </a:lnTo>
                <a:lnTo>
                  <a:pt x="0" y="1138237"/>
                </a:lnTo>
                <a:lnTo>
                  <a:pt x="100012" y="1071562"/>
                </a:lnTo>
                <a:lnTo>
                  <a:pt x="100012" y="642937"/>
                </a:lnTo>
                <a:lnTo>
                  <a:pt x="0" y="55721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加法器</a:t>
            </a:r>
          </a:p>
        </p:txBody>
      </p:sp>
      <p:sp>
        <p:nvSpPr>
          <p:cNvPr id="48" name="直角上箭头 47"/>
          <p:cNvSpPr/>
          <p:nvPr/>
        </p:nvSpPr>
        <p:spPr>
          <a:xfrm rot="16200000" flipV="1">
            <a:off x="800100" y="2411968"/>
            <a:ext cx="914400" cy="228600"/>
          </a:xfrm>
          <a:prstGeom prst="bentUpArrow">
            <a:avLst>
              <a:gd name="adj1" fmla="val 0"/>
              <a:gd name="adj2" fmla="val 25000"/>
              <a:gd name="adj3" fmla="val 25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1" name="直接箭头连接符 50"/>
          <p:cNvCxnSpPr>
            <a:stCxn id="5" idx="3"/>
          </p:cNvCxnSpPr>
          <p:nvPr/>
        </p:nvCxnSpPr>
        <p:spPr>
          <a:xfrm>
            <a:off x="990600" y="2983468"/>
            <a:ext cx="381000" cy="1588"/>
          </a:xfrm>
          <a:prstGeom prst="straightConnector1">
            <a:avLst/>
          </a:prstGeom>
          <a:ln w="254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>
            <a:off x="1066800" y="1078468"/>
            <a:ext cx="304800" cy="1588"/>
          </a:xfrm>
          <a:prstGeom prst="straightConnector1">
            <a:avLst/>
          </a:prstGeom>
          <a:ln w="254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62000" y="849868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7" name="矩形 56"/>
          <p:cNvSpPr/>
          <p:nvPr/>
        </p:nvSpPr>
        <p:spPr>
          <a:xfrm>
            <a:off x="152400" y="5574267"/>
            <a:ext cx="3810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5" name="直接箭头连接符 64"/>
          <p:cNvCxnSpPr/>
          <p:nvPr/>
        </p:nvCxnSpPr>
        <p:spPr>
          <a:xfrm rot="5400000">
            <a:off x="1181497" y="5002371"/>
            <a:ext cx="1143000" cy="7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/>
          <p:cNvSpPr/>
          <p:nvPr/>
        </p:nvSpPr>
        <p:spPr>
          <a:xfrm>
            <a:off x="2743200" y="1676400"/>
            <a:ext cx="1524000" cy="33644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1" name="直接连接符 70"/>
          <p:cNvCxnSpPr/>
          <p:nvPr/>
        </p:nvCxnSpPr>
        <p:spPr>
          <a:xfrm rot="5400000" flipH="1" flipV="1">
            <a:off x="800100" y="4088368"/>
            <a:ext cx="2971800" cy="1588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>
            <a:off x="2286000" y="2602468"/>
            <a:ext cx="457200" cy="158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>
            <a:off x="2286000" y="3276600"/>
            <a:ext cx="457200" cy="158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等腰三角形 77"/>
          <p:cNvSpPr/>
          <p:nvPr/>
        </p:nvSpPr>
        <p:spPr>
          <a:xfrm rot="5400000">
            <a:off x="4802124" y="21437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等腰三角形 78"/>
          <p:cNvSpPr/>
          <p:nvPr/>
        </p:nvSpPr>
        <p:spPr>
          <a:xfrm rot="5400000">
            <a:off x="4802124" y="42011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1" name="肘形连接符 80"/>
          <p:cNvCxnSpPr/>
          <p:nvPr/>
        </p:nvCxnSpPr>
        <p:spPr>
          <a:xfrm>
            <a:off x="1905000" y="1535668"/>
            <a:ext cx="3200400" cy="609600"/>
          </a:xfrm>
          <a:prstGeom prst="bentConnector3">
            <a:avLst>
              <a:gd name="adj1" fmla="val 83894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/>
          <p:cNvCxnSpPr/>
          <p:nvPr/>
        </p:nvCxnSpPr>
        <p:spPr>
          <a:xfrm>
            <a:off x="4267200" y="2526268"/>
            <a:ext cx="8382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/>
          <p:cNvCxnSpPr/>
          <p:nvPr/>
        </p:nvCxnSpPr>
        <p:spPr>
          <a:xfrm>
            <a:off x="4267200" y="4278868"/>
            <a:ext cx="8382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任意多边形 99"/>
          <p:cNvSpPr/>
          <p:nvPr/>
        </p:nvSpPr>
        <p:spPr>
          <a:xfrm>
            <a:off x="5867400" y="1992868"/>
            <a:ext cx="609600" cy="2895600"/>
          </a:xfrm>
          <a:custGeom>
            <a:avLst/>
            <a:gdLst>
              <a:gd name="connsiteX0" fmla="*/ 0 w 509587"/>
              <a:gd name="connsiteY0" fmla="*/ 0 h 1614487"/>
              <a:gd name="connsiteX1" fmla="*/ 504825 w 509587"/>
              <a:gd name="connsiteY1" fmla="*/ 347662 h 1614487"/>
              <a:gd name="connsiteX2" fmla="*/ 509587 w 509587"/>
              <a:gd name="connsiteY2" fmla="*/ 1304925 h 1614487"/>
              <a:gd name="connsiteX3" fmla="*/ 0 w 509587"/>
              <a:gd name="connsiteY3" fmla="*/ 1614487 h 1614487"/>
              <a:gd name="connsiteX4" fmla="*/ 0 w 509587"/>
              <a:gd name="connsiteY4" fmla="*/ 1138237 h 1614487"/>
              <a:gd name="connsiteX5" fmla="*/ 100012 w 509587"/>
              <a:gd name="connsiteY5" fmla="*/ 1071562 h 1614487"/>
              <a:gd name="connsiteX6" fmla="*/ 100012 w 509587"/>
              <a:gd name="connsiteY6" fmla="*/ 642937 h 1614487"/>
              <a:gd name="connsiteX7" fmla="*/ 0 w 509587"/>
              <a:gd name="connsiteY7" fmla="*/ 557212 h 1614487"/>
              <a:gd name="connsiteX8" fmla="*/ 0 w 509587"/>
              <a:gd name="connsiteY8" fmla="*/ 0 h 1614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9587" h="1614487">
                <a:moveTo>
                  <a:pt x="0" y="0"/>
                </a:moveTo>
                <a:lnTo>
                  <a:pt x="504825" y="347662"/>
                </a:lnTo>
                <a:cubicBezTo>
                  <a:pt x="506412" y="666750"/>
                  <a:pt x="508000" y="985837"/>
                  <a:pt x="509587" y="1304925"/>
                </a:cubicBezTo>
                <a:lnTo>
                  <a:pt x="0" y="1614487"/>
                </a:lnTo>
                <a:lnTo>
                  <a:pt x="0" y="1138237"/>
                </a:lnTo>
                <a:lnTo>
                  <a:pt x="100012" y="1071562"/>
                </a:lnTo>
                <a:lnTo>
                  <a:pt x="100012" y="642937"/>
                </a:lnTo>
                <a:lnTo>
                  <a:pt x="0" y="55721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运算器</a:t>
            </a:r>
          </a:p>
        </p:txBody>
      </p:sp>
      <p:cxnSp>
        <p:nvCxnSpPr>
          <p:cNvPr id="102" name="直接箭头连接符 101"/>
          <p:cNvCxnSpPr>
            <a:stCxn id="78" idx="0"/>
          </p:cNvCxnSpPr>
          <p:nvPr/>
        </p:nvCxnSpPr>
        <p:spPr>
          <a:xfrm>
            <a:off x="5559552" y="2370820"/>
            <a:ext cx="307848" cy="304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/>
          <p:cNvCxnSpPr/>
          <p:nvPr/>
        </p:nvCxnSpPr>
        <p:spPr>
          <a:xfrm>
            <a:off x="5562600" y="4431268"/>
            <a:ext cx="307848" cy="304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矩形 104"/>
          <p:cNvSpPr/>
          <p:nvPr/>
        </p:nvSpPr>
        <p:spPr>
          <a:xfrm>
            <a:off x="7010400" y="2602468"/>
            <a:ext cx="7620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数据缓存</a:t>
            </a:r>
          </a:p>
        </p:txBody>
      </p:sp>
      <p:cxnSp>
        <p:nvCxnSpPr>
          <p:cNvPr id="107" name="直接箭头连接符 106"/>
          <p:cNvCxnSpPr>
            <a:endCxn id="105" idx="1"/>
          </p:cNvCxnSpPr>
          <p:nvPr/>
        </p:nvCxnSpPr>
        <p:spPr>
          <a:xfrm>
            <a:off x="6477000" y="3516868"/>
            <a:ext cx="5334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等腰三角形 109"/>
          <p:cNvSpPr/>
          <p:nvPr/>
        </p:nvSpPr>
        <p:spPr>
          <a:xfrm rot="5400000">
            <a:off x="6783324" y="14579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2" name="直接箭头连接符 111"/>
          <p:cNvCxnSpPr/>
          <p:nvPr/>
        </p:nvCxnSpPr>
        <p:spPr>
          <a:xfrm>
            <a:off x="4572000" y="1535668"/>
            <a:ext cx="25146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/>
          <p:cNvCxnSpPr/>
          <p:nvPr/>
        </p:nvCxnSpPr>
        <p:spPr>
          <a:xfrm rot="5400000" flipH="1" flipV="1">
            <a:off x="5906294" y="2716768"/>
            <a:ext cx="1599406" cy="79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117"/>
          <p:cNvCxnSpPr/>
          <p:nvPr/>
        </p:nvCxnSpPr>
        <p:spPr>
          <a:xfrm>
            <a:off x="6705600" y="1916668"/>
            <a:ext cx="3810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连接符 135"/>
          <p:cNvCxnSpPr>
            <a:stCxn id="110" idx="0"/>
          </p:cNvCxnSpPr>
          <p:nvPr/>
        </p:nvCxnSpPr>
        <p:spPr>
          <a:xfrm>
            <a:off x="7540752" y="1685020"/>
            <a:ext cx="307848" cy="304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连接符 140"/>
          <p:cNvCxnSpPr/>
          <p:nvPr/>
        </p:nvCxnSpPr>
        <p:spPr>
          <a:xfrm rot="5400000" flipH="1" flipV="1">
            <a:off x="7277100" y="1116568"/>
            <a:ext cx="11430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连接符 143"/>
          <p:cNvCxnSpPr/>
          <p:nvPr/>
        </p:nvCxnSpPr>
        <p:spPr>
          <a:xfrm rot="10800000">
            <a:off x="609600" y="545068"/>
            <a:ext cx="72390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箭头连接符 145"/>
          <p:cNvCxnSpPr>
            <a:endCxn id="5" idx="0"/>
          </p:cNvCxnSpPr>
          <p:nvPr/>
        </p:nvCxnSpPr>
        <p:spPr>
          <a:xfrm rot="5400000">
            <a:off x="-495300" y="1649968"/>
            <a:ext cx="2209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连接符 152"/>
          <p:cNvCxnSpPr/>
          <p:nvPr/>
        </p:nvCxnSpPr>
        <p:spPr>
          <a:xfrm rot="10800000">
            <a:off x="3505200" y="5345668"/>
            <a:ext cx="51816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箭头连接符 155"/>
          <p:cNvCxnSpPr>
            <a:endCxn id="68" idx="2"/>
          </p:cNvCxnSpPr>
          <p:nvPr/>
        </p:nvCxnSpPr>
        <p:spPr>
          <a:xfrm rot="5400000" flipH="1" flipV="1">
            <a:off x="3352006" y="5193268"/>
            <a:ext cx="305594" cy="7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/>
          <p:cNvCxnSpPr/>
          <p:nvPr/>
        </p:nvCxnSpPr>
        <p:spPr>
          <a:xfrm rot="5400000">
            <a:off x="4001294" y="4697968"/>
            <a:ext cx="837406" cy="79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接连接符 175"/>
          <p:cNvCxnSpPr/>
          <p:nvPr/>
        </p:nvCxnSpPr>
        <p:spPr>
          <a:xfrm>
            <a:off x="4419600" y="5117068"/>
            <a:ext cx="29718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箭头连接符 178"/>
          <p:cNvCxnSpPr>
            <a:endCxn id="105" idx="2"/>
          </p:cNvCxnSpPr>
          <p:nvPr/>
        </p:nvCxnSpPr>
        <p:spPr>
          <a:xfrm rot="5400000" flipH="1" flipV="1">
            <a:off x="7047706" y="4774168"/>
            <a:ext cx="686594" cy="7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等腰三角形 179"/>
          <p:cNvSpPr/>
          <p:nvPr/>
        </p:nvSpPr>
        <p:spPr>
          <a:xfrm rot="5400000">
            <a:off x="7773924" y="22199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2" name="直接箭头连接符 181"/>
          <p:cNvCxnSpPr/>
          <p:nvPr/>
        </p:nvCxnSpPr>
        <p:spPr>
          <a:xfrm>
            <a:off x="7772400" y="2831068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接箭头连接符 185"/>
          <p:cNvCxnSpPr>
            <a:endCxn id="180" idx="3"/>
          </p:cNvCxnSpPr>
          <p:nvPr/>
        </p:nvCxnSpPr>
        <p:spPr>
          <a:xfrm flipV="1">
            <a:off x="6705600" y="2447020"/>
            <a:ext cx="1371600" cy="304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接连接符 192"/>
          <p:cNvCxnSpPr/>
          <p:nvPr/>
        </p:nvCxnSpPr>
        <p:spPr>
          <a:xfrm rot="5400000">
            <a:off x="7658100" y="1878568"/>
            <a:ext cx="3810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接箭头连接符 194"/>
          <p:cNvCxnSpPr/>
          <p:nvPr/>
        </p:nvCxnSpPr>
        <p:spPr>
          <a:xfrm>
            <a:off x="7848600" y="2069068"/>
            <a:ext cx="2286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连接符 196"/>
          <p:cNvCxnSpPr>
            <a:stCxn id="180" idx="0"/>
          </p:cNvCxnSpPr>
          <p:nvPr/>
        </p:nvCxnSpPr>
        <p:spPr>
          <a:xfrm>
            <a:off x="8531352" y="2447020"/>
            <a:ext cx="155448" cy="304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连接符 198"/>
          <p:cNvCxnSpPr/>
          <p:nvPr/>
        </p:nvCxnSpPr>
        <p:spPr>
          <a:xfrm rot="5400000">
            <a:off x="7239000" y="3897868"/>
            <a:ext cx="28956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/>
          <p:cNvSpPr txBox="1"/>
          <p:nvPr/>
        </p:nvSpPr>
        <p:spPr>
          <a:xfrm>
            <a:off x="4419600" y="252626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Rs</a:t>
            </a:r>
            <a:endParaRPr lang="zh-CN" altLang="en-US" dirty="0"/>
          </a:p>
        </p:txBody>
      </p:sp>
      <p:sp>
        <p:nvSpPr>
          <p:cNvPr id="204" name="TextBox 203"/>
          <p:cNvSpPr txBox="1"/>
          <p:nvPr/>
        </p:nvSpPr>
        <p:spPr>
          <a:xfrm>
            <a:off x="4419600" y="38978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Rt</a:t>
            </a:r>
            <a:endParaRPr lang="zh-CN" altLang="en-US" dirty="0"/>
          </a:p>
        </p:txBody>
      </p:sp>
      <p:sp>
        <p:nvSpPr>
          <p:cNvPr id="205" name="TextBox 204"/>
          <p:cNvSpPr txBox="1"/>
          <p:nvPr/>
        </p:nvSpPr>
        <p:spPr>
          <a:xfrm>
            <a:off x="2971800" y="5040868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Rd</a:t>
            </a:r>
            <a:endParaRPr lang="zh-CN" altLang="en-US" dirty="0"/>
          </a:p>
        </p:txBody>
      </p:sp>
      <p:sp>
        <p:nvSpPr>
          <p:cNvPr id="206" name="TextBox 205"/>
          <p:cNvSpPr txBox="1"/>
          <p:nvPr/>
        </p:nvSpPr>
        <p:spPr>
          <a:xfrm>
            <a:off x="4038600" y="5802868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Imm</a:t>
            </a:r>
            <a:endParaRPr lang="zh-CN" altLang="en-US" dirty="0"/>
          </a:p>
        </p:txBody>
      </p:sp>
      <p:cxnSp>
        <p:nvCxnSpPr>
          <p:cNvPr id="223" name="直接箭头连接符 222"/>
          <p:cNvCxnSpPr/>
          <p:nvPr/>
        </p:nvCxnSpPr>
        <p:spPr>
          <a:xfrm>
            <a:off x="2286000" y="3960812"/>
            <a:ext cx="457200" cy="158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066800" y="6248400"/>
            <a:ext cx="6322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执行指令</a:t>
            </a:r>
            <a:r>
              <a:rPr lang="en-US" altLang="zh-CN" dirty="0" err="1"/>
              <a:t>sw</a:t>
            </a:r>
            <a:r>
              <a:rPr lang="en-US" altLang="zh-CN" dirty="0"/>
              <a:t> $t2, 32($t0)   </a:t>
            </a:r>
            <a:r>
              <a:rPr lang="zh-CN" altLang="en-US" dirty="0"/>
              <a:t>从寄存器堆读（</a:t>
            </a:r>
            <a:r>
              <a:rPr lang="en-US" altLang="zh-CN" dirty="0"/>
              <a:t>RD</a:t>
            </a:r>
            <a:r>
              <a:rPr lang="zh-CN" altLang="en-US" dirty="0"/>
              <a:t>）、运算（</a:t>
            </a:r>
            <a:r>
              <a:rPr lang="en-US" altLang="zh-CN" dirty="0"/>
              <a:t>ALU</a:t>
            </a:r>
            <a:r>
              <a:rPr lang="zh-CN" altLang="en-US" dirty="0"/>
              <a:t>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200" y="5562600"/>
            <a:ext cx="91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101011</a:t>
            </a:r>
            <a:endParaRPr lang="zh-CN" altLang="en-US" sz="1600" dirty="0"/>
          </a:p>
        </p:txBody>
      </p:sp>
      <p:sp>
        <p:nvSpPr>
          <p:cNvPr id="56" name="TextBox 55"/>
          <p:cNvSpPr txBox="1"/>
          <p:nvPr/>
        </p:nvSpPr>
        <p:spPr>
          <a:xfrm>
            <a:off x="798445" y="5562600"/>
            <a:ext cx="8017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01000</a:t>
            </a:r>
            <a:endParaRPr lang="zh-CN" altLang="en-US" sz="1600" dirty="0"/>
          </a:p>
        </p:txBody>
      </p:sp>
      <p:sp>
        <p:nvSpPr>
          <p:cNvPr id="58" name="TextBox 57"/>
          <p:cNvSpPr txBox="1"/>
          <p:nvPr/>
        </p:nvSpPr>
        <p:spPr>
          <a:xfrm>
            <a:off x="1371600" y="5562600"/>
            <a:ext cx="838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01010</a:t>
            </a:r>
            <a:endParaRPr lang="zh-CN" altLang="en-US" sz="1600" dirty="0"/>
          </a:p>
        </p:txBody>
      </p:sp>
      <p:sp>
        <p:nvSpPr>
          <p:cNvPr id="59" name="TextBox 58"/>
          <p:cNvSpPr txBox="1"/>
          <p:nvPr/>
        </p:nvSpPr>
        <p:spPr>
          <a:xfrm>
            <a:off x="1981200" y="5562600"/>
            <a:ext cx="2057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0000000000100000</a:t>
            </a:r>
            <a:endParaRPr lang="zh-CN" altLang="en-US" sz="1600" dirty="0"/>
          </a:p>
        </p:txBody>
      </p:sp>
      <p:cxnSp>
        <p:nvCxnSpPr>
          <p:cNvPr id="77" name="肘形连接符 76"/>
          <p:cNvCxnSpPr>
            <a:stCxn id="57" idx="3"/>
          </p:cNvCxnSpPr>
          <p:nvPr/>
        </p:nvCxnSpPr>
        <p:spPr>
          <a:xfrm flipV="1">
            <a:off x="3962400" y="4659869"/>
            <a:ext cx="1143000" cy="1104898"/>
          </a:xfrm>
          <a:prstGeom prst="bentConnector3">
            <a:avLst>
              <a:gd name="adj1" fmla="val 58348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7" name="表格 86"/>
          <p:cNvGraphicFramePr>
            <a:graphicFrameLocks noGrp="1"/>
          </p:cNvGraphicFramePr>
          <p:nvPr/>
        </p:nvGraphicFramePr>
        <p:xfrm>
          <a:off x="2743200" y="1676400"/>
          <a:ext cx="1524000" cy="333248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$0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$16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$17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$18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$3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$19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$4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$20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$5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$21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$6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$22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$7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$23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$24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$9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$25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$10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$26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$11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$27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$12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$28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$13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$29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$14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$30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$15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$31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89" name="TextBox 88"/>
          <p:cNvSpPr txBox="1"/>
          <p:nvPr/>
        </p:nvSpPr>
        <p:spPr>
          <a:xfrm>
            <a:off x="2590800" y="3276600"/>
            <a:ext cx="9156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10010000</a:t>
            </a:r>
            <a:endParaRPr lang="zh-CN" altLang="en-US" sz="1400" dirty="0"/>
          </a:p>
        </p:txBody>
      </p:sp>
      <p:sp>
        <p:nvSpPr>
          <p:cNvPr id="95" name="TextBox 94"/>
          <p:cNvSpPr txBox="1"/>
          <p:nvPr/>
        </p:nvSpPr>
        <p:spPr>
          <a:xfrm>
            <a:off x="6019800" y="3276600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10010020</a:t>
            </a:r>
            <a:endParaRPr lang="zh-CN" altLang="en-US" sz="1400" dirty="0"/>
          </a:p>
        </p:txBody>
      </p:sp>
      <p:sp>
        <p:nvSpPr>
          <p:cNvPr id="96" name="TextBox 95"/>
          <p:cNvSpPr txBox="1"/>
          <p:nvPr/>
        </p:nvSpPr>
        <p:spPr>
          <a:xfrm>
            <a:off x="798445" y="5562600"/>
            <a:ext cx="8017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01000</a:t>
            </a:r>
            <a:endParaRPr lang="zh-CN" altLang="en-US" sz="1600" dirty="0"/>
          </a:p>
        </p:txBody>
      </p:sp>
      <p:sp>
        <p:nvSpPr>
          <p:cNvPr id="97" name="TextBox 96"/>
          <p:cNvSpPr txBox="1"/>
          <p:nvPr/>
        </p:nvSpPr>
        <p:spPr>
          <a:xfrm>
            <a:off x="1371600" y="5562600"/>
            <a:ext cx="76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01010</a:t>
            </a:r>
            <a:endParaRPr lang="zh-CN" altLang="en-US" sz="1600" dirty="0"/>
          </a:p>
        </p:txBody>
      </p:sp>
      <p:sp>
        <p:nvSpPr>
          <p:cNvPr id="98" name="TextBox 97"/>
          <p:cNvSpPr txBox="1"/>
          <p:nvPr/>
        </p:nvSpPr>
        <p:spPr>
          <a:xfrm>
            <a:off x="2845278" y="3293852"/>
            <a:ext cx="685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Consolas" pitchFamily="49" charset="0"/>
              </a:rPr>
              <a:t> $8</a:t>
            </a:r>
            <a:endParaRPr lang="zh-CN" altLang="en-US" sz="1400" dirty="0">
              <a:latin typeface="Consolas" pitchFamily="49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981200" y="5562600"/>
            <a:ext cx="2057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0000000000100000</a:t>
            </a:r>
            <a:endParaRPr lang="zh-CN" altLang="en-US" sz="1600" dirty="0"/>
          </a:p>
        </p:txBody>
      </p:sp>
      <p:sp>
        <p:nvSpPr>
          <p:cNvPr id="72" name="TextBox 71"/>
          <p:cNvSpPr txBox="1"/>
          <p:nvPr/>
        </p:nvSpPr>
        <p:spPr>
          <a:xfrm>
            <a:off x="4191000" y="5562600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00000020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82832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6" dur="1000" tmFilter="0, 0; .2, .5; .8, .5; 1, 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500" autoRev="1" fill="hold"/>
                                        <p:tgtEl>
                                          <p:spTgt spid="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1.76035E-6 L 0.11493 -0.12862 L 0.11597 -0.47976 L 0.13559 -0.47976 " pathEditMode="relative" rAng="0" ptsTypes="AAAA">
                                      <p:cBhvr>
                                        <p:cTn id="10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800" y="-24000"/>
                                    </p:animMotion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2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0"/>
                            </p:stCondLst>
                            <p:childTnLst>
                              <p:par>
                                <p:cTn id="15" presetID="3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6000"/>
                            </p:stCondLst>
                            <p:childTnLst>
                              <p:par>
                                <p:cTn id="19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1.48148E-6 L 0.1191 -0.15185 L 0.16337 -0.15185 " pathEditMode="relative" rAng="0" ptsTypes="AAA">
                                      <p:cBhvr>
                                        <p:cTn id="20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160" y="-75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76035E-6 L 0.1875 -0.00231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400" y="-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3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32 -0.14977 L 0.21702 -0.15092 L 0.26077 -0.1669 L 0.31285 -0.1669 " pathEditMode="relative" rAng="0" ptsTypes="AAAA">
                                      <p:cBhvr>
                                        <p:cTn id="36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83" y="-856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17 -0.00023 L -0.0033 -0.17118 L 0.04826 -0.17118 L 0.09479 -0.21143 L 0.14167 -0.21143 " pathEditMode="relative" rAng="0" ptsTypes="AAAAA">
                                      <p:cBhvr>
                                        <p:cTn id="38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300" y="-106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7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" dur="1000" autoRev="1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2" dur="1000" autoRev="1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" dur="1000" autoRev="1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1000" autoRev="1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3" presetClass="exit" presetSubtype="1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7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3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0"/>
                            </p:stCondLst>
                            <p:childTnLst>
                              <p:par>
                                <p:cTn id="5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nimBg="1"/>
      <p:bldP spid="53" grpId="0"/>
      <p:bldP spid="56" grpId="0"/>
      <p:bldP spid="89" grpId="0"/>
      <p:bldP spid="89" grpId="1"/>
      <p:bldP spid="89" grpId="2"/>
      <p:bldP spid="89" grpId="3"/>
      <p:bldP spid="95" grpId="0"/>
      <p:bldP spid="98" grpId="0"/>
      <p:bldP spid="69" grpId="0"/>
      <p:bldP spid="69" grpId="1"/>
      <p:bldP spid="72" grpId="0"/>
      <p:bldP spid="72" grpId="1"/>
      <p:bldP spid="72" grpId="2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28600" y="2754868"/>
            <a:ext cx="762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PC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371600" y="2602468"/>
            <a:ext cx="7620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指令缓存</a:t>
            </a:r>
          </a:p>
        </p:txBody>
      </p:sp>
      <p:sp>
        <p:nvSpPr>
          <p:cNvPr id="24" name="任意多边形 23"/>
          <p:cNvSpPr/>
          <p:nvPr/>
        </p:nvSpPr>
        <p:spPr>
          <a:xfrm>
            <a:off x="1371600" y="773668"/>
            <a:ext cx="509587" cy="1614487"/>
          </a:xfrm>
          <a:custGeom>
            <a:avLst/>
            <a:gdLst>
              <a:gd name="connsiteX0" fmla="*/ 0 w 509587"/>
              <a:gd name="connsiteY0" fmla="*/ 0 h 1614487"/>
              <a:gd name="connsiteX1" fmla="*/ 504825 w 509587"/>
              <a:gd name="connsiteY1" fmla="*/ 347662 h 1614487"/>
              <a:gd name="connsiteX2" fmla="*/ 509587 w 509587"/>
              <a:gd name="connsiteY2" fmla="*/ 1304925 h 1614487"/>
              <a:gd name="connsiteX3" fmla="*/ 0 w 509587"/>
              <a:gd name="connsiteY3" fmla="*/ 1614487 h 1614487"/>
              <a:gd name="connsiteX4" fmla="*/ 0 w 509587"/>
              <a:gd name="connsiteY4" fmla="*/ 1138237 h 1614487"/>
              <a:gd name="connsiteX5" fmla="*/ 100012 w 509587"/>
              <a:gd name="connsiteY5" fmla="*/ 1071562 h 1614487"/>
              <a:gd name="connsiteX6" fmla="*/ 100012 w 509587"/>
              <a:gd name="connsiteY6" fmla="*/ 642937 h 1614487"/>
              <a:gd name="connsiteX7" fmla="*/ 0 w 509587"/>
              <a:gd name="connsiteY7" fmla="*/ 557212 h 1614487"/>
              <a:gd name="connsiteX8" fmla="*/ 0 w 509587"/>
              <a:gd name="connsiteY8" fmla="*/ 0 h 1614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9587" h="1614487">
                <a:moveTo>
                  <a:pt x="0" y="0"/>
                </a:moveTo>
                <a:lnTo>
                  <a:pt x="504825" y="347662"/>
                </a:lnTo>
                <a:cubicBezTo>
                  <a:pt x="506412" y="666750"/>
                  <a:pt x="508000" y="985837"/>
                  <a:pt x="509587" y="1304925"/>
                </a:cubicBezTo>
                <a:lnTo>
                  <a:pt x="0" y="1614487"/>
                </a:lnTo>
                <a:lnTo>
                  <a:pt x="0" y="1138237"/>
                </a:lnTo>
                <a:lnTo>
                  <a:pt x="100012" y="1071562"/>
                </a:lnTo>
                <a:lnTo>
                  <a:pt x="100012" y="642937"/>
                </a:lnTo>
                <a:lnTo>
                  <a:pt x="0" y="55721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加法器</a:t>
            </a:r>
          </a:p>
        </p:txBody>
      </p:sp>
      <p:sp>
        <p:nvSpPr>
          <p:cNvPr id="48" name="直角上箭头 47"/>
          <p:cNvSpPr/>
          <p:nvPr/>
        </p:nvSpPr>
        <p:spPr>
          <a:xfrm rot="16200000" flipV="1">
            <a:off x="800100" y="2411968"/>
            <a:ext cx="914400" cy="228600"/>
          </a:xfrm>
          <a:prstGeom prst="bentUpArrow">
            <a:avLst>
              <a:gd name="adj1" fmla="val 0"/>
              <a:gd name="adj2" fmla="val 25000"/>
              <a:gd name="adj3" fmla="val 25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1" name="直接箭头连接符 50"/>
          <p:cNvCxnSpPr>
            <a:stCxn id="5" idx="3"/>
          </p:cNvCxnSpPr>
          <p:nvPr/>
        </p:nvCxnSpPr>
        <p:spPr>
          <a:xfrm>
            <a:off x="990600" y="2983468"/>
            <a:ext cx="381000" cy="1588"/>
          </a:xfrm>
          <a:prstGeom prst="straightConnector1">
            <a:avLst/>
          </a:prstGeom>
          <a:ln w="254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>
            <a:off x="1066800" y="1078468"/>
            <a:ext cx="304800" cy="1588"/>
          </a:xfrm>
          <a:prstGeom prst="straightConnector1">
            <a:avLst/>
          </a:prstGeom>
          <a:ln w="254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62000" y="849868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7" name="矩形 56"/>
          <p:cNvSpPr/>
          <p:nvPr/>
        </p:nvSpPr>
        <p:spPr>
          <a:xfrm>
            <a:off x="152400" y="5574267"/>
            <a:ext cx="3886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5" name="直接箭头连接符 64"/>
          <p:cNvCxnSpPr/>
          <p:nvPr/>
        </p:nvCxnSpPr>
        <p:spPr>
          <a:xfrm rot="5400000">
            <a:off x="1181497" y="5002371"/>
            <a:ext cx="1143000" cy="7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/>
          <p:cNvSpPr/>
          <p:nvPr/>
        </p:nvSpPr>
        <p:spPr>
          <a:xfrm>
            <a:off x="2743200" y="1676400"/>
            <a:ext cx="1524000" cy="33644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1" name="直接连接符 70"/>
          <p:cNvCxnSpPr/>
          <p:nvPr/>
        </p:nvCxnSpPr>
        <p:spPr>
          <a:xfrm rot="5400000" flipH="1" flipV="1">
            <a:off x="800100" y="4088368"/>
            <a:ext cx="2971800" cy="1588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>
            <a:off x="2286000" y="2602468"/>
            <a:ext cx="457200" cy="158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>
            <a:off x="2286000" y="3276600"/>
            <a:ext cx="457200" cy="158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等腰三角形 77"/>
          <p:cNvSpPr/>
          <p:nvPr/>
        </p:nvSpPr>
        <p:spPr>
          <a:xfrm rot="5400000">
            <a:off x="4802124" y="21437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等腰三角形 78"/>
          <p:cNvSpPr/>
          <p:nvPr/>
        </p:nvSpPr>
        <p:spPr>
          <a:xfrm rot="5400000">
            <a:off x="4802124" y="42011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1" name="肘形连接符 80"/>
          <p:cNvCxnSpPr/>
          <p:nvPr/>
        </p:nvCxnSpPr>
        <p:spPr>
          <a:xfrm>
            <a:off x="1905000" y="1535668"/>
            <a:ext cx="3200400" cy="609600"/>
          </a:xfrm>
          <a:prstGeom prst="bentConnector3">
            <a:avLst>
              <a:gd name="adj1" fmla="val 83894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/>
          <p:cNvCxnSpPr/>
          <p:nvPr/>
        </p:nvCxnSpPr>
        <p:spPr>
          <a:xfrm>
            <a:off x="4267200" y="2526268"/>
            <a:ext cx="8382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/>
          <p:cNvCxnSpPr/>
          <p:nvPr/>
        </p:nvCxnSpPr>
        <p:spPr>
          <a:xfrm>
            <a:off x="4267200" y="4278868"/>
            <a:ext cx="8382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任意多边形 99"/>
          <p:cNvSpPr/>
          <p:nvPr/>
        </p:nvSpPr>
        <p:spPr>
          <a:xfrm>
            <a:off x="5867400" y="1992868"/>
            <a:ext cx="609600" cy="2895600"/>
          </a:xfrm>
          <a:custGeom>
            <a:avLst/>
            <a:gdLst>
              <a:gd name="connsiteX0" fmla="*/ 0 w 509587"/>
              <a:gd name="connsiteY0" fmla="*/ 0 h 1614487"/>
              <a:gd name="connsiteX1" fmla="*/ 504825 w 509587"/>
              <a:gd name="connsiteY1" fmla="*/ 347662 h 1614487"/>
              <a:gd name="connsiteX2" fmla="*/ 509587 w 509587"/>
              <a:gd name="connsiteY2" fmla="*/ 1304925 h 1614487"/>
              <a:gd name="connsiteX3" fmla="*/ 0 w 509587"/>
              <a:gd name="connsiteY3" fmla="*/ 1614487 h 1614487"/>
              <a:gd name="connsiteX4" fmla="*/ 0 w 509587"/>
              <a:gd name="connsiteY4" fmla="*/ 1138237 h 1614487"/>
              <a:gd name="connsiteX5" fmla="*/ 100012 w 509587"/>
              <a:gd name="connsiteY5" fmla="*/ 1071562 h 1614487"/>
              <a:gd name="connsiteX6" fmla="*/ 100012 w 509587"/>
              <a:gd name="connsiteY6" fmla="*/ 642937 h 1614487"/>
              <a:gd name="connsiteX7" fmla="*/ 0 w 509587"/>
              <a:gd name="connsiteY7" fmla="*/ 557212 h 1614487"/>
              <a:gd name="connsiteX8" fmla="*/ 0 w 509587"/>
              <a:gd name="connsiteY8" fmla="*/ 0 h 1614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9587" h="1614487">
                <a:moveTo>
                  <a:pt x="0" y="0"/>
                </a:moveTo>
                <a:lnTo>
                  <a:pt x="504825" y="347662"/>
                </a:lnTo>
                <a:cubicBezTo>
                  <a:pt x="506412" y="666750"/>
                  <a:pt x="508000" y="985837"/>
                  <a:pt x="509587" y="1304925"/>
                </a:cubicBezTo>
                <a:lnTo>
                  <a:pt x="0" y="1614487"/>
                </a:lnTo>
                <a:lnTo>
                  <a:pt x="0" y="1138237"/>
                </a:lnTo>
                <a:lnTo>
                  <a:pt x="100012" y="1071562"/>
                </a:lnTo>
                <a:lnTo>
                  <a:pt x="100012" y="642937"/>
                </a:lnTo>
                <a:lnTo>
                  <a:pt x="0" y="55721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运算器</a:t>
            </a:r>
          </a:p>
        </p:txBody>
      </p:sp>
      <p:cxnSp>
        <p:nvCxnSpPr>
          <p:cNvPr id="102" name="直接箭头连接符 101"/>
          <p:cNvCxnSpPr>
            <a:stCxn id="78" idx="0"/>
          </p:cNvCxnSpPr>
          <p:nvPr/>
        </p:nvCxnSpPr>
        <p:spPr>
          <a:xfrm>
            <a:off x="5559552" y="2370820"/>
            <a:ext cx="307848" cy="304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/>
          <p:cNvCxnSpPr/>
          <p:nvPr/>
        </p:nvCxnSpPr>
        <p:spPr>
          <a:xfrm>
            <a:off x="5562600" y="4431268"/>
            <a:ext cx="307848" cy="304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矩形 104"/>
          <p:cNvSpPr/>
          <p:nvPr/>
        </p:nvSpPr>
        <p:spPr>
          <a:xfrm>
            <a:off x="7010400" y="2602468"/>
            <a:ext cx="7620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数据缓存</a:t>
            </a:r>
          </a:p>
        </p:txBody>
      </p:sp>
      <p:cxnSp>
        <p:nvCxnSpPr>
          <p:cNvPr id="107" name="直接箭头连接符 106"/>
          <p:cNvCxnSpPr>
            <a:endCxn id="105" idx="1"/>
          </p:cNvCxnSpPr>
          <p:nvPr/>
        </p:nvCxnSpPr>
        <p:spPr>
          <a:xfrm>
            <a:off x="6477000" y="3516868"/>
            <a:ext cx="5334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等腰三角形 109"/>
          <p:cNvSpPr/>
          <p:nvPr/>
        </p:nvSpPr>
        <p:spPr>
          <a:xfrm rot="5400000">
            <a:off x="6783324" y="14579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2" name="直接箭头连接符 111"/>
          <p:cNvCxnSpPr/>
          <p:nvPr/>
        </p:nvCxnSpPr>
        <p:spPr>
          <a:xfrm>
            <a:off x="4572000" y="1535668"/>
            <a:ext cx="25146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/>
          <p:cNvCxnSpPr/>
          <p:nvPr/>
        </p:nvCxnSpPr>
        <p:spPr>
          <a:xfrm rot="5400000" flipH="1" flipV="1">
            <a:off x="5906294" y="2716768"/>
            <a:ext cx="1599406" cy="79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117"/>
          <p:cNvCxnSpPr/>
          <p:nvPr/>
        </p:nvCxnSpPr>
        <p:spPr>
          <a:xfrm>
            <a:off x="6705600" y="1916668"/>
            <a:ext cx="3810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连接符 135"/>
          <p:cNvCxnSpPr>
            <a:stCxn id="110" idx="0"/>
          </p:cNvCxnSpPr>
          <p:nvPr/>
        </p:nvCxnSpPr>
        <p:spPr>
          <a:xfrm>
            <a:off x="7540752" y="1685020"/>
            <a:ext cx="307848" cy="304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连接符 140"/>
          <p:cNvCxnSpPr/>
          <p:nvPr/>
        </p:nvCxnSpPr>
        <p:spPr>
          <a:xfrm rot="5400000" flipH="1" flipV="1">
            <a:off x="7277100" y="1116568"/>
            <a:ext cx="11430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连接符 143"/>
          <p:cNvCxnSpPr/>
          <p:nvPr/>
        </p:nvCxnSpPr>
        <p:spPr>
          <a:xfrm rot="10800000">
            <a:off x="609600" y="545068"/>
            <a:ext cx="72390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箭头连接符 145"/>
          <p:cNvCxnSpPr>
            <a:endCxn id="5" idx="0"/>
          </p:cNvCxnSpPr>
          <p:nvPr/>
        </p:nvCxnSpPr>
        <p:spPr>
          <a:xfrm rot="5400000">
            <a:off x="-495300" y="1649968"/>
            <a:ext cx="2209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连接符 152"/>
          <p:cNvCxnSpPr/>
          <p:nvPr/>
        </p:nvCxnSpPr>
        <p:spPr>
          <a:xfrm rot="10800000">
            <a:off x="3505200" y="5345668"/>
            <a:ext cx="51816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箭头连接符 155"/>
          <p:cNvCxnSpPr>
            <a:endCxn id="68" idx="2"/>
          </p:cNvCxnSpPr>
          <p:nvPr/>
        </p:nvCxnSpPr>
        <p:spPr>
          <a:xfrm rot="5400000" flipH="1" flipV="1">
            <a:off x="3352006" y="5193268"/>
            <a:ext cx="305594" cy="7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/>
          <p:cNvCxnSpPr/>
          <p:nvPr/>
        </p:nvCxnSpPr>
        <p:spPr>
          <a:xfrm rot="5400000">
            <a:off x="4001294" y="4697968"/>
            <a:ext cx="837406" cy="79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接连接符 175"/>
          <p:cNvCxnSpPr/>
          <p:nvPr/>
        </p:nvCxnSpPr>
        <p:spPr>
          <a:xfrm>
            <a:off x="4419600" y="5117068"/>
            <a:ext cx="29718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箭头连接符 178"/>
          <p:cNvCxnSpPr>
            <a:endCxn id="105" idx="2"/>
          </p:cNvCxnSpPr>
          <p:nvPr/>
        </p:nvCxnSpPr>
        <p:spPr>
          <a:xfrm rot="5400000" flipH="1" flipV="1">
            <a:off x="7047706" y="4774168"/>
            <a:ext cx="686594" cy="7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等腰三角形 179"/>
          <p:cNvSpPr/>
          <p:nvPr/>
        </p:nvSpPr>
        <p:spPr>
          <a:xfrm rot="5400000">
            <a:off x="7773924" y="2219944"/>
            <a:ext cx="1060704" cy="454152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2" name="直接箭头连接符 181"/>
          <p:cNvCxnSpPr/>
          <p:nvPr/>
        </p:nvCxnSpPr>
        <p:spPr>
          <a:xfrm>
            <a:off x="7772400" y="2831068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接箭头连接符 185"/>
          <p:cNvCxnSpPr>
            <a:endCxn id="180" idx="3"/>
          </p:cNvCxnSpPr>
          <p:nvPr/>
        </p:nvCxnSpPr>
        <p:spPr>
          <a:xfrm flipV="1">
            <a:off x="6705600" y="2447020"/>
            <a:ext cx="1371600" cy="304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接连接符 192"/>
          <p:cNvCxnSpPr/>
          <p:nvPr/>
        </p:nvCxnSpPr>
        <p:spPr>
          <a:xfrm rot="5400000">
            <a:off x="7658100" y="1878568"/>
            <a:ext cx="3810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接箭头连接符 194"/>
          <p:cNvCxnSpPr/>
          <p:nvPr/>
        </p:nvCxnSpPr>
        <p:spPr>
          <a:xfrm>
            <a:off x="7848600" y="2069068"/>
            <a:ext cx="2286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连接符 196"/>
          <p:cNvCxnSpPr>
            <a:stCxn id="180" idx="0"/>
          </p:cNvCxnSpPr>
          <p:nvPr/>
        </p:nvCxnSpPr>
        <p:spPr>
          <a:xfrm>
            <a:off x="8531352" y="2447020"/>
            <a:ext cx="155448" cy="304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连接符 198"/>
          <p:cNvCxnSpPr/>
          <p:nvPr/>
        </p:nvCxnSpPr>
        <p:spPr>
          <a:xfrm rot="5400000">
            <a:off x="7239000" y="3897868"/>
            <a:ext cx="28956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/>
          <p:cNvSpPr txBox="1"/>
          <p:nvPr/>
        </p:nvSpPr>
        <p:spPr>
          <a:xfrm>
            <a:off x="4419600" y="252626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Rs</a:t>
            </a:r>
            <a:endParaRPr lang="zh-CN" altLang="en-US" dirty="0"/>
          </a:p>
        </p:txBody>
      </p:sp>
      <p:sp>
        <p:nvSpPr>
          <p:cNvPr id="204" name="TextBox 203"/>
          <p:cNvSpPr txBox="1"/>
          <p:nvPr/>
        </p:nvSpPr>
        <p:spPr>
          <a:xfrm>
            <a:off x="4419600" y="38978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Rt</a:t>
            </a:r>
            <a:endParaRPr lang="zh-CN" altLang="en-US" dirty="0"/>
          </a:p>
        </p:txBody>
      </p:sp>
      <p:sp>
        <p:nvSpPr>
          <p:cNvPr id="205" name="TextBox 204"/>
          <p:cNvSpPr txBox="1"/>
          <p:nvPr/>
        </p:nvSpPr>
        <p:spPr>
          <a:xfrm>
            <a:off x="2971800" y="5040868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Rd</a:t>
            </a:r>
            <a:endParaRPr lang="zh-CN" altLang="en-US" dirty="0"/>
          </a:p>
        </p:txBody>
      </p:sp>
      <p:sp>
        <p:nvSpPr>
          <p:cNvPr id="206" name="TextBox 205"/>
          <p:cNvSpPr txBox="1"/>
          <p:nvPr/>
        </p:nvSpPr>
        <p:spPr>
          <a:xfrm>
            <a:off x="4038600" y="5802868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Imm</a:t>
            </a:r>
            <a:endParaRPr lang="zh-CN" altLang="en-US" dirty="0"/>
          </a:p>
        </p:txBody>
      </p:sp>
      <p:cxnSp>
        <p:nvCxnSpPr>
          <p:cNvPr id="223" name="直接箭头连接符 222"/>
          <p:cNvCxnSpPr/>
          <p:nvPr/>
        </p:nvCxnSpPr>
        <p:spPr>
          <a:xfrm>
            <a:off x="2286000" y="3960812"/>
            <a:ext cx="457200" cy="158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066800" y="6248400"/>
            <a:ext cx="4928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执行指令</a:t>
            </a:r>
            <a:r>
              <a:rPr lang="en-US" altLang="zh-CN" dirty="0" err="1"/>
              <a:t>sw</a:t>
            </a:r>
            <a:r>
              <a:rPr lang="en-US" altLang="zh-CN" dirty="0"/>
              <a:t> $t2, 32($t0) </a:t>
            </a:r>
            <a:r>
              <a:rPr lang="zh-CN" altLang="en-US" dirty="0"/>
              <a:t>访问数据缓存（</a:t>
            </a:r>
            <a:r>
              <a:rPr lang="en-US" altLang="zh-CN" dirty="0"/>
              <a:t>MEM</a:t>
            </a:r>
            <a:r>
              <a:rPr lang="zh-CN" altLang="en-US" dirty="0"/>
              <a:t>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200" y="5562600"/>
            <a:ext cx="91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101011</a:t>
            </a:r>
            <a:endParaRPr lang="zh-CN" altLang="en-US" sz="1600" dirty="0"/>
          </a:p>
        </p:txBody>
      </p:sp>
      <p:sp>
        <p:nvSpPr>
          <p:cNvPr id="56" name="TextBox 55"/>
          <p:cNvSpPr txBox="1"/>
          <p:nvPr/>
        </p:nvSpPr>
        <p:spPr>
          <a:xfrm>
            <a:off x="798445" y="5562600"/>
            <a:ext cx="8017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01000</a:t>
            </a:r>
            <a:endParaRPr lang="zh-CN" altLang="en-US" sz="1600" dirty="0"/>
          </a:p>
        </p:txBody>
      </p:sp>
      <p:sp>
        <p:nvSpPr>
          <p:cNvPr id="59" name="TextBox 58"/>
          <p:cNvSpPr txBox="1"/>
          <p:nvPr/>
        </p:nvSpPr>
        <p:spPr>
          <a:xfrm>
            <a:off x="1371600" y="5562600"/>
            <a:ext cx="838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01010</a:t>
            </a:r>
            <a:endParaRPr lang="zh-CN" altLang="en-US" sz="1600" dirty="0"/>
          </a:p>
        </p:txBody>
      </p:sp>
      <p:cxnSp>
        <p:nvCxnSpPr>
          <p:cNvPr id="77" name="肘形连接符 76"/>
          <p:cNvCxnSpPr/>
          <p:nvPr/>
        </p:nvCxnSpPr>
        <p:spPr>
          <a:xfrm flipV="1">
            <a:off x="3962400" y="4659868"/>
            <a:ext cx="1143000" cy="1131332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7" name="表格 86"/>
          <p:cNvGraphicFramePr>
            <a:graphicFrameLocks noGrp="1"/>
          </p:cNvGraphicFramePr>
          <p:nvPr/>
        </p:nvGraphicFramePr>
        <p:xfrm>
          <a:off x="2743200" y="1676400"/>
          <a:ext cx="1524000" cy="333248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$0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kern="100" dirty="0">
                          <a:latin typeface="Consolas" pitchFamily="49" charset="0"/>
                          <a:cs typeface="Times New Roman"/>
                        </a:rPr>
                        <a:t>$16</a:t>
                      </a:r>
                      <a:endParaRPr lang="zh-CN" sz="1400" kern="100" dirty="0">
                        <a:latin typeface="Consolas" pitchFamily="49" charset="0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$17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$18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$3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$19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$4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$20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$5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$21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$6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$22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$7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$23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$8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$24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$9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$25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$26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$11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$27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$12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$28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$13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$29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$14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$30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$15 </a:t>
                      </a:r>
                      <a:endParaRPr lang="zh-CN" sz="1050" kern="10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Consolas"/>
                          <a:cs typeface="Courier New"/>
                        </a:rPr>
                        <a:t>$31 </a:t>
                      </a:r>
                      <a:endParaRPr lang="zh-CN" sz="1050" kern="1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95" name="TextBox 94"/>
          <p:cNvSpPr txBox="1"/>
          <p:nvPr/>
        </p:nvSpPr>
        <p:spPr>
          <a:xfrm>
            <a:off x="6019800" y="3276600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10010020</a:t>
            </a:r>
            <a:endParaRPr lang="zh-CN" altLang="en-US" sz="1400" dirty="0"/>
          </a:p>
        </p:txBody>
      </p:sp>
      <p:sp>
        <p:nvSpPr>
          <p:cNvPr id="64" name="TextBox 63"/>
          <p:cNvSpPr txBox="1"/>
          <p:nvPr/>
        </p:nvSpPr>
        <p:spPr>
          <a:xfrm>
            <a:off x="1371600" y="5562600"/>
            <a:ext cx="838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01010</a:t>
            </a:r>
            <a:endParaRPr lang="zh-CN" altLang="en-US" sz="1600" dirty="0"/>
          </a:p>
        </p:txBody>
      </p:sp>
      <p:sp>
        <p:nvSpPr>
          <p:cNvPr id="66" name="TextBox 65"/>
          <p:cNvSpPr txBox="1"/>
          <p:nvPr/>
        </p:nvSpPr>
        <p:spPr>
          <a:xfrm>
            <a:off x="2878348" y="3716548"/>
            <a:ext cx="685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Consolas" pitchFamily="49" charset="0"/>
              </a:rPr>
              <a:t>$10</a:t>
            </a:r>
            <a:endParaRPr lang="zh-CN" altLang="en-US" sz="1400" dirty="0">
              <a:latin typeface="Consolas" pitchFamily="49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2057400" y="5562600"/>
            <a:ext cx="2057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0000000000100000</a:t>
            </a:r>
            <a:endParaRPr lang="zh-CN" altLang="en-US" sz="1600" dirty="0"/>
          </a:p>
        </p:txBody>
      </p:sp>
      <p:sp>
        <p:nvSpPr>
          <p:cNvPr id="61" name="TextBox 60"/>
          <p:cNvSpPr txBox="1"/>
          <p:nvPr/>
        </p:nvSpPr>
        <p:spPr>
          <a:xfrm>
            <a:off x="7391400" y="4544476"/>
            <a:ext cx="1066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31323334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624448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1414</Words>
  <Application>Microsoft Office PowerPoint</Application>
  <PresentationFormat>全屏显示(4:3)</PresentationFormat>
  <Paragraphs>666</Paragraphs>
  <Slides>21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6" baseType="lpstr">
      <vt:lpstr>等线</vt:lpstr>
      <vt:lpstr>Arial</vt:lpstr>
      <vt:lpstr>Calibri</vt:lpstr>
      <vt:lpstr>Consolas</vt:lpstr>
      <vt:lpstr>Office 主题</vt:lpstr>
      <vt:lpstr>R格式指令举例</vt:lpstr>
      <vt:lpstr>PowerPoint 演示文稿</vt:lpstr>
      <vt:lpstr>PowerPoint 演示文稿</vt:lpstr>
      <vt:lpstr>PowerPoint 演示文稿</vt:lpstr>
      <vt:lpstr>PowerPoint 演示文稿</vt:lpstr>
      <vt:lpstr>I指令格式</vt:lpstr>
      <vt:lpstr>I指令格式举例</vt:lpstr>
      <vt:lpstr>PowerPoint 演示文稿</vt:lpstr>
      <vt:lpstr>PowerPoint 演示文稿</vt:lpstr>
      <vt:lpstr>PowerPoint 演示文稿</vt:lpstr>
      <vt:lpstr>J指令格式</vt:lpstr>
      <vt:lpstr>PowerPoint 演示文稿</vt:lpstr>
      <vt:lpstr>PowerPoint 演示文稿</vt:lpstr>
      <vt:lpstr>基址寻址举例</vt:lpstr>
      <vt:lpstr>PowerPoint 演示文稿</vt:lpstr>
      <vt:lpstr>PowerPoint 演示文稿</vt:lpstr>
      <vt:lpstr>PowerPoint 演示文稿</vt:lpstr>
      <vt:lpstr>基址寻址举例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R格式指令举例</dc:title>
  <dc:creator>Administrator</dc:creator>
  <cp:lastModifiedBy>刘冬梅</cp:lastModifiedBy>
  <cp:revision>19</cp:revision>
  <dcterms:created xsi:type="dcterms:W3CDTF">2019-03-13T02:59:49Z</dcterms:created>
  <dcterms:modified xsi:type="dcterms:W3CDTF">2025-03-13T01:51:10Z</dcterms:modified>
</cp:coreProperties>
</file>